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theme/theme5.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733" r:id="rId2"/>
    <p:sldMasterId id="2147483691" r:id="rId3"/>
    <p:sldMasterId id="2147483711" r:id="rId4"/>
    <p:sldMasterId id="2147483709" r:id="rId5"/>
    <p:sldMasterId id="2147483684" r:id="rId6"/>
  </p:sldMasterIdLst>
  <p:notesMasterIdLst>
    <p:notesMasterId r:id="rId66"/>
  </p:notesMasterIdLst>
  <p:sldIdLst>
    <p:sldId id="509" r:id="rId7"/>
    <p:sldId id="441" r:id="rId8"/>
    <p:sldId id="443" r:id="rId9"/>
    <p:sldId id="444" r:id="rId10"/>
    <p:sldId id="445" r:id="rId11"/>
    <p:sldId id="446" r:id="rId12"/>
    <p:sldId id="447" r:id="rId13"/>
    <p:sldId id="448" r:id="rId14"/>
    <p:sldId id="449" r:id="rId15"/>
    <p:sldId id="450" r:id="rId16"/>
    <p:sldId id="451" r:id="rId17"/>
    <p:sldId id="452" r:id="rId18"/>
    <p:sldId id="453"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469" r:id="rId35"/>
    <p:sldId id="470" r:id="rId36"/>
    <p:sldId id="471" r:id="rId37"/>
    <p:sldId id="472" r:id="rId38"/>
    <p:sldId id="473" r:id="rId39"/>
    <p:sldId id="474" r:id="rId40"/>
    <p:sldId id="475" r:id="rId41"/>
    <p:sldId id="476" r:id="rId42"/>
    <p:sldId id="477" r:id="rId43"/>
    <p:sldId id="478" r:id="rId44"/>
    <p:sldId id="479" r:id="rId45"/>
    <p:sldId id="480" r:id="rId46"/>
    <p:sldId id="482" r:id="rId47"/>
    <p:sldId id="486" r:id="rId48"/>
    <p:sldId id="487" r:id="rId49"/>
    <p:sldId id="488" r:id="rId50"/>
    <p:sldId id="489" r:id="rId51"/>
    <p:sldId id="490" r:id="rId52"/>
    <p:sldId id="491" r:id="rId53"/>
    <p:sldId id="492" r:id="rId54"/>
    <p:sldId id="493" r:id="rId55"/>
    <p:sldId id="494" r:id="rId56"/>
    <p:sldId id="495" r:id="rId57"/>
    <p:sldId id="496" r:id="rId58"/>
    <p:sldId id="497" r:id="rId59"/>
    <p:sldId id="498" r:id="rId60"/>
    <p:sldId id="499" r:id="rId61"/>
    <p:sldId id="500" r:id="rId62"/>
    <p:sldId id="501" r:id="rId63"/>
    <p:sldId id="502" r:id="rId64"/>
    <p:sldId id="260"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509"/>
            <p14:sldId id="441"/>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2"/>
            <p14:sldId id="486"/>
            <p14:sldId id="487"/>
            <p14:sldId id="488"/>
            <p14:sldId id="489"/>
            <p14:sldId id="490"/>
            <p14:sldId id="491"/>
            <p14:sldId id="492"/>
            <p14:sldId id="493"/>
            <p14:sldId id="494"/>
            <p14:sldId id="495"/>
            <p14:sldId id="496"/>
            <p14:sldId id="497"/>
            <p14:sldId id="498"/>
            <p14:sldId id="499"/>
            <p14:sldId id="500"/>
            <p14:sldId id="501"/>
            <p14:sldId id="502"/>
            <p14:sldId id="260"/>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1F1D31-2515-DE3C-2782-5CDD751738BC}" name="Nicole Harrison" initials="NH" userId="728541dd6d64065e" providerId="Windows Live"/>
  <p188:author id="{D59BAE47-BD70-FD2B-942F-A48D10513E60}" name="Diana Murphy" initials="DM" userId="0973a90792220e7d" providerId="Windows Live"/>
  <p188:author id="{B2A489DC-37E6-94FD-E463-3C8F855B9D81}" name="Molly McHugh" initials="MHM" userId="Molly McHugh"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Gracy, Mani" initials="GM" lastIdx="1" clrIdx="2">
    <p:extLst>
      <p:ext uri="{19B8F6BF-5375-455C-9EA6-DF929625EA0E}">
        <p15:presenceInfo xmlns:p15="http://schemas.microsoft.com/office/powerpoint/2012/main" userId="S::M.Gracy2@spi-global.com::3a842c30-1f5a-493a-a962-035eb95e827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84BD"/>
    <a:srgbClr val="0070C0"/>
    <a:srgbClr val="002060"/>
    <a:srgbClr val="000000"/>
    <a:srgbClr val="A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653" autoAdjust="0"/>
    <p:restoredTop sz="68990" autoAdjust="0"/>
  </p:normalViewPr>
  <p:slideViewPr>
    <p:cSldViewPr snapToGrid="0" showGuides="1">
      <p:cViewPr varScale="1">
        <p:scale>
          <a:sx n="76" d="100"/>
          <a:sy n="76" d="100"/>
        </p:scale>
        <p:origin x="2232" y="90"/>
      </p:cViewPr>
      <p:guideLst>
        <p:guide pos="3264"/>
        <p:guide orient="horz" pos="2256"/>
        <p:guide pos="5640"/>
      </p:guideLst>
    </p:cSldViewPr>
  </p:slideViewPr>
  <p:outlineViewPr>
    <p:cViewPr>
      <p:scale>
        <a:sx n="33" d="100"/>
        <a:sy n="33" d="100"/>
      </p:scale>
      <p:origin x="0" y="-52747"/>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microsoft.com/office/2018/10/relationships/authors" Target="author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ung, Anne" userId="80c5fb36-9a90-4488-a302-00e3ddfeab81" providerId="ADAL" clId="{C77E6A75-52F6-439D-BE4F-FD2D70C12D0F}"/>
    <pc:docChg chg="modSld">
      <pc:chgData name="Leung, Anne" userId="80c5fb36-9a90-4488-a302-00e3ddfeab81" providerId="ADAL" clId="{C77E6A75-52F6-439D-BE4F-FD2D70C12D0F}" dt="2024-06-07T15:43:18.030" v="3" actId="14100"/>
      <pc:docMkLst>
        <pc:docMk/>
      </pc:docMkLst>
      <pc:sldChg chg="modSp mod">
        <pc:chgData name="Leung, Anne" userId="80c5fb36-9a90-4488-a302-00e3ddfeab81" providerId="ADAL" clId="{C77E6A75-52F6-439D-BE4F-FD2D70C12D0F}" dt="2024-06-07T15:43:18.030" v="3" actId="14100"/>
        <pc:sldMkLst>
          <pc:docMk/>
          <pc:sldMk cId="3970285401" sldId="495"/>
        </pc:sldMkLst>
        <pc:spChg chg="mod">
          <ac:chgData name="Leung, Anne" userId="80c5fb36-9a90-4488-a302-00e3ddfeab81" providerId="ADAL" clId="{C77E6A75-52F6-439D-BE4F-FD2D70C12D0F}" dt="2024-06-07T15:43:18.030" v="3" actId="14100"/>
          <ac:spMkLst>
            <pc:docMk/>
            <pc:sldMk cId="3970285401" sldId="495"/>
            <ac:spMk id="3" creationId="{611D4ACF-A4B3-4E2D-A8F8-C567233E6C2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1" i="0" dirty="0">
                <a:effectLst/>
              </a:rPr>
              <a:t>Social Security Worker to Recipient Ratio</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Sheet1!$A$1:$A$4</c:f>
              <c:numCache>
                <c:formatCode>0</c:formatCode>
                <c:ptCount val="4"/>
                <c:pt idx="0">
                  <c:v>1960</c:v>
                </c:pt>
                <c:pt idx="1">
                  <c:v>2010</c:v>
                </c:pt>
                <c:pt idx="2">
                  <c:v>2021</c:v>
                </c:pt>
                <c:pt idx="3">
                  <c:v>2035</c:v>
                </c:pt>
              </c:numCache>
            </c:numRef>
          </c:cat>
          <c:val>
            <c:numRef>
              <c:f>Sheet1!$B$1:$B$4</c:f>
              <c:numCache>
                <c:formatCode>0.0</c:formatCode>
                <c:ptCount val="4"/>
                <c:pt idx="0" formatCode="General">
                  <c:v>5.0999999999999996</c:v>
                </c:pt>
                <c:pt idx="1">
                  <c:v>3</c:v>
                </c:pt>
                <c:pt idx="2" formatCode="General">
                  <c:v>2.7</c:v>
                </c:pt>
                <c:pt idx="3" formatCode="General">
                  <c:v>2.2999999999999998</c:v>
                </c:pt>
              </c:numCache>
            </c:numRef>
          </c:val>
          <c:extLst>
            <c:ext xmlns:c16="http://schemas.microsoft.com/office/drawing/2014/chart" uri="{C3380CC4-5D6E-409C-BE32-E72D297353CC}">
              <c16:uniqueId val="{00000000-D4C2-4AD7-8DDC-47E92398E544}"/>
            </c:ext>
          </c:extLst>
        </c:ser>
        <c:dLbls>
          <c:dLblPos val="outEnd"/>
          <c:showLegendKey val="0"/>
          <c:showVal val="1"/>
          <c:showCatName val="0"/>
          <c:showSerName val="0"/>
          <c:showPercent val="0"/>
          <c:showBubbleSize val="0"/>
        </c:dLbls>
        <c:gapWidth val="219"/>
        <c:overlap val="-27"/>
        <c:axId val="553504928"/>
        <c:axId val="564755584"/>
      </c:barChart>
      <c:catAx>
        <c:axId val="553504928"/>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64755584"/>
        <c:crosses val="autoZero"/>
        <c:auto val="1"/>
        <c:lblAlgn val="ctr"/>
        <c:lblOffset val="100"/>
        <c:noMultiLvlLbl val="0"/>
      </c:catAx>
      <c:valAx>
        <c:axId val="564755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35049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F95627-E700-4049-B050-46F9C8492CAD}" type="datetimeFigureOut">
              <a:rPr lang="en-US" smtClean="0"/>
              <a:t>6/11/2024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A7A27-C7DA-4E20-8877-F9D8D7F61956}" type="slidenum">
              <a:rPr lang="en-US" smtClean="0"/>
              <a:t>‹#›</a:t>
            </a:fld>
            <a:endParaRPr lang="en-US" dirty="0"/>
          </a:p>
        </p:txBody>
      </p:sp>
    </p:spTree>
    <p:extLst>
      <p:ext uri="{BB962C8B-B14F-4D97-AF65-F5344CB8AC3E}">
        <p14:creationId xmlns:p14="http://schemas.microsoft.com/office/powerpoint/2010/main" val="1847281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39A2FD-25E4-4F4D-BDE3-F28861BF236E}" type="slidenum">
              <a:rPr lang="en-US" smtClean="0"/>
              <a:t>1</a:t>
            </a:fld>
            <a:endParaRPr lang="en-US" dirty="0"/>
          </a:p>
        </p:txBody>
      </p:sp>
    </p:spTree>
    <p:extLst>
      <p:ext uri="{BB962C8B-B14F-4D97-AF65-F5344CB8AC3E}">
        <p14:creationId xmlns:p14="http://schemas.microsoft.com/office/powerpoint/2010/main" val="993184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2</a:t>
            </a:fld>
            <a:endParaRPr lang="en-US" dirty="0"/>
          </a:p>
        </p:txBody>
      </p:sp>
    </p:spTree>
    <p:extLst>
      <p:ext uri="{BB962C8B-B14F-4D97-AF65-F5344CB8AC3E}">
        <p14:creationId xmlns:p14="http://schemas.microsoft.com/office/powerpoint/2010/main" val="2369004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Sources: Jair Hilburn, “Daymond John Is on a Mission,” Forbes, forbes.com, January 17, 2022; Christian Massa, “How Daymond John Went from Selling T-Shirts on the Street to Running a $350 Million Company,” Entrepreneur, entrepreneur.com, March 23, 2022; Jeff Conway, “‘Shark Tank’ Investor Daymond John Is Creating Better Opportunities for Others with Black Entrepreneurs Day,” Forbes, forbes.com, October 6, 2022; Daron Pressley, “‘Learn How to Pitch’: Daymond John Talks to Black Enterprise ahead of Black Entrepreneurs </a:t>
            </a:r>
            <a:r>
              <a:rPr lang="en-US" i="1" dirty="0" err="1"/>
              <a:t>Day,”Black</a:t>
            </a:r>
            <a:r>
              <a:rPr lang="en-US" i="1" dirty="0"/>
              <a:t> Enterprise, October 22, 2022; Octavio Blanco, “Daymond John on Hip-Hop, His Mom and Making It Big,” CNN, cnn.com, accessed February 2023.</a:t>
            </a:r>
          </a:p>
        </p:txBody>
      </p:sp>
      <p:sp>
        <p:nvSpPr>
          <p:cNvPr id="4" name="Slide Number Placeholder 3"/>
          <p:cNvSpPr>
            <a:spLocks noGrp="1"/>
          </p:cNvSpPr>
          <p:nvPr>
            <p:ph type="sldNum" sz="quarter" idx="5"/>
          </p:nvPr>
        </p:nvSpPr>
        <p:spPr/>
        <p:txBody>
          <a:bodyPr/>
          <a:lstStyle/>
          <a:p>
            <a:fld id="{CD9A7A27-C7DA-4E20-8877-F9D8D7F61956}" type="slidenum">
              <a:rPr lang="en-US" smtClean="0"/>
              <a:t>6</a:t>
            </a:fld>
            <a:endParaRPr lang="en-US" dirty="0"/>
          </a:p>
        </p:txBody>
      </p:sp>
    </p:spTree>
    <p:extLst>
      <p:ext uri="{BB962C8B-B14F-4D97-AF65-F5344CB8AC3E}">
        <p14:creationId xmlns:p14="http://schemas.microsoft.com/office/powerpoint/2010/main" val="1708040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Answer: </a:t>
            </a:r>
            <a:r>
              <a:rPr lang="en-US" sz="1800" b="0" i="0" u="none" strike="noStrike" baseline="0" dirty="0">
                <a:solidFill>
                  <a:srgbClr val="000000"/>
                </a:solidFill>
                <a:latin typeface="NimbusRomDOT"/>
              </a:rPr>
              <a:t>Hyundai </a:t>
            </a:r>
            <a:endParaRPr lang="en-US" altLang="en-US" dirty="0">
              <a:ea typeface="ＭＳ Ｐゴシック" pitchFamily="34" charset="-128"/>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7</a:t>
            </a:fld>
            <a:endParaRPr lang="en-US" dirty="0"/>
          </a:p>
        </p:txBody>
      </p:sp>
    </p:spTree>
    <p:extLst>
      <p:ext uri="{BB962C8B-B14F-4D97-AF65-F5344CB8AC3E}">
        <p14:creationId xmlns:p14="http://schemas.microsoft.com/office/powerpoint/2010/main" val="1907242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endParaRPr lang="en-US" altLang="en-US" dirty="0">
              <a:ea typeface="ＭＳ Ｐゴシック" pitchFamily="34" charset="-128"/>
            </a:endParaRPr>
          </a:p>
          <a:p>
            <a:r>
              <a:rPr lang="en-US" altLang="en-US" dirty="0">
                <a:ea typeface="ＭＳ Ｐゴシック" pitchFamily="34" charset="-128"/>
              </a:rPr>
              <a:t>It is important that students understand the difference between goods and services. Emphasize that goods are tangible (can be held or touched) like Nike shoes, while services are intangible (cannot be held in your hand) like a haircut.</a:t>
            </a:r>
          </a:p>
        </p:txBody>
      </p:sp>
      <p:sp>
        <p:nvSpPr>
          <p:cNvPr id="4" name="Slide Number Placeholder 3"/>
          <p:cNvSpPr>
            <a:spLocks noGrp="1"/>
          </p:cNvSpPr>
          <p:nvPr>
            <p:ph type="sldNum" sz="quarter" idx="5"/>
          </p:nvPr>
        </p:nvSpPr>
        <p:spPr/>
        <p:txBody>
          <a:bodyPr/>
          <a:lstStyle/>
          <a:p>
            <a:fld id="{CD9A7A27-C7DA-4E20-8877-F9D8D7F61956}" type="slidenum">
              <a:rPr lang="en-US" smtClean="0"/>
              <a:t>8</a:t>
            </a:fld>
            <a:endParaRPr lang="en-US" dirty="0"/>
          </a:p>
        </p:txBody>
      </p:sp>
    </p:spTree>
    <p:extLst>
      <p:ext uri="{BB962C8B-B14F-4D97-AF65-F5344CB8AC3E}">
        <p14:creationId xmlns:p14="http://schemas.microsoft.com/office/powerpoint/2010/main" val="2446982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In the United States, the entrepreneur is held in high regard. Most students have heard of Sam Walton and Michael Dell, but it often adds to the classroom experience if they understand how these entrepreneurs started their businesses. Sam Walton started Walmart with just one store in Arkansas in the 1960s. Michael Dell got his start building computers in his University of Texas dorm room, ultimately leading to the creation of Dell, Inc.</a:t>
            </a:r>
          </a:p>
        </p:txBody>
      </p:sp>
      <p:sp>
        <p:nvSpPr>
          <p:cNvPr id="4" name="Slide Number Placeholder 3"/>
          <p:cNvSpPr>
            <a:spLocks noGrp="1"/>
          </p:cNvSpPr>
          <p:nvPr>
            <p:ph type="sldNum" sz="quarter" idx="5"/>
          </p:nvPr>
        </p:nvSpPr>
        <p:spPr/>
        <p:txBody>
          <a:bodyPr/>
          <a:lstStyle/>
          <a:p>
            <a:fld id="{CD9A7A27-C7DA-4E20-8877-F9D8D7F61956}" type="slidenum">
              <a:rPr lang="en-US" smtClean="0"/>
              <a:t>9</a:t>
            </a:fld>
            <a:endParaRPr lang="en-US" dirty="0"/>
          </a:p>
        </p:txBody>
      </p:sp>
    </p:spTree>
    <p:extLst>
      <p:ext uri="{BB962C8B-B14F-4D97-AF65-F5344CB8AC3E}">
        <p14:creationId xmlns:p14="http://schemas.microsoft.com/office/powerpoint/2010/main" val="4106256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t>
            </a:r>
            <a:r>
              <a:rPr lang="en-US" b="1" dirty="0"/>
              <a:t>C</a:t>
            </a:r>
            <a:endParaRPr lang="en-US" dirty="0"/>
          </a:p>
          <a:p>
            <a:endParaRPr lang="en-US" dirty="0"/>
          </a:p>
          <a:p>
            <a:pPr defTabSz="457200"/>
            <a:r>
              <a:rPr lang="en-US" altLang="en-US" dirty="0"/>
              <a:t>Instructors: This slide can be converted to an interactive poll using Polling in </a:t>
            </a:r>
            <a:r>
              <a:rPr lang="en-US" sz="1200" b="0" i="0" dirty="0">
                <a:solidFill>
                  <a:srgbClr val="000000"/>
                </a:solidFill>
                <a:effectLst/>
              </a:rPr>
              <a:t>McGraw Hill Connect</a:t>
            </a:r>
            <a:r>
              <a:rPr lang="en-US" sz="1200" b="0" i="0" baseline="30000" dirty="0">
                <a:solidFill>
                  <a:srgbClr val="000000"/>
                </a:solidFill>
                <a:effectLst/>
              </a:rPr>
              <a:t>®</a:t>
            </a:r>
            <a:r>
              <a:rPr lang="en-US" altLang="en-US" dirty="0"/>
              <a:t>. Instructions on how to convert this question to a poll can be found on the first slide of this presentation. When converting this slide, be sure to create a </a:t>
            </a:r>
            <a:r>
              <a:rPr lang="en-US" altLang="en-US" b="1" dirty="0"/>
              <a:t>multiple choice </a:t>
            </a:r>
            <a:r>
              <a:rPr lang="en-US" altLang="en-US" dirty="0"/>
              <a:t>question.</a:t>
            </a:r>
          </a:p>
        </p:txBody>
      </p:sp>
      <p:sp>
        <p:nvSpPr>
          <p:cNvPr id="4" name="Slide Number Placeholder 3"/>
          <p:cNvSpPr>
            <a:spLocks noGrp="1"/>
          </p:cNvSpPr>
          <p:nvPr>
            <p:ph type="sldNum" sz="quarter" idx="5"/>
          </p:nvPr>
        </p:nvSpPr>
        <p:spPr/>
        <p:txBody>
          <a:bodyPr/>
          <a:lstStyle/>
          <a:p>
            <a:fld id="{CD9A7A27-C7DA-4E20-8877-F9D8D7F61956}" type="slidenum">
              <a:rPr lang="en-US" smtClean="0"/>
              <a:t>10</a:t>
            </a:fld>
            <a:endParaRPr lang="en-US" dirty="0"/>
          </a:p>
        </p:txBody>
      </p:sp>
    </p:spTree>
    <p:extLst>
      <p:ext uri="{BB962C8B-B14F-4D97-AF65-F5344CB8AC3E}">
        <p14:creationId xmlns:p14="http://schemas.microsoft.com/office/powerpoint/2010/main" val="1133382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endParaRPr lang="en-US" altLang="en-US" sz="1000" dirty="0">
              <a:latin typeface="+mn-lt"/>
              <a:ea typeface="ＭＳ Ｐゴシック" pitchFamily="34" charset="-128"/>
            </a:endParaRPr>
          </a:p>
          <a:p>
            <a:r>
              <a:rPr lang="en-US" sz="1200" b="0" i="0" u="none" strike="noStrike" baseline="0" dirty="0">
                <a:solidFill>
                  <a:srgbClr val="000000"/>
                </a:solidFill>
                <a:latin typeface="+mn-lt"/>
              </a:rPr>
              <a:t>Approximately 50 percent of small businesses close in the first five years.</a:t>
            </a:r>
            <a:endParaRPr lang="en-US" altLang="en-US" sz="1000" dirty="0">
              <a:latin typeface="+mn-lt"/>
              <a:ea typeface="ＭＳ Ｐゴシック" pitchFamily="34" charset="-128"/>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11</a:t>
            </a:fld>
            <a:endParaRPr lang="en-US" dirty="0"/>
          </a:p>
        </p:txBody>
      </p:sp>
    </p:spTree>
    <p:extLst>
      <p:ext uri="{BB962C8B-B14F-4D97-AF65-F5344CB8AC3E}">
        <p14:creationId xmlns:p14="http://schemas.microsoft.com/office/powerpoint/2010/main" val="1900169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pPr eaLnBrk="1" hangingPunct="1">
              <a:spcBef>
                <a:spcPct val="0"/>
              </a:spcBef>
            </a:pPr>
            <a:endParaRPr lang="en-US" altLang="en-US" dirty="0">
              <a:ea typeface="ＭＳ Ｐゴシック" pitchFamily="34" charset="-128"/>
            </a:endParaRPr>
          </a:p>
          <a:p>
            <a:pPr eaLnBrk="1" hangingPunct="1">
              <a:spcBef>
                <a:spcPct val="0"/>
              </a:spcBef>
            </a:pPr>
            <a:r>
              <a:rPr lang="en-US" sz="1800" b="0" i="0" u="none" strike="noStrike" baseline="0" dirty="0">
                <a:solidFill>
                  <a:srgbClr val="000000"/>
                </a:solidFill>
                <a:latin typeface="NimbusRomDOT"/>
              </a:rPr>
              <a:t>Elon Musk, the CEO and an early investor of Tesla, is now one of the richest people in the world</a:t>
            </a:r>
            <a:r>
              <a:rPr lang="en-US" altLang="ja-JP" dirty="0">
                <a:ea typeface="ＭＳ Ｐゴシック" pitchFamily="34" charset="-128"/>
              </a:rPr>
              <a:t>. Big risk, big profit.</a:t>
            </a:r>
            <a:endParaRPr lang="en-US" altLang="en-US" dirty="0">
              <a:ea typeface="ＭＳ Ｐゴシック" pitchFamily="34" charset="-128"/>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12</a:t>
            </a:fld>
            <a:endParaRPr lang="en-US" dirty="0"/>
          </a:p>
        </p:txBody>
      </p:sp>
    </p:spTree>
    <p:extLst>
      <p:ext uri="{BB962C8B-B14F-4D97-AF65-F5344CB8AC3E}">
        <p14:creationId xmlns:p14="http://schemas.microsoft.com/office/powerpoint/2010/main" val="3925376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p:txBody>
      </p:sp>
      <p:sp>
        <p:nvSpPr>
          <p:cNvPr id="4" name="Slide Number Placeholder 3"/>
          <p:cNvSpPr>
            <a:spLocks noGrp="1"/>
          </p:cNvSpPr>
          <p:nvPr>
            <p:ph type="sldNum" sz="quarter" idx="5"/>
          </p:nvPr>
        </p:nvSpPr>
        <p:spPr/>
        <p:txBody>
          <a:bodyPr/>
          <a:lstStyle/>
          <a:p>
            <a:fld id="{CD9A7A27-C7DA-4E20-8877-F9D8D7F61956}" type="slidenum">
              <a:rPr lang="en-US" smtClean="0"/>
              <a:t>13</a:t>
            </a:fld>
            <a:endParaRPr lang="en-US" dirty="0"/>
          </a:p>
        </p:txBody>
      </p:sp>
    </p:spTree>
    <p:extLst>
      <p:ext uri="{BB962C8B-B14F-4D97-AF65-F5344CB8AC3E}">
        <p14:creationId xmlns:p14="http://schemas.microsoft.com/office/powerpoint/2010/main" val="2325830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Workers in Los Angeles might make more money than workers in Albuquerque, but they also might pay 70% more for a single bedroom apartment.</a:t>
            </a:r>
          </a:p>
        </p:txBody>
      </p:sp>
      <p:sp>
        <p:nvSpPr>
          <p:cNvPr id="4" name="Slide Number Placeholder 3"/>
          <p:cNvSpPr>
            <a:spLocks noGrp="1"/>
          </p:cNvSpPr>
          <p:nvPr>
            <p:ph type="sldNum" sz="quarter" idx="5"/>
          </p:nvPr>
        </p:nvSpPr>
        <p:spPr/>
        <p:txBody>
          <a:bodyPr/>
          <a:lstStyle/>
          <a:p>
            <a:fld id="{CD9A7A27-C7DA-4E20-8877-F9D8D7F61956}" type="slidenum">
              <a:rPr lang="en-US" smtClean="0"/>
              <a:t>14</a:t>
            </a:fld>
            <a:endParaRPr lang="en-US" dirty="0"/>
          </a:p>
        </p:txBody>
      </p:sp>
    </p:spTree>
    <p:extLst>
      <p:ext uri="{BB962C8B-B14F-4D97-AF65-F5344CB8AC3E}">
        <p14:creationId xmlns:p14="http://schemas.microsoft.com/office/powerpoint/2010/main" val="405936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The more money businesses create, the more is available to improve the quality of life for all citizens.</a:t>
            </a:r>
          </a:p>
        </p:txBody>
      </p:sp>
      <p:sp>
        <p:nvSpPr>
          <p:cNvPr id="4" name="Slide Number Placeholder 3"/>
          <p:cNvSpPr>
            <a:spLocks noGrp="1"/>
          </p:cNvSpPr>
          <p:nvPr>
            <p:ph type="sldNum" sz="quarter" idx="5"/>
          </p:nvPr>
        </p:nvSpPr>
        <p:spPr/>
        <p:txBody>
          <a:bodyPr/>
          <a:lstStyle/>
          <a:p>
            <a:fld id="{CD9A7A27-C7DA-4E20-8877-F9D8D7F61956}" type="slidenum">
              <a:rPr lang="en-US" smtClean="0"/>
              <a:t>15</a:t>
            </a:fld>
            <a:endParaRPr lang="en-US" dirty="0"/>
          </a:p>
        </p:txBody>
      </p:sp>
    </p:spTree>
    <p:extLst>
      <p:ext uri="{BB962C8B-B14F-4D97-AF65-F5344CB8AC3E}">
        <p14:creationId xmlns:p14="http://schemas.microsoft.com/office/powerpoint/2010/main" val="2970370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Learning Objective 1: Describe the relationship between profit and risk, and show how businesses and nonprofit organizations can raise the standard of living for all.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ea typeface="ＭＳ Ｐゴシック"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Figure 1.1 for a list of stakeholders.</a:t>
            </a:r>
          </a:p>
        </p:txBody>
      </p:sp>
      <p:sp>
        <p:nvSpPr>
          <p:cNvPr id="4" name="Slide Number Placeholder 3"/>
          <p:cNvSpPr>
            <a:spLocks noGrp="1"/>
          </p:cNvSpPr>
          <p:nvPr>
            <p:ph type="sldNum" sz="quarter" idx="5"/>
          </p:nvPr>
        </p:nvSpPr>
        <p:spPr/>
        <p:txBody>
          <a:bodyPr/>
          <a:lstStyle/>
          <a:p>
            <a:fld id="{CD9A7A27-C7DA-4E20-8877-F9D8D7F61956}" type="slidenum">
              <a:rPr lang="en-US" smtClean="0"/>
              <a:t>16</a:t>
            </a:fld>
            <a:endParaRPr lang="en-US" dirty="0"/>
          </a:p>
        </p:txBody>
      </p:sp>
    </p:spTree>
    <p:extLst>
      <p:ext uri="{BB962C8B-B14F-4D97-AF65-F5344CB8AC3E}">
        <p14:creationId xmlns:p14="http://schemas.microsoft.com/office/powerpoint/2010/main" val="38705294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pPr eaLnBrk="1" hangingPunct="1">
              <a:spcBef>
                <a:spcPct val="0"/>
              </a:spcBef>
            </a:pPr>
            <a:endParaRPr lang="en-US" altLang="en-US" dirty="0">
              <a:ea typeface="ＭＳ Ｐゴシック" pitchFamily="34" charset="-128"/>
            </a:endParaRPr>
          </a:p>
          <a:p>
            <a:pPr eaLnBrk="1" hangingPunct="1">
              <a:spcBef>
                <a:spcPct val="0"/>
              </a:spcBef>
            </a:pPr>
            <a:r>
              <a:rPr lang="en-US" sz="1200" b="0" i="0" u="none" strike="noStrike" kern="1200" baseline="0" dirty="0">
                <a:solidFill>
                  <a:schemeClr val="tx1"/>
                </a:solidFill>
                <a:latin typeface="+mn-lt"/>
                <a:ea typeface="ＭＳ Ｐゴシック" pitchFamily="-108" charset="-128"/>
                <a:cs typeface="ＭＳ Ｐゴシック" pitchFamily="-108" charset="-128"/>
              </a:rPr>
              <a:t>Often the needs of a firm’s various stakeholders will conflict. For example, paying employees more may cut into stockholders’ profits. Balancing such demands is a major role of business managers.</a:t>
            </a:r>
            <a:endParaRPr lang="en-US" altLang="en-US" dirty="0">
              <a:ea typeface="ＭＳ Ｐゴシック" pitchFamily="34" charset="-128"/>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17</a:t>
            </a:fld>
            <a:endParaRPr lang="en-US" dirty="0"/>
          </a:p>
        </p:txBody>
      </p:sp>
    </p:spTree>
    <p:extLst>
      <p:ext uri="{BB962C8B-B14F-4D97-AF65-F5344CB8AC3E}">
        <p14:creationId xmlns:p14="http://schemas.microsoft.com/office/powerpoint/2010/main" val="1466645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kern="1200" dirty="0">
                <a:solidFill>
                  <a:schemeClr val="tx1"/>
                </a:solidFill>
                <a:latin typeface="+mn-lt"/>
                <a:ea typeface="ＭＳ Ｐゴシック" pitchFamily="34" charset="-128"/>
                <a:cs typeface="+mn-cs"/>
              </a:rPr>
              <a:t>See Learning Objective 1: Describe the relationship between profit and risk, and show how businesses and nonprofit organizations can raise the standard of living for all.</a:t>
            </a:r>
          </a:p>
          <a:p>
            <a:endParaRPr lang="en-US" altLang="en-US" sz="1200" kern="1200" dirty="0">
              <a:solidFill>
                <a:schemeClr val="tx1"/>
              </a:solidFill>
              <a:latin typeface="+mn-lt"/>
              <a:ea typeface="ＭＳ Ｐゴシック" pitchFamily="34" charset="-128"/>
              <a:cs typeface="+mn-cs"/>
            </a:endParaRPr>
          </a:p>
          <a:p>
            <a:r>
              <a:rPr lang="en-US" altLang="en-US" sz="1200" kern="1200" dirty="0">
                <a:solidFill>
                  <a:schemeClr val="tx1"/>
                </a:solidFill>
                <a:latin typeface="+mn-lt"/>
                <a:ea typeface="ＭＳ Ｐゴシック" pitchFamily="34" charset="-128"/>
                <a:cs typeface="+mn-cs"/>
              </a:rPr>
              <a:t>Outsourcing is the contracting with other companies to do some of the firm’</a:t>
            </a:r>
            <a:r>
              <a:rPr lang="en-US" altLang="ja-JP" sz="1200" kern="1200" dirty="0">
                <a:solidFill>
                  <a:schemeClr val="tx1"/>
                </a:solidFill>
                <a:latin typeface="+mn-lt"/>
                <a:ea typeface="ＭＳ Ｐゴシック" pitchFamily="34" charset="-128"/>
                <a:cs typeface="+mn-cs"/>
              </a:rPr>
              <a:t>s functions. As the slide states, these companies are often in other countries. For example, Dell Computers and many other companies outsource support services to call centers in India and other Asian nations. This can be an emotional issue and one that students often do not understand. When discussing this topic with students, it is important for students to understand that outsourcing has occurred for years and does not always involve a company from the United States locating jobs in another country.</a:t>
            </a:r>
          </a:p>
          <a:p>
            <a:endParaRPr lang="en-US" altLang="en-US" sz="1200" kern="1200" dirty="0">
              <a:solidFill>
                <a:schemeClr val="tx1"/>
              </a:solidFill>
              <a:latin typeface="+mn-lt"/>
              <a:ea typeface="ＭＳ Ｐゴシック" pitchFamily="34" charset="-128"/>
              <a:cs typeface="+mn-cs"/>
            </a:endParaRPr>
          </a:p>
          <a:p>
            <a:r>
              <a:rPr lang="en-US" altLang="en-US" sz="1200" kern="1200" dirty="0">
                <a:solidFill>
                  <a:schemeClr val="tx1"/>
                </a:solidFill>
                <a:latin typeface="+mn-lt"/>
                <a:ea typeface="ＭＳ Ｐゴシック" pitchFamily="34" charset="-128"/>
                <a:cs typeface="+mn-cs"/>
              </a:rPr>
              <a:t>Once students understand outsourcing, the concept of insourcing can be discussed. For example, Hyundai operates plants in the United States. Its engineering headquarters are in Detroit, and they produce cars in Montgomery, Alabama. All of which employ American workers. Insourcing benefits the American worker, such as Honda producing cars in the United States rather than in Japan.</a:t>
            </a:r>
          </a:p>
        </p:txBody>
      </p:sp>
      <p:sp>
        <p:nvSpPr>
          <p:cNvPr id="4" name="Slide Number Placeholder 3"/>
          <p:cNvSpPr>
            <a:spLocks noGrp="1"/>
          </p:cNvSpPr>
          <p:nvPr>
            <p:ph type="sldNum" sz="quarter" idx="5"/>
          </p:nvPr>
        </p:nvSpPr>
        <p:spPr/>
        <p:txBody>
          <a:bodyPr/>
          <a:lstStyle/>
          <a:p>
            <a:fld id="{CD9A7A27-C7DA-4E20-8877-F9D8D7F61956}" type="slidenum">
              <a:rPr lang="en-US" smtClean="0"/>
              <a:t>18</a:t>
            </a:fld>
            <a:endParaRPr lang="en-US" dirty="0"/>
          </a:p>
        </p:txBody>
      </p:sp>
    </p:spTree>
    <p:extLst>
      <p:ext uri="{BB962C8B-B14F-4D97-AF65-F5344CB8AC3E}">
        <p14:creationId xmlns:p14="http://schemas.microsoft.com/office/powerpoint/2010/main" val="826900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Nonprofits use the same principles and skills you will learn in this class.</a:t>
            </a:r>
          </a:p>
        </p:txBody>
      </p:sp>
      <p:sp>
        <p:nvSpPr>
          <p:cNvPr id="4" name="Slide Number Placeholder 3"/>
          <p:cNvSpPr>
            <a:spLocks noGrp="1"/>
          </p:cNvSpPr>
          <p:nvPr>
            <p:ph type="sldNum" sz="quarter" idx="5"/>
          </p:nvPr>
        </p:nvSpPr>
        <p:spPr/>
        <p:txBody>
          <a:bodyPr/>
          <a:lstStyle/>
          <a:p>
            <a:fld id="{CD9A7A27-C7DA-4E20-8877-F9D8D7F61956}" type="slidenum">
              <a:rPr lang="en-US" smtClean="0"/>
              <a:t>19</a:t>
            </a:fld>
            <a:endParaRPr lang="en-US" dirty="0"/>
          </a:p>
        </p:txBody>
      </p:sp>
    </p:spTree>
    <p:extLst>
      <p:ext uri="{BB962C8B-B14F-4D97-AF65-F5344CB8AC3E}">
        <p14:creationId xmlns:p14="http://schemas.microsoft.com/office/powerpoint/2010/main" val="2497001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1: Describe the relationship between profit and risk, and show how businesses and nonprofit organizations can raise the standard of living for all.</a:t>
            </a:r>
          </a:p>
        </p:txBody>
      </p:sp>
      <p:sp>
        <p:nvSpPr>
          <p:cNvPr id="4" name="Slide Number Placeholder 3"/>
          <p:cNvSpPr>
            <a:spLocks noGrp="1"/>
          </p:cNvSpPr>
          <p:nvPr>
            <p:ph type="sldNum" sz="quarter" idx="5"/>
          </p:nvPr>
        </p:nvSpPr>
        <p:spPr/>
        <p:txBody>
          <a:bodyPr/>
          <a:lstStyle/>
          <a:p>
            <a:fld id="{CD9A7A27-C7DA-4E20-8877-F9D8D7F61956}" type="slidenum">
              <a:rPr lang="en-US" smtClean="0"/>
              <a:t>20</a:t>
            </a:fld>
            <a:endParaRPr lang="en-US" dirty="0"/>
          </a:p>
        </p:txBody>
      </p:sp>
    </p:spTree>
    <p:extLst>
      <p:ext uri="{BB962C8B-B14F-4D97-AF65-F5344CB8AC3E}">
        <p14:creationId xmlns:p14="http://schemas.microsoft.com/office/powerpoint/2010/main" val="2827274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ＭＳ Ｐゴシック" charset="0"/>
                <a:cs typeface="ＭＳ Ｐゴシック" charset="0"/>
              </a:rPr>
              <a:t>See Learning Objective 1: Describe the relationship between profit and risk and show how businesses and nonprofit organizations can raise the standard of living for all.</a:t>
            </a:r>
          </a:p>
          <a:p>
            <a:pPr>
              <a:defRPr/>
            </a:pPr>
            <a:endParaRPr lang="en-US" dirty="0">
              <a:ea typeface="ＭＳ Ｐゴシック" charset="0"/>
              <a:cs typeface="ＭＳ Ｐゴシック" charset="0"/>
            </a:endParaRPr>
          </a:p>
          <a:p>
            <a:pPr>
              <a:defRPr/>
            </a:pPr>
            <a:r>
              <a:rPr lang="en-US" dirty="0">
                <a:ea typeface="ＭＳ Ｐゴシック" charset="0"/>
                <a:cs typeface="ＭＳ Ｐゴシック" charset="0"/>
              </a:rPr>
              <a:t>Gartner calls this “The Human Deal.” Employers should be more sensitive to pay disparities, offer acknowledgment and growth opportunities, and treat employees with respect, trust, and empowerment.</a:t>
            </a:r>
          </a:p>
        </p:txBody>
      </p:sp>
      <p:sp>
        <p:nvSpPr>
          <p:cNvPr id="4" name="Slide Number Placeholder 3"/>
          <p:cNvSpPr>
            <a:spLocks noGrp="1"/>
          </p:cNvSpPr>
          <p:nvPr>
            <p:ph type="sldNum" sz="quarter" idx="5"/>
          </p:nvPr>
        </p:nvSpPr>
        <p:spPr/>
        <p:txBody>
          <a:bodyPr/>
          <a:lstStyle/>
          <a:p>
            <a:fld id="{CD9A7A27-C7DA-4E20-8877-F9D8D7F61956}" type="slidenum">
              <a:rPr lang="en-US" smtClean="0"/>
              <a:t>21</a:t>
            </a:fld>
            <a:endParaRPr lang="en-US" dirty="0"/>
          </a:p>
        </p:txBody>
      </p:sp>
    </p:spTree>
    <p:extLst>
      <p:ext uri="{BB962C8B-B14F-4D97-AF65-F5344CB8AC3E}">
        <p14:creationId xmlns:p14="http://schemas.microsoft.com/office/powerpoint/2010/main" val="1686381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1. Revenue is the total amount of money a business takes in during a given period of time. Profit is the amount of money a business earns above and beyond what it spends for salaries and other expenses during a given period.</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2. Standard of living is the amount of good and services a person can buy with the money they have. Quality of life refers to the general well-being of society in terms of its political freedom, natural environment, education, health care, safety, amount of leisure, and rewards that add to the satisfaction and joy that other goods and services provide.</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3. Risk is the chance an entrepreneur takes in losing time and money on a business that may not prove profitable. Usually, entrepreneurs willing to take the most risk make the highest profit.</a:t>
            </a:r>
          </a:p>
          <a:p>
            <a:pPr eaLnBrk="1" hangingPunct="1">
              <a:spcBef>
                <a:spcPct val="0"/>
              </a:spcBef>
            </a:pPr>
            <a:endParaRPr lang="en-US" altLang="en-US" dirty="0">
              <a:ea typeface="ＭＳ Ｐゴシック" pitchFamily="34" charset="-128"/>
            </a:endParaRPr>
          </a:p>
          <a:p>
            <a:r>
              <a:rPr lang="en-US" altLang="en-US" dirty="0">
                <a:ea typeface="ＭＳ Ｐゴシック" pitchFamily="34" charset="-128"/>
              </a:rPr>
              <a:t>4. Stakeholders are all the people who stand to gain or lose by the policies and activities of a business and whose concerns the business needs to address. Outsourcing is contracting with other companies (often in other countries) to do some or all the functions of a firm, like its production or accounting tasks. Insourcing is when foreign companies set up design and production facilities in the United States.</a:t>
            </a:r>
          </a:p>
        </p:txBody>
      </p:sp>
      <p:sp>
        <p:nvSpPr>
          <p:cNvPr id="4" name="Slide Number Placeholder 3"/>
          <p:cNvSpPr>
            <a:spLocks noGrp="1"/>
          </p:cNvSpPr>
          <p:nvPr>
            <p:ph type="sldNum" sz="quarter" idx="5"/>
          </p:nvPr>
        </p:nvSpPr>
        <p:spPr/>
        <p:txBody>
          <a:bodyPr/>
          <a:lstStyle/>
          <a:p>
            <a:fld id="{CD9A7A27-C7DA-4E20-8877-F9D8D7F61956}" type="slidenum">
              <a:rPr lang="en-US" smtClean="0"/>
              <a:t>22</a:t>
            </a:fld>
            <a:endParaRPr lang="en-US" dirty="0"/>
          </a:p>
        </p:txBody>
      </p:sp>
    </p:spTree>
    <p:extLst>
      <p:ext uri="{BB962C8B-B14F-4D97-AF65-F5344CB8AC3E}">
        <p14:creationId xmlns:p14="http://schemas.microsoft.com/office/powerpoint/2010/main" val="24945499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2: Explain how entrepreneurship and the other factors of production contribute to the creation of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23</a:t>
            </a:fld>
            <a:endParaRPr lang="en-US" dirty="0"/>
          </a:p>
        </p:txBody>
      </p:sp>
    </p:spTree>
    <p:extLst>
      <p:ext uri="{BB962C8B-B14F-4D97-AF65-F5344CB8AC3E}">
        <p14:creationId xmlns:p14="http://schemas.microsoft.com/office/powerpoint/2010/main" val="785129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2: Explain how entrepreneurship and the other factors of production contribute to the creation of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24</a:t>
            </a:fld>
            <a:endParaRPr lang="en-US" dirty="0"/>
          </a:p>
        </p:txBody>
      </p:sp>
    </p:spTree>
    <p:extLst>
      <p:ext uri="{BB962C8B-B14F-4D97-AF65-F5344CB8AC3E}">
        <p14:creationId xmlns:p14="http://schemas.microsoft.com/office/powerpoint/2010/main" val="1433203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See Learning Objective 2: Explain how entrepreneurship and the other factors of production contribute to the creation of wealth.</a:t>
            </a:r>
          </a:p>
          <a:p>
            <a:pPr>
              <a:defRPr/>
            </a:pPr>
            <a:endParaRPr lang="en-US" dirty="0">
              <a:ea typeface="ＭＳ Ｐゴシック" charset="0"/>
              <a:cs typeface="ＭＳ Ｐゴシック" charset="0"/>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25</a:t>
            </a:fld>
            <a:endParaRPr lang="en-US" dirty="0"/>
          </a:p>
        </p:txBody>
      </p:sp>
    </p:spTree>
    <p:extLst>
      <p:ext uri="{BB962C8B-B14F-4D97-AF65-F5344CB8AC3E}">
        <p14:creationId xmlns:p14="http://schemas.microsoft.com/office/powerpoint/2010/main" val="3582783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2: Explain how entrepreneurship and the other factors of production contribute to the creation of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26</a:t>
            </a:fld>
            <a:endParaRPr lang="en-US" dirty="0"/>
          </a:p>
        </p:txBody>
      </p:sp>
    </p:spTree>
    <p:extLst>
      <p:ext uri="{BB962C8B-B14F-4D97-AF65-F5344CB8AC3E}">
        <p14:creationId xmlns:p14="http://schemas.microsoft.com/office/powerpoint/2010/main" val="1895435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2: Explain how entrepreneurship and the other factors of production contribute to the creation of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27</a:t>
            </a:fld>
            <a:endParaRPr lang="en-US" dirty="0"/>
          </a:p>
        </p:txBody>
      </p:sp>
    </p:spTree>
    <p:extLst>
      <p:ext uri="{BB962C8B-B14F-4D97-AF65-F5344CB8AC3E}">
        <p14:creationId xmlns:p14="http://schemas.microsoft.com/office/powerpoint/2010/main" val="20644611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1. When working for others, someone else assumes the entrepreneurial risk and provides you with benefits (life health insurance, vacation time, etc.).</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2. As an entrepreneur you have the freedom to make your own decisions and the potential for creating wealth, while sacrificing the benefits that working for others often provides.</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3. The factors of production are land, labor, capital, entrepreneurship, and knowledge. Of these, entrepreneurship and knowledge seem to be the most important for creating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28</a:t>
            </a:fld>
            <a:endParaRPr lang="en-US" dirty="0"/>
          </a:p>
        </p:txBody>
      </p:sp>
    </p:spTree>
    <p:extLst>
      <p:ext uri="{BB962C8B-B14F-4D97-AF65-F5344CB8AC3E}">
        <p14:creationId xmlns:p14="http://schemas.microsoft.com/office/powerpoint/2010/main" val="1850912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2: Explain how entrepreneurship and the other factors of production contribute to the creation of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29</a:t>
            </a:fld>
            <a:endParaRPr lang="en-US" dirty="0"/>
          </a:p>
        </p:txBody>
      </p:sp>
    </p:spTree>
    <p:extLst>
      <p:ext uri="{BB962C8B-B14F-4D97-AF65-F5344CB8AC3E}">
        <p14:creationId xmlns:p14="http://schemas.microsoft.com/office/powerpoint/2010/main" val="3992318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2: Explain how entrepreneurship and the other factors of production contribute to the creation of wealth.</a:t>
            </a:r>
          </a:p>
        </p:txBody>
      </p:sp>
      <p:sp>
        <p:nvSpPr>
          <p:cNvPr id="4" name="Slide Number Placeholder 3"/>
          <p:cNvSpPr>
            <a:spLocks noGrp="1"/>
          </p:cNvSpPr>
          <p:nvPr>
            <p:ph type="sldNum" sz="quarter" idx="5"/>
          </p:nvPr>
        </p:nvSpPr>
        <p:spPr/>
        <p:txBody>
          <a:bodyPr/>
          <a:lstStyle/>
          <a:p>
            <a:fld id="{CD9A7A27-C7DA-4E20-8877-F9D8D7F61956}" type="slidenum">
              <a:rPr lang="en-US" smtClean="0"/>
              <a:t>30</a:t>
            </a:fld>
            <a:endParaRPr lang="en-US" dirty="0"/>
          </a:p>
        </p:txBody>
      </p:sp>
    </p:spTree>
    <p:extLst>
      <p:ext uri="{BB962C8B-B14F-4D97-AF65-F5344CB8AC3E}">
        <p14:creationId xmlns:p14="http://schemas.microsoft.com/office/powerpoint/2010/main" val="2830010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3: Analyze the effects of the economic environment and taxes on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31</a:t>
            </a:fld>
            <a:endParaRPr lang="en-US" dirty="0"/>
          </a:p>
        </p:txBody>
      </p:sp>
    </p:spTree>
    <p:extLst>
      <p:ext uri="{BB962C8B-B14F-4D97-AF65-F5344CB8AC3E}">
        <p14:creationId xmlns:p14="http://schemas.microsoft.com/office/powerpoint/2010/main" val="306162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3: Analyze the effects of the economic environment and taxes on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32</a:t>
            </a:fld>
            <a:endParaRPr lang="en-US" dirty="0"/>
          </a:p>
        </p:txBody>
      </p:sp>
    </p:spTree>
    <p:extLst>
      <p:ext uri="{BB962C8B-B14F-4D97-AF65-F5344CB8AC3E}">
        <p14:creationId xmlns:p14="http://schemas.microsoft.com/office/powerpoint/2010/main" val="33967930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See Learning Objective 4: Describe the effect of technology on businesses.</a:t>
            </a:r>
          </a:p>
          <a:p>
            <a:endParaRPr lang="en-US" altLang="en-US" dirty="0">
              <a:ea typeface="ＭＳ Ｐゴシック" pitchFamily="34" charset="-128"/>
            </a:endParaRPr>
          </a:p>
          <a:p>
            <a:r>
              <a:rPr lang="en-US" altLang="en-US" dirty="0">
                <a:ea typeface="ＭＳ Ｐゴシック" pitchFamily="34" charset="-128"/>
              </a:rPr>
              <a:t>Technology affects people in all industries.</a:t>
            </a:r>
          </a:p>
        </p:txBody>
      </p:sp>
      <p:sp>
        <p:nvSpPr>
          <p:cNvPr id="4" name="Slide Number Placeholder 3"/>
          <p:cNvSpPr>
            <a:spLocks noGrp="1"/>
          </p:cNvSpPr>
          <p:nvPr>
            <p:ph type="sldNum" sz="quarter" idx="5"/>
          </p:nvPr>
        </p:nvSpPr>
        <p:spPr/>
        <p:txBody>
          <a:bodyPr/>
          <a:lstStyle/>
          <a:p>
            <a:fld id="{CD9A7A27-C7DA-4E20-8877-F9D8D7F61956}" type="slidenum">
              <a:rPr lang="en-US" smtClean="0"/>
              <a:t>33</a:t>
            </a:fld>
            <a:endParaRPr lang="en-US" dirty="0"/>
          </a:p>
        </p:txBody>
      </p:sp>
    </p:spTree>
    <p:extLst>
      <p:ext uri="{BB962C8B-B14F-4D97-AF65-F5344CB8AC3E}">
        <p14:creationId xmlns:p14="http://schemas.microsoft.com/office/powerpoint/2010/main" val="2557091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altLang="en-US" sz="1200" dirty="0">
                <a:ea typeface="ＭＳ Ｐゴシック" pitchFamily="34" charset="-128"/>
              </a:rPr>
              <a:t>See Learning Objective 4: Describe the effect of technology on businesses.</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en-US" altLang="en-US" sz="1200" dirty="0">
              <a:ea typeface="ＭＳ Ｐゴシック" pitchFamily="34" charset="-128"/>
            </a:endParaRPr>
          </a:p>
          <a:p>
            <a:r>
              <a:rPr lang="en-US" sz="1200" i="1" dirty="0"/>
              <a:t>Sources: </a:t>
            </a:r>
            <a:r>
              <a:rPr lang="en-US" sz="1200" b="0" i="1" u="none" strike="noStrike" baseline="0" dirty="0">
                <a:latin typeface="Proxima Nova"/>
              </a:rPr>
              <a:t>Rachael Dottle and Jackie Gu, “The Global Glut of Clothing Is an Environmental Crisis,” Bloomberg, bloomberg.com, February 23, 2022; Natalie Obiko Pearson, Ekow Dontoh, and Dhwani Pandya, “FastIndoor Farming,” Food Technology Magazine, ift.org, October 1, 2022; Jane Margolies, “Destined for the Dump, Construction Waste Gets New Life in the Garden,” The New York Times, nytimes.com, November 29, -Fashion Waste Is Choking Developing Countries with Mountains of Trash,” Bloomberg, bloomberg.com, November 2, 2022; Dale Buss, “The Bountiful Promise of 2022; Earth Angel, earthangelsets.com, accessed February 2023; Ellen McArthur Foundation, ellenmacarthurfoundation.org, accessed February 2023; The Plant, www.insidetheplant. com, accessed February 2023. </a:t>
            </a:r>
          </a:p>
        </p:txBody>
      </p:sp>
      <p:sp>
        <p:nvSpPr>
          <p:cNvPr id="4" name="Slide Number Placeholder 3"/>
          <p:cNvSpPr>
            <a:spLocks noGrp="1"/>
          </p:cNvSpPr>
          <p:nvPr>
            <p:ph type="sldNum" sz="quarter" idx="5"/>
          </p:nvPr>
        </p:nvSpPr>
        <p:spPr/>
        <p:txBody>
          <a:bodyPr/>
          <a:lstStyle/>
          <a:p>
            <a:fld id="{CD9A7A27-C7DA-4E20-8877-F9D8D7F61956}" type="slidenum">
              <a:rPr lang="en-US" smtClean="0"/>
              <a:t>34</a:t>
            </a:fld>
            <a:endParaRPr lang="en-US" dirty="0"/>
          </a:p>
        </p:txBody>
      </p:sp>
    </p:spTree>
    <p:extLst>
      <p:ext uri="{BB962C8B-B14F-4D97-AF65-F5344CB8AC3E}">
        <p14:creationId xmlns:p14="http://schemas.microsoft.com/office/powerpoint/2010/main" val="1757688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4: Describe the effect of technology on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35</a:t>
            </a:fld>
            <a:endParaRPr lang="en-US" dirty="0"/>
          </a:p>
        </p:txBody>
      </p:sp>
    </p:spTree>
    <p:extLst>
      <p:ext uri="{BB962C8B-B14F-4D97-AF65-F5344CB8AC3E}">
        <p14:creationId xmlns:p14="http://schemas.microsoft.com/office/powerpoint/2010/main" val="24360175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4: Describe the effect of technology on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36</a:t>
            </a:fld>
            <a:endParaRPr lang="en-US" dirty="0"/>
          </a:p>
        </p:txBody>
      </p:sp>
    </p:spTree>
    <p:extLst>
      <p:ext uri="{BB962C8B-B14F-4D97-AF65-F5344CB8AC3E}">
        <p14:creationId xmlns:p14="http://schemas.microsoft.com/office/powerpoint/2010/main" val="4017875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4: Describe the effect of technology on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37</a:t>
            </a:fld>
            <a:endParaRPr lang="en-US" dirty="0"/>
          </a:p>
        </p:txBody>
      </p:sp>
    </p:spTree>
    <p:extLst>
      <p:ext uri="{BB962C8B-B14F-4D97-AF65-F5344CB8AC3E}">
        <p14:creationId xmlns:p14="http://schemas.microsoft.com/office/powerpoint/2010/main" val="40250097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5: Demonstrate how businesses can meet and beat competition.</a:t>
            </a:r>
          </a:p>
        </p:txBody>
      </p:sp>
      <p:sp>
        <p:nvSpPr>
          <p:cNvPr id="4" name="Slide Number Placeholder 3"/>
          <p:cNvSpPr>
            <a:spLocks noGrp="1"/>
          </p:cNvSpPr>
          <p:nvPr>
            <p:ph type="sldNum" sz="quarter" idx="5"/>
          </p:nvPr>
        </p:nvSpPr>
        <p:spPr/>
        <p:txBody>
          <a:bodyPr/>
          <a:lstStyle/>
          <a:p>
            <a:fld id="{CD9A7A27-C7DA-4E20-8877-F9D8D7F61956}" type="slidenum">
              <a:rPr lang="en-US" smtClean="0"/>
              <a:t>38</a:t>
            </a:fld>
            <a:endParaRPr lang="en-US" dirty="0"/>
          </a:p>
        </p:txBody>
      </p:sp>
    </p:spTree>
    <p:extLst>
      <p:ext uri="{BB962C8B-B14F-4D97-AF65-F5344CB8AC3E}">
        <p14:creationId xmlns:p14="http://schemas.microsoft.com/office/powerpoint/2010/main" val="1043234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[opinion—no correct answer]</a:t>
            </a:r>
            <a:endParaRPr lang="en-US" b="1" dirty="0"/>
          </a:p>
          <a:p>
            <a:endParaRPr lang="en-US" dirty="0"/>
          </a:p>
          <a:p>
            <a:pPr defTabSz="457200"/>
            <a:r>
              <a:rPr lang="en-US" altLang="en-US" dirty="0"/>
              <a:t>Instructors: This slide can be converted to an interactive poll using Polling in </a:t>
            </a:r>
            <a:r>
              <a:rPr lang="en-US" sz="1200" b="0" i="0" dirty="0">
                <a:solidFill>
                  <a:srgbClr val="000000"/>
                </a:solidFill>
                <a:effectLst/>
              </a:rPr>
              <a:t>McGraw Hill Connect</a:t>
            </a:r>
            <a:r>
              <a:rPr lang="en-US" sz="1200" b="0" i="0" baseline="30000" dirty="0">
                <a:solidFill>
                  <a:srgbClr val="000000"/>
                </a:solidFill>
                <a:effectLst/>
              </a:rPr>
              <a:t>®</a:t>
            </a:r>
            <a:r>
              <a:rPr lang="en-US" altLang="en-US" dirty="0"/>
              <a:t>. Instructions on how to convert this question to a poll can be found on the first slide of this presentation. When converting this slide, be sure to create a </a:t>
            </a:r>
            <a:r>
              <a:rPr lang="en-US" altLang="en-US" b="1" dirty="0"/>
              <a:t>multiple choice </a:t>
            </a:r>
            <a:r>
              <a:rPr lang="en-US" altLang="en-US" dirty="0"/>
              <a:t>question.</a:t>
            </a:r>
          </a:p>
        </p:txBody>
      </p:sp>
      <p:sp>
        <p:nvSpPr>
          <p:cNvPr id="4" name="Slide Number Placeholder 3"/>
          <p:cNvSpPr>
            <a:spLocks noGrp="1"/>
          </p:cNvSpPr>
          <p:nvPr>
            <p:ph type="sldNum" sz="quarter" idx="5"/>
          </p:nvPr>
        </p:nvSpPr>
        <p:spPr/>
        <p:txBody>
          <a:bodyPr/>
          <a:lstStyle/>
          <a:p>
            <a:fld id="{CD9A7A27-C7DA-4E20-8877-F9D8D7F61956}" type="slidenum">
              <a:rPr lang="en-US" smtClean="0"/>
              <a:t>39</a:t>
            </a:fld>
            <a:endParaRPr lang="en-US" dirty="0"/>
          </a:p>
        </p:txBody>
      </p:sp>
    </p:spTree>
    <p:extLst>
      <p:ext uri="{BB962C8B-B14F-4D97-AF65-F5344CB8AC3E}">
        <p14:creationId xmlns:p14="http://schemas.microsoft.com/office/powerpoint/2010/main" val="16611857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6: Analyze the social changes affecting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40</a:t>
            </a:fld>
            <a:endParaRPr lang="en-US" dirty="0"/>
          </a:p>
        </p:txBody>
      </p:sp>
    </p:spTree>
    <p:extLst>
      <p:ext uri="{BB962C8B-B14F-4D97-AF65-F5344CB8AC3E}">
        <p14:creationId xmlns:p14="http://schemas.microsoft.com/office/powerpoint/2010/main" val="4986680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See Learning Objective 6: Analyze the social changes affecting businesses.</a:t>
            </a:r>
          </a:p>
          <a:p>
            <a:pPr>
              <a:defRPr/>
            </a:pPr>
            <a:endParaRPr lang="en-US" dirty="0">
              <a:ea typeface="ＭＳ Ｐゴシック" charset="0"/>
              <a:cs typeface="ＭＳ Ｐゴシック" charset="0"/>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41</a:t>
            </a:fld>
            <a:endParaRPr lang="en-US" dirty="0"/>
          </a:p>
        </p:txBody>
      </p:sp>
    </p:spTree>
    <p:extLst>
      <p:ext uri="{BB962C8B-B14F-4D97-AF65-F5344CB8AC3E}">
        <p14:creationId xmlns:p14="http://schemas.microsoft.com/office/powerpoint/2010/main" val="1240564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See Learning Objective 6: Analyze the social changes affecting businesses.</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When discussing how demographic changes experienced in this country over the past 30 years have affected businesses, it often helps to use the grocery store as an example. The grocery store has evolved from a market selling primarily raw materials used to produce a meal into stores that now serve pre-made products that simply involve “h</a:t>
            </a:r>
            <a:r>
              <a:rPr lang="en-US" altLang="ja-JP" dirty="0">
                <a:ea typeface="ＭＳ Ｐゴシック" pitchFamily="34" charset="-128"/>
              </a:rPr>
              <a:t>eating and eating.” Why? Some would argue this change has more to do with the two-income and single-parent household than any other environmental factor. Engaging students in this discussion is often useful to their understanding of how businesses must adapt to changing demographic circumstances.</a:t>
            </a:r>
            <a:endParaRPr lang="en-US" altLang="en-US" dirty="0">
              <a:ea typeface="ＭＳ Ｐゴシック" pitchFamily="34" charset="-128"/>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42</a:t>
            </a:fld>
            <a:endParaRPr lang="en-US" dirty="0"/>
          </a:p>
        </p:txBody>
      </p:sp>
    </p:spTree>
    <p:extLst>
      <p:ext uri="{BB962C8B-B14F-4D97-AF65-F5344CB8AC3E}">
        <p14:creationId xmlns:p14="http://schemas.microsoft.com/office/powerpoint/2010/main" val="32352918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6: Analyze the social changes affecting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43</a:t>
            </a:fld>
            <a:endParaRPr lang="en-US" dirty="0"/>
          </a:p>
        </p:txBody>
      </p:sp>
    </p:spTree>
    <p:extLst>
      <p:ext uri="{BB962C8B-B14F-4D97-AF65-F5344CB8AC3E}">
        <p14:creationId xmlns:p14="http://schemas.microsoft.com/office/powerpoint/2010/main" val="25338409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See Learning Objective 6: Analyze the social changes affecting businesses.</a:t>
            </a:r>
          </a:p>
          <a:p>
            <a:pPr marL="228600" indent="-228600"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The number of workers per retiree has dropped dramatically since 1960.</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Ask the students: What impact will the decline of the number of workers per retiree have in the future</a:t>
            </a:r>
            <a:r>
              <a:rPr lang="en-US" altLang="en-US" i="1" dirty="0">
                <a:ea typeface="ＭＳ Ｐゴシック" pitchFamily="34" charset="-128"/>
              </a:rPr>
              <a:t>? (In the future, government might have to raise taxes and reduce benefits for individuals or use a means test in an effort to prevent Social Security payments from bankrupting the government.)</a:t>
            </a:r>
            <a:endParaRPr lang="en-US" altLang="en-US" dirty="0">
              <a:ea typeface="ＭＳ Ｐゴシック" pitchFamily="34" charset="-128"/>
            </a:endParaRPr>
          </a:p>
        </p:txBody>
      </p:sp>
      <p:sp>
        <p:nvSpPr>
          <p:cNvPr id="4" name="Slide Number Placeholder 3"/>
          <p:cNvSpPr>
            <a:spLocks noGrp="1"/>
          </p:cNvSpPr>
          <p:nvPr>
            <p:ph type="sldNum" sz="quarter" idx="5"/>
          </p:nvPr>
        </p:nvSpPr>
        <p:spPr/>
        <p:txBody>
          <a:bodyPr/>
          <a:lstStyle/>
          <a:p>
            <a:fld id="{CD9A7A27-C7DA-4E20-8877-F9D8D7F61956}" type="slidenum">
              <a:rPr lang="en-US" smtClean="0"/>
              <a:t>44</a:t>
            </a:fld>
            <a:endParaRPr lang="en-US" dirty="0"/>
          </a:p>
        </p:txBody>
      </p:sp>
    </p:spTree>
    <p:extLst>
      <p:ext uri="{BB962C8B-B14F-4D97-AF65-F5344CB8AC3E}">
        <p14:creationId xmlns:p14="http://schemas.microsoft.com/office/powerpoint/2010/main" val="33423651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6: Analyze the social changes affecting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45</a:t>
            </a:fld>
            <a:endParaRPr lang="en-US" dirty="0"/>
          </a:p>
        </p:txBody>
      </p:sp>
    </p:spTree>
    <p:extLst>
      <p:ext uri="{BB962C8B-B14F-4D97-AF65-F5344CB8AC3E}">
        <p14:creationId xmlns:p14="http://schemas.microsoft.com/office/powerpoint/2010/main" val="29366564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6: Analyze the social changes affecting businesses.</a:t>
            </a:r>
          </a:p>
        </p:txBody>
      </p:sp>
      <p:sp>
        <p:nvSpPr>
          <p:cNvPr id="4" name="Slide Number Placeholder 3"/>
          <p:cNvSpPr>
            <a:spLocks noGrp="1"/>
          </p:cNvSpPr>
          <p:nvPr>
            <p:ph type="sldNum" sz="quarter" idx="5"/>
          </p:nvPr>
        </p:nvSpPr>
        <p:spPr/>
        <p:txBody>
          <a:bodyPr/>
          <a:lstStyle/>
          <a:p>
            <a:fld id="{CD9A7A27-C7DA-4E20-8877-F9D8D7F61956}" type="slidenum">
              <a:rPr lang="en-US" smtClean="0"/>
              <a:t>46</a:t>
            </a:fld>
            <a:endParaRPr lang="en-US" dirty="0"/>
          </a:p>
        </p:txBody>
      </p:sp>
    </p:spTree>
    <p:extLst>
      <p:ext uri="{BB962C8B-B14F-4D97-AF65-F5344CB8AC3E}">
        <p14:creationId xmlns:p14="http://schemas.microsoft.com/office/powerpoint/2010/main" val="14027046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altLang="en-US" dirty="0">
                <a:ea typeface="ＭＳ Ｐゴシック" pitchFamily="34" charset="-128"/>
              </a:rPr>
              <a:t>See Learning Objective 6: Analyze the social changes affecting businesses.</a:t>
            </a:r>
          </a:p>
          <a:p>
            <a:endParaRPr lang="en-US" i="0" dirty="0"/>
          </a:p>
          <a:p>
            <a:r>
              <a:rPr lang="en-US" i="1" dirty="0"/>
              <a:t>Sources: Norah Mulinda and Amina Niasse, “Gen Z Uses TikTok Like Google, Upsetting the Old Internet Order,” Bloomberg, bloomberg.com, July 29, 2022; Suzanne Vranica and Liza Lin, “TikTok Grabs More Ad Dollars, as Marketers Look to Attract Gen Z and Millennials,” The Wall Street Journal, wsj.com, June 21, 2022; Jeff Fromm, “As Gen Z’s Buying Power Grows, Businesses Must Adapt Their Marketing,” Forbes, forbes.com, July 20, 2022; “70+ Statistics on Gen Z Spending Habits for 2023,” Lexington Law, lexingtonlaw. com, March 7, 2023.</a:t>
            </a:r>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47</a:t>
            </a:fld>
            <a:endParaRPr lang="en-US" dirty="0"/>
          </a:p>
        </p:txBody>
      </p:sp>
    </p:spTree>
    <p:extLst>
      <p:ext uri="{BB962C8B-B14F-4D97-AF65-F5344CB8AC3E}">
        <p14:creationId xmlns:p14="http://schemas.microsoft.com/office/powerpoint/2010/main" val="499835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See Learning Objective 7: Identify what businesses must do to meet global challenges, including war and terrorism.</a:t>
            </a:r>
          </a:p>
          <a:p>
            <a:pPr eaLnBrk="1" hangingPunct="1">
              <a:spcBef>
                <a:spcPct val="0"/>
              </a:spcBef>
            </a:pPr>
            <a:endParaRPr lang="en-US" altLang="en-US" dirty="0">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defRPr/>
            </a:pPr>
            <a:r>
              <a:rPr lang="en-US" altLang="en-US" dirty="0">
                <a:ea typeface="ＭＳ Ｐゴシック" pitchFamily="34" charset="-128"/>
              </a:rPr>
              <a:t>Ask the students: Can terrorism and an economic crisis decrease economic cooperation and free trade among nations? </a:t>
            </a:r>
            <a:r>
              <a:rPr lang="en-US" altLang="en-US" i="1" dirty="0">
                <a:ea typeface="ＭＳ Ｐゴシック" pitchFamily="34" charset="-128"/>
              </a:rPr>
              <a:t>(This question is at the same time alarming and thought provoking. Given recent events, asking students this question will get them thinking about how the world and events in far away places can impact their lives.)</a:t>
            </a:r>
          </a:p>
        </p:txBody>
      </p:sp>
      <p:sp>
        <p:nvSpPr>
          <p:cNvPr id="4" name="Slide Number Placeholder 3"/>
          <p:cNvSpPr>
            <a:spLocks noGrp="1"/>
          </p:cNvSpPr>
          <p:nvPr>
            <p:ph type="sldNum" sz="quarter" idx="5"/>
          </p:nvPr>
        </p:nvSpPr>
        <p:spPr/>
        <p:txBody>
          <a:bodyPr/>
          <a:lstStyle/>
          <a:p>
            <a:fld id="{CD9A7A27-C7DA-4E20-8877-F9D8D7F61956}" type="slidenum">
              <a:rPr lang="en-US" smtClean="0"/>
              <a:t>48</a:t>
            </a:fld>
            <a:endParaRPr lang="en-US" dirty="0"/>
          </a:p>
        </p:txBody>
      </p:sp>
    </p:spTree>
    <p:extLst>
      <p:ext uri="{BB962C8B-B14F-4D97-AF65-F5344CB8AC3E}">
        <p14:creationId xmlns:p14="http://schemas.microsoft.com/office/powerpoint/2010/main" val="20100606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7: Identify what businesses must do to meet global challenges, including war and terrorism.</a:t>
            </a:r>
          </a:p>
        </p:txBody>
      </p:sp>
      <p:sp>
        <p:nvSpPr>
          <p:cNvPr id="4" name="Slide Number Placeholder 3"/>
          <p:cNvSpPr>
            <a:spLocks noGrp="1"/>
          </p:cNvSpPr>
          <p:nvPr>
            <p:ph type="sldNum" sz="quarter" idx="5"/>
          </p:nvPr>
        </p:nvSpPr>
        <p:spPr/>
        <p:txBody>
          <a:bodyPr/>
          <a:lstStyle/>
          <a:p>
            <a:fld id="{CD9A7A27-C7DA-4E20-8877-F9D8D7F61956}" type="slidenum">
              <a:rPr lang="en-US" smtClean="0"/>
              <a:t>49</a:t>
            </a:fld>
            <a:endParaRPr lang="en-US" dirty="0"/>
          </a:p>
        </p:txBody>
      </p:sp>
    </p:spTree>
    <p:extLst>
      <p:ext uri="{BB962C8B-B14F-4D97-AF65-F5344CB8AC3E}">
        <p14:creationId xmlns:p14="http://schemas.microsoft.com/office/powerpoint/2010/main" val="3112656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7: Identify what businesses must do to meet global challenges, including war and terrorism.</a:t>
            </a:r>
          </a:p>
        </p:txBody>
      </p:sp>
      <p:sp>
        <p:nvSpPr>
          <p:cNvPr id="4" name="Slide Number Placeholder 3"/>
          <p:cNvSpPr>
            <a:spLocks noGrp="1"/>
          </p:cNvSpPr>
          <p:nvPr>
            <p:ph type="sldNum" sz="quarter" idx="5"/>
          </p:nvPr>
        </p:nvSpPr>
        <p:spPr/>
        <p:txBody>
          <a:bodyPr/>
          <a:lstStyle/>
          <a:p>
            <a:fld id="{CD9A7A27-C7DA-4E20-8877-F9D8D7F61956}" type="slidenum">
              <a:rPr lang="en-US" smtClean="0"/>
              <a:t>50</a:t>
            </a:fld>
            <a:endParaRPr lang="en-US" dirty="0"/>
          </a:p>
        </p:txBody>
      </p:sp>
    </p:spTree>
    <p:extLst>
      <p:ext uri="{BB962C8B-B14F-4D97-AF65-F5344CB8AC3E}">
        <p14:creationId xmlns:p14="http://schemas.microsoft.com/office/powerpoint/2010/main" val="18172862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altLang="en-US" dirty="0">
                <a:ea typeface="ＭＳ Ｐゴシック" pitchFamily="34" charset="-128"/>
              </a:rPr>
              <a:t>See Learning Objective 7: Identify what businesses must do to meet global challenges, including war and terrorism.</a:t>
            </a:r>
          </a:p>
          <a:p>
            <a:endParaRPr lang="en-US" dirty="0"/>
          </a:p>
          <a:p>
            <a:r>
              <a:rPr lang="en-US" i="1" dirty="0"/>
              <a:t>Sources: Alicia Kelso, “A Look at the Menu Innovation Driving KFC Global’s Sales Momentum,” Forbes, forbes.com, July 22, 2019; Jiyoung Sohn, “Mint Chocolate on Fried Chicken? A Food Craze Has Everyone Taking Sides,” The Wall Street Journal, wsj.com, October 5, 2022; Chris Heasman, “International KFC Menu Items You Won’t Find in the U.S.,” Mashed, mashed.com, February 2, 2023.</a:t>
            </a:r>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51</a:t>
            </a:fld>
            <a:endParaRPr lang="en-US" dirty="0"/>
          </a:p>
        </p:txBody>
      </p:sp>
    </p:spTree>
    <p:extLst>
      <p:ext uri="{BB962C8B-B14F-4D97-AF65-F5344CB8AC3E}">
        <p14:creationId xmlns:p14="http://schemas.microsoft.com/office/powerpoint/2010/main" val="2452491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1. The government can foster entrepreneurship by: </a:t>
            </a:r>
          </a:p>
          <a:p>
            <a:r>
              <a:rPr lang="en-US" altLang="en-US" dirty="0">
                <a:ea typeface="ＭＳ Ｐゴシック" pitchFamily="34" charset="-128"/>
              </a:rPr>
              <a:t>• Allowing private ownership of business.</a:t>
            </a:r>
          </a:p>
          <a:p>
            <a:r>
              <a:rPr lang="en-US" altLang="en-US" dirty="0">
                <a:ea typeface="ＭＳ Ｐゴシック" pitchFamily="34" charset="-128"/>
              </a:rPr>
              <a:t>• Passing laws that enable businesses to write enforceable contracts.</a:t>
            </a:r>
          </a:p>
          <a:p>
            <a:r>
              <a:rPr lang="en-US" altLang="en-US" dirty="0">
                <a:ea typeface="ＭＳ Ｐゴシック" pitchFamily="34" charset="-128"/>
              </a:rPr>
              <a:t>• Establishing a currency that is tradable in world markets.</a:t>
            </a:r>
          </a:p>
          <a:p>
            <a:r>
              <a:rPr lang="en-US" altLang="en-US" dirty="0">
                <a:ea typeface="ＭＳ Ｐゴシック" pitchFamily="34" charset="-128"/>
              </a:rPr>
              <a:t>• Minimizing corruption in business and in its own ranks.</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2. Effectiveness means producing the desired results. Efficiency means producing goods and services using the least amount of resources. Productivity is the amount of output you generate given the amount of input, such as the number of hours you work.</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3. Empowerment is allowing workers to make decisions essential to producing high-quality goods and services.</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4. Technology changes, identity theft, changing demographics, diversity, climate change, war, and terrorism are just several issues affecting the economy today.</a:t>
            </a:r>
          </a:p>
        </p:txBody>
      </p:sp>
      <p:sp>
        <p:nvSpPr>
          <p:cNvPr id="4" name="Slide Number Placeholder 3"/>
          <p:cNvSpPr>
            <a:spLocks noGrp="1"/>
          </p:cNvSpPr>
          <p:nvPr>
            <p:ph type="sldNum" sz="quarter" idx="5"/>
          </p:nvPr>
        </p:nvSpPr>
        <p:spPr/>
        <p:txBody>
          <a:bodyPr/>
          <a:lstStyle/>
          <a:p>
            <a:fld id="{CD9A7A27-C7DA-4E20-8877-F9D8D7F61956}" type="slidenum">
              <a:rPr lang="en-US" smtClean="0"/>
              <a:t>52</a:t>
            </a:fld>
            <a:endParaRPr lang="en-US" dirty="0"/>
          </a:p>
        </p:txBody>
      </p:sp>
    </p:spTree>
    <p:extLst>
      <p:ext uri="{BB962C8B-B14F-4D97-AF65-F5344CB8AC3E}">
        <p14:creationId xmlns:p14="http://schemas.microsoft.com/office/powerpoint/2010/main" val="2638754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See Learning Objective 8: Review how past trends are being repeated in the present and what those trends mean for tomorrow’</a:t>
            </a:r>
            <a:r>
              <a:rPr lang="en-US" altLang="ja-JP" dirty="0">
                <a:ea typeface="ＭＳ Ｐゴシック" pitchFamily="34" charset="-128"/>
              </a:rPr>
              <a:t>s college graduates.</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Agriculture was the leading industry in the U.S. in the 1800s. Technology has made farming so efficient, the number of farmers has dropped from about 33 percent of the population to about 1 percent. However, it is still a major industry in the U.S.</a:t>
            </a:r>
          </a:p>
        </p:txBody>
      </p:sp>
      <p:sp>
        <p:nvSpPr>
          <p:cNvPr id="4" name="Slide Number Placeholder 3"/>
          <p:cNvSpPr>
            <a:spLocks noGrp="1"/>
          </p:cNvSpPr>
          <p:nvPr>
            <p:ph type="sldNum" sz="quarter" idx="5"/>
          </p:nvPr>
        </p:nvSpPr>
        <p:spPr/>
        <p:txBody>
          <a:bodyPr/>
          <a:lstStyle/>
          <a:p>
            <a:fld id="{CD9A7A27-C7DA-4E20-8877-F9D8D7F61956}" type="slidenum">
              <a:rPr lang="en-US" smtClean="0"/>
              <a:t>53</a:t>
            </a:fld>
            <a:endParaRPr lang="en-US" dirty="0"/>
          </a:p>
        </p:txBody>
      </p:sp>
    </p:spTree>
    <p:extLst>
      <p:ext uri="{BB962C8B-B14F-4D97-AF65-F5344CB8AC3E}">
        <p14:creationId xmlns:p14="http://schemas.microsoft.com/office/powerpoint/2010/main" val="39878386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8: Review how past trends are being repeated in the present and what those trends mean for tomorrow’</a:t>
            </a:r>
            <a:r>
              <a:rPr lang="en-US" altLang="ja-JP" dirty="0">
                <a:ea typeface="ＭＳ Ｐゴシック" pitchFamily="34" charset="-128"/>
              </a:rPr>
              <a:t>s college graduates.</a:t>
            </a:r>
          </a:p>
        </p:txBody>
      </p:sp>
      <p:sp>
        <p:nvSpPr>
          <p:cNvPr id="4" name="Slide Number Placeholder 3"/>
          <p:cNvSpPr>
            <a:spLocks noGrp="1"/>
          </p:cNvSpPr>
          <p:nvPr>
            <p:ph type="sldNum" sz="quarter" idx="5"/>
          </p:nvPr>
        </p:nvSpPr>
        <p:spPr/>
        <p:txBody>
          <a:bodyPr/>
          <a:lstStyle/>
          <a:p>
            <a:fld id="{CD9A7A27-C7DA-4E20-8877-F9D8D7F61956}" type="slidenum">
              <a:rPr lang="en-US" smtClean="0"/>
              <a:t>54</a:t>
            </a:fld>
            <a:endParaRPr lang="en-US" dirty="0"/>
          </a:p>
        </p:txBody>
      </p:sp>
    </p:spTree>
    <p:extLst>
      <p:ext uri="{BB962C8B-B14F-4D97-AF65-F5344CB8AC3E}">
        <p14:creationId xmlns:p14="http://schemas.microsoft.com/office/powerpoint/2010/main" val="3903542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8: Review how past trends are being repeated in the present and what those trends mean for tomorrow’</a:t>
            </a:r>
            <a:r>
              <a:rPr lang="en-US" altLang="ja-JP" dirty="0">
                <a:ea typeface="ＭＳ Ｐゴシック" pitchFamily="34" charset="-128"/>
              </a:rPr>
              <a:t>s college graduates.</a:t>
            </a:r>
          </a:p>
        </p:txBody>
      </p:sp>
      <p:sp>
        <p:nvSpPr>
          <p:cNvPr id="4" name="Slide Number Placeholder 3"/>
          <p:cNvSpPr>
            <a:spLocks noGrp="1"/>
          </p:cNvSpPr>
          <p:nvPr>
            <p:ph type="sldNum" sz="quarter" idx="5"/>
          </p:nvPr>
        </p:nvSpPr>
        <p:spPr/>
        <p:txBody>
          <a:bodyPr/>
          <a:lstStyle/>
          <a:p>
            <a:fld id="{CD9A7A27-C7DA-4E20-8877-F9D8D7F61956}" type="slidenum">
              <a:rPr lang="en-US" smtClean="0"/>
              <a:t>55</a:t>
            </a:fld>
            <a:endParaRPr lang="en-US" dirty="0"/>
          </a:p>
        </p:txBody>
      </p:sp>
    </p:spTree>
    <p:extLst>
      <p:ext uri="{BB962C8B-B14F-4D97-AF65-F5344CB8AC3E}">
        <p14:creationId xmlns:p14="http://schemas.microsoft.com/office/powerpoint/2010/main" val="24676811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8: Review how past trends are being repeated in the present and what those trends mean for tomorrow’</a:t>
            </a:r>
            <a:r>
              <a:rPr lang="en-US" altLang="ja-JP" dirty="0">
                <a:ea typeface="ＭＳ Ｐゴシック" pitchFamily="34" charset="-128"/>
              </a:rPr>
              <a:t>s college graduates.</a:t>
            </a:r>
          </a:p>
        </p:txBody>
      </p:sp>
      <p:sp>
        <p:nvSpPr>
          <p:cNvPr id="4" name="Slide Number Placeholder 3"/>
          <p:cNvSpPr>
            <a:spLocks noGrp="1"/>
          </p:cNvSpPr>
          <p:nvPr>
            <p:ph type="sldNum" sz="quarter" idx="5"/>
          </p:nvPr>
        </p:nvSpPr>
        <p:spPr/>
        <p:txBody>
          <a:bodyPr/>
          <a:lstStyle/>
          <a:p>
            <a:fld id="{CD9A7A27-C7DA-4E20-8877-F9D8D7F61956}" type="slidenum">
              <a:rPr lang="en-US" smtClean="0"/>
              <a:t>56</a:t>
            </a:fld>
            <a:endParaRPr lang="en-US" dirty="0"/>
          </a:p>
        </p:txBody>
      </p:sp>
    </p:spTree>
    <p:extLst>
      <p:ext uri="{BB962C8B-B14F-4D97-AF65-F5344CB8AC3E}">
        <p14:creationId xmlns:p14="http://schemas.microsoft.com/office/powerpoint/2010/main" val="11622119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See Learning Objective 8: Review how past trends are being repeated in the present and what those trends mean for tomorrow’</a:t>
            </a:r>
            <a:r>
              <a:rPr lang="en-US" altLang="ja-JP" dirty="0">
                <a:ea typeface="ＭＳ Ｐゴシック" pitchFamily="34" charset="-128"/>
              </a:rPr>
              <a:t>s college graduates.</a:t>
            </a:r>
          </a:p>
        </p:txBody>
      </p:sp>
      <p:sp>
        <p:nvSpPr>
          <p:cNvPr id="4" name="Slide Number Placeholder 3"/>
          <p:cNvSpPr>
            <a:spLocks noGrp="1"/>
          </p:cNvSpPr>
          <p:nvPr>
            <p:ph type="sldNum" sz="quarter" idx="5"/>
          </p:nvPr>
        </p:nvSpPr>
        <p:spPr/>
        <p:txBody>
          <a:bodyPr/>
          <a:lstStyle/>
          <a:p>
            <a:fld id="{CD9A7A27-C7DA-4E20-8877-F9D8D7F61956}" type="slidenum">
              <a:rPr lang="en-US" smtClean="0"/>
              <a:t>57</a:t>
            </a:fld>
            <a:endParaRPr lang="en-US" dirty="0"/>
          </a:p>
        </p:txBody>
      </p:sp>
    </p:spTree>
    <p:extLst>
      <p:ext uri="{BB962C8B-B14F-4D97-AF65-F5344CB8AC3E}">
        <p14:creationId xmlns:p14="http://schemas.microsoft.com/office/powerpoint/2010/main" val="8202954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ea typeface="ＭＳ Ｐゴシック" pitchFamily="34" charset="-128"/>
              </a:rPr>
              <a:t>1. Efficiencies in agriculture led to the reduction in farms and growth in industry that caused workers to leave the farm and come to the cities. The growth of efficiencies in production had the same effect as in agriculture. As factories became more efficient and technologically driven, workers migrated to the service sector.</a:t>
            </a:r>
          </a:p>
          <a:p>
            <a:pPr eaLnBrk="1" hangingPunct="1">
              <a:spcBef>
                <a:spcPct val="0"/>
              </a:spcBef>
            </a:pPr>
            <a:endParaRPr lang="en-US" altLang="en-US" dirty="0">
              <a:ea typeface="ＭＳ Ｐゴシック" pitchFamily="34" charset="-128"/>
            </a:endParaRPr>
          </a:p>
          <a:p>
            <a:pPr eaLnBrk="1" hangingPunct="1">
              <a:spcBef>
                <a:spcPct val="0"/>
              </a:spcBef>
            </a:pPr>
            <a:r>
              <a:rPr lang="en-US" altLang="en-US" dirty="0">
                <a:ea typeface="ＭＳ Ｐゴシック" pitchFamily="34" charset="-128"/>
              </a:rPr>
              <a:t>2. The information-based global revolution will alter all sections of the economy. It will be an interesting opportunity for college graduates.</a:t>
            </a:r>
          </a:p>
        </p:txBody>
      </p:sp>
      <p:sp>
        <p:nvSpPr>
          <p:cNvPr id="4" name="Slide Number Placeholder 3"/>
          <p:cNvSpPr>
            <a:spLocks noGrp="1"/>
          </p:cNvSpPr>
          <p:nvPr>
            <p:ph type="sldNum" sz="quarter" idx="5"/>
          </p:nvPr>
        </p:nvSpPr>
        <p:spPr/>
        <p:txBody>
          <a:bodyPr/>
          <a:lstStyle/>
          <a:p>
            <a:fld id="{CD9A7A27-C7DA-4E20-8877-F9D8D7F61956}" type="slidenum">
              <a:rPr lang="en-US" smtClean="0"/>
              <a:t>58</a:t>
            </a:fld>
            <a:endParaRPr lang="en-US" dirty="0"/>
          </a:p>
        </p:txBody>
      </p:sp>
    </p:spTree>
    <p:extLst>
      <p:ext uri="{BB962C8B-B14F-4D97-AF65-F5344CB8AC3E}">
        <p14:creationId xmlns:p14="http://schemas.microsoft.com/office/powerpoint/2010/main" val="42479121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59</a:t>
            </a:fld>
            <a:endParaRPr lang="en-US" dirty="0"/>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McGraw Hill LLC. All rights reserved. No reproduction or distribution without the prior written consent of McGraw Hill LLC.</a:t>
            </a:r>
          </a:p>
        </p:txBody>
      </p:sp>
      <p:sp>
        <p:nvSpPr>
          <p:cNvPr id="13" name="Content Placeholder 5">
            <a:extLst>
              <a:ext uri="{FF2B5EF4-FFF2-40B4-BE49-F238E27FC236}">
                <a16:creationId xmlns:a16="http://schemas.microsoft.com/office/drawing/2014/main" id="{94676E63-5785-42C5-94C7-249B828FABD8}"/>
              </a:ext>
            </a:extLst>
          </p:cNvPr>
          <p:cNvSpPr>
            <a:spLocks noGrp="1"/>
          </p:cNvSpPr>
          <p:nvPr>
            <p:ph sz="quarter" idx="13"/>
          </p:nvPr>
        </p:nvSpPr>
        <p:spPr>
          <a:xfrm>
            <a:off x="365125" y="6543675"/>
            <a:ext cx="8421688" cy="173038"/>
          </a:xfrm>
          <a:prstGeom prst="rect">
            <a:avLst/>
          </a:prstGeom>
        </p:spPr>
        <p:txBody>
          <a:bodyPr/>
          <a:lstStyle/>
          <a:p>
            <a:pPr lvl="0"/>
            <a:endParaRPr lang="en-US" dirty="0"/>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CA361214-B33C-4406-86F1-E94F18031AEF}"/>
              </a:ext>
            </a:extLst>
          </p:cNvPr>
          <p:cNvSpPr>
            <a:spLocks noGrp="1"/>
          </p:cNvSpPr>
          <p:nvPr>
            <p:ph sz="quarter" idx="11"/>
          </p:nvPr>
        </p:nvSpPr>
        <p:spPr>
          <a:xfrm>
            <a:off x="365125" y="6543675"/>
            <a:ext cx="8421688" cy="173038"/>
          </a:xfrm>
          <a:prstGeom prst="rect">
            <a:avLst/>
          </a:prstGeom>
        </p:spPr>
        <p:txBody>
          <a:bodyPr/>
          <a:lstStyle/>
          <a:p>
            <a:pPr lvl="0"/>
            <a:endParaRPr lang="en-US" dirty="0"/>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chemeClr val="accent1">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chemeClr val="accent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8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McGraw Hill LLC. All rights reserved. No reproduction or distribution without the prior written consent of McGraw Hill LLC.</a:t>
            </a:r>
            <a:endParaRPr kumimoji="0" lang="en-US" sz="8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13" name="Content Placeholder 5">
            <a:extLst>
              <a:ext uri="{FF2B5EF4-FFF2-40B4-BE49-F238E27FC236}">
                <a16:creationId xmlns:a16="http://schemas.microsoft.com/office/drawing/2014/main" id="{94676E63-5785-42C5-94C7-249B828FABD8}"/>
              </a:ext>
            </a:extLst>
          </p:cNvPr>
          <p:cNvSpPr>
            <a:spLocks noGrp="1"/>
          </p:cNvSpPr>
          <p:nvPr>
            <p:ph sz="quarter" idx="13"/>
          </p:nvPr>
        </p:nvSpPr>
        <p:spPr>
          <a:xfrm>
            <a:off x="365125" y="6543675"/>
            <a:ext cx="8421688" cy="173038"/>
          </a:xfrm>
          <a:prstGeom prst="rect">
            <a:avLst/>
          </a:prstGeom>
        </p:spPr>
        <p:txBody>
          <a:bodyPr/>
          <a:lstStyle/>
          <a:p>
            <a:pPr lvl="0"/>
            <a:endParaRPr lang="en-US" dirty="0"/>
          </a:p>
        </p:txBody>
      </p:sp>
    </p:spTree>
    <p:extLst>
      <p:ext uri="{BB962C8B-B14F-4D97-AF65-F5344CB8AC3E}">
        <p14:creationId xmlns:p14="http://schemas.microsoft.com/office/powerpoint/2010/main" val="2886899447"/>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2800">
                <a:solidFill>
                  <a:srgbClr val="0070C0"/>
                </a:solidFill>
              </a:defRPr>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878028"/>
          </a:xfrm>
          <a:prstGeom prst="rect">
            <a:avLst/>
          </a:prstGeom>
        </p:spPr>
        <p:txBody>
          <a:bodyPr/>
          <a:lstStyle>
            <a:lvl1pPr>
              <a:spcBef>
                <a:spcPts val="1000"/>
              </a:spcBef>
              <a:spcAft>
                <a:spcPts val="0"/>
              </a:spcAft>
              <a:defRPr sz="2400"/>
            </a:lvl1pPr>
            <a:lvl2pPr marL="291600" indent="-291600">
              <a:spcBef>
                <a:spcPts val="1000"/>
              </a:spcBef>
              <a:spcAft>
                <a:spcPts val="0"/>
              </a:spcAft>
              <a:defRPr sz="2200"/>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878028"/>
          </a:xfrm>
          <a:prstGeom prst="rect">
            <a:avLst/>
          </a:prstGeom>
        </p:spPr>
        <p:txBody>
          <a:bodyPr/>
          <a:lstStyle>
            <a:lvl1pPr>
              <a:spcBef>
                <a:spcPts val="1000"/>
              </a:spcBef>
              <a:spcAft>
                <a:spcPts val="0"/>
              </a:spcAft>
              <a:defRPr sz="2400"/>
            </a:lvl1pPr>
            <a:lvl2pPr marL="291600" indent="-291600">
              <a:spcBef>
                <a:spcPts val="1000"/>
              </a:spcBef>
              <a:spcAft>
                <a:spcPts val="0"/>
              </a:spcAft>
              <a:defRPr sz="2200"/>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pic>
        <p:nvPicPr>
          <p:cNvPr id="8" name="Picture 7">
            <a:extLst>
              <a:ext uri="{FF2B5EF4-FFF2-40B4-BE49-F238E27FC236}">
                <a16:creationId xmlns:a16="http://schemas.microsoft.com/office/drawing/2014/main" id="{DF02F542-A0AC-4B04-BC5D-14501114FF6F}"/>
              </a:ext>
            </a:extLst>
          </p:cNvPr>
          <p:cNvPicPr>
            <a:picLocks noChangeAspect="1"/>
          </p:cNvPicPr>
          <p:nvPr userDrawn="1"/>
        </p:nvPicPr>
        <p:blipFill>
          <a:blip r:embed="rId2"/>
          <a:stretch>
            <a:fillRect/>
          </a:stretch>
        </p:blipFill>
        <p:spPr>
          <a:xfrm>
            <a:off x="3554103" y="543129"/>
            <a:ext cx="5253187" cy="289292"/>
          </a:xfrm>
          <a:prstGeom prst="rect">
            <a:avLst/>
          </a:prstGeom>
        </p:spPr>
      </p:pic>
    </p:spTree>
    <p:extLst>
      <p:ext uri="{BB962C8B-B14F-4D97-AF65-F5344CB8AC3E}">
        <p14:creationId xmlns:p14="http://schemas.microsoft.com/office/powerpoint/2010/main" val="23556169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0E8983CA-7565-4832-AEB6-43019C690817}"/>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2800">
                <a:solidFill>
                  <a:srgbClr val="0070C0"/>
                </a:solidFill>
              </a:defRPr>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sz="2400"/>
            </a:lvl1pPr>
            <a:lvl2pPr marL="291600" indent="-291600">
              <a:spcBef>
                <a:spcPts val="1000"/>
              </a:spcBef>
              <a:spcAft>
                <a:spcPts val="0"/>
              </a:spcAft>
              <a:defRPr sz="2200"/>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660358"/>
          </a:xfrm>
        </p:spPr>
        <p:txBody>
          <a:bodyPr/>
          <a:lstStyle>
            <a:lvl1pPr>
              <a:spcBef>
                <a:spcPts val="1000"/>
              </a:spcBef>
              <a:spcAft>
                <a:spcPts val="0"/>
              </a:spcAft>
              <a:defRPr sz="2400"/>
            </a:lvl1pPr>
            <a:lvl2pPr marL="291600" indent="-291600">
              <a:spcBef>
                <a:spcPts val="1000"/>
              </a:spcBef>
              <a:spcAft>
                <a:spcPts val="0"/>
              </a:spcAft>
              <a:defRPr sz="2200"/>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
        <p:nvSpPr>
          <p:cNvPr id="8" name="Appendix Link">
            <a:extLst>
              <a:ext uri="{FF2B5EF4-FFF2-40B4-BE49-F238E27FC236}">
                <a16:creationId xmlns:a16="http://schemas.microsoft.com/office/drawing/2014/main" id="{C5EF4C7E-E3EA-4A51-AD02-0D44BC45482F}"/>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0" name="Image Credit">
            <a:extLst>
              <a:ext uri="{FF2B5EF4-FFF2-40B4-BE49-F238E27FC236}">
                <a16:creationId xmlns:a16="http://schemas.microsoft.com/office/drawing/2014/main" id="{4D1E5D3D-B35C-4CCC-8033-D6BFD87670D4}"/>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48FD5FD3-075E-4CEF-88D4-58326FA57E7D}"/>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28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4076700" cy="4594702"/>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612639"/>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
        <p:nvSpPr>
          <p:cNvPr id="8" name="Appendix Link">
            <a:extLst>
              <a:ext uri="{FF2B5EF4-FFF2-40B4-BE49-F238E27FC236}">
                <a16:creationId xmlns:a16="http://schemas.microsoft.com/office/drawing/2014/main" id="{7E930E35-B6A4-4F9E-84BF-898BF0B102B5}"/>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0" name="Image Credit">
            <a:extLst>
              <a:ext uri="{FF2B5EF4-FFF2-40B4-BE49-F238E27FC236}">
                <a16:creationId xmlns:a16="http://schemas.microsoft.com/office/drawing/2014/main" id="{8F1429F0-0067-4606-9215-B313A14C5024}"/>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685B7D10-C617-41CF-A7CD-B95C01F469B6}"/>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28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72704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74550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
        <p:nvSpPr>
          <p:cNvPr id="8" name="Appendix Link">
            <a:extLst>
              <a:ext uri="{FF2B5EF4-FFF2-40B4-BE49-F238E27FC236}">
                <a16:creationId xmlns:a16="http://schemas.microsoft.com/office/drawing/2014/main" id="{2C05CBB5-542D-485E-BF27-8F0EC98A2C80}"/>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0" name="Image Credit">
            <a:extLst>
              <a:ext uri="{FF2B5EF4-FFF2-40B4-BE49-F238E27FC236}">
                <a16:creationId xmlns:a16="http://schemas.microsoft.com/office/drawing/2014/main" id="{9E83341F-F763-4070-A42C-3DFE82E669E8}"/>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BB7A7B45-8A6F-4051-9680-215D1BD8529C}"/>
              </a:ext>
            </a:extLst>
          </p:cNvPr>
          <p:cNvSpPr>
            <a:spLocks noGrp="1"/>
          </p:cNvSpPr>
          <p:nvPr>
            <p:ph type="title" hasCustomPrompt="1"/>
          </p:nvPr>
        </p:nvSpPr>
        <p:spPr>
          <a:xfrm>
            <a:off x="266330" y="147328"/>
            <a:ext cx="853477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1979254"/>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899" y="3599450"/>
            <a:ext cx="8548437" cy="1309434"/>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342899" y="5293892"/>
            <a:ext cx="8458201" cy="822158"/>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
        <p:nvSpPr>
          <p:cNvPr id="10" name="Appendix Link">
            <a:extLst>
              <a:ext uri="{FF2B5EF4-FFF2-40B4-BE49-F238E27FC236}">
                <a16:creationId xmlns:a16="http://schemas.microsoft.com/office/drawing/2014/main" id="{06D96B1E-9D79-4ED9-967D-10BA257CF30B}"/>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1" name="Image Credit">
            <a:extLst>
              <a:ext uri="{FF2B5EF4-FFF2-40B4-BE49-F238E27FC236}">
                <a16:creationId xmlns:a16="http://schemas.microsoft.com/office/drawing/2014/main" id="{22D3DFF2-A432-439E-808E-198EFC11B359}"/>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hree with Third as Accent">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BB7A7B45-8A6F-4051-9680-215D1BD8529C}"/>
              </a:ext>
            </a:extLst>
          </p:cNvPr>
          <p:cNvSpPr>
            <a:spLocks noGrp="1"/>
          </p:cNvSpPr>
          <p:nvPr>
            <p:ph type="title" hasCustomPrompt="1"/>
          </p:nvPr>
        </p:nvSpPr>
        <p:spPr>
          <a:xfrm>
            <a:off x="342899" y="786522"/>
            <a:ext cx="8458201"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15904"/>
            <a:ext cx="8458200" cy="1979254"/>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899" y="4238644"/>
            <a:ext cx="8548437" cy="1309434"/>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342899" y="5933086"/>
            <a:ext cx="8458201" cy="822158"/>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
        <p:nvSpPr>
          <p:cNvPr id="10" name="Appendix Link">
            <a:extLst>
              <a:ext uri="{FF2B5EF4-FFF2-40B4-BE49-F238E27FC236}">
                <a16:creationId xmlns:a16="http://schemas.microsoft.com/office/drawing/2014/main" id="{06D96B1E-9D79-4ED9-967D-10BA257CF30B}"/>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1" name="Image Credit">
            <a:extLst>
              <a:ext uri="{FF2B5EF4-FFF2-40B4-BE49-F238E27FC236}">
                <a16:creationId xmlns:a16="http://schemas.microsoft.com/office/drawing/2014/main" id="{22D3DFF2-A432-439E-808E-198EFC11B359}"/>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2" name="Rectangle 1">
            <a:extLst>
              <a:ext uri="{FF2B5EF4-FFF2-40B4-BE49-F238E27FC236}">
                <a16:creationId xmlns:a16="http://schemas.microsoft.com/office/drawing/2014/main" id="{3A1BAE03-E23E-F0BB-E5C8-F0A809DD4B17}"/>
              </a:ext>
            </a:extLst>
          </p:cNvPr>
          <p:cNvSpPr/>
          <p:nvPr userDrawn="1"/>
        </p:nvSpPr>
        <p:spPr>
          <a:xfrm>
            <a:off x="0" y="0"/>
            <a:ext cx="9144000" cy="401514"/>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4225659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16" name="Slide Title">
            <a:extLst>
              <a:ext uri="{FF2B5EF4-FFF2-40B4-BE49-F238E27FC236}">
                <a16:creationId xmlns:a16="http://schemas.microsoft.com/office/drawing/2014/main" id="{0AEF76B8-09D8-4437-B6C6-86E80F0B5D99}"/>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3710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
        <p:nvSpPr>
          <p:cNvPr id="12" name="Appendix Link">
            <a:extLst>
              <a:ext uri="{FF2B5EF4-FFF2-40B4-BE49-F238E27FC236}">
                <a16:creationId xmlns:a16="http://schemas.microsoft.com/office/drawing/2014/main" id="{AF95AD97-07DA-4F61-A6D6-FA93CAFE059F}"/>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4" name="Image Credit">
            <a:extLst>
              <a:ext uri="{FF2B5EF4-FFF2-40B4-BE49-F238E27FC236}">
                <a16:creationId xmlns:a16="http://schemas.microsoft.com/office/drawing/2014/main" id="{2378B41D-4109-4622-8529-FD51F6960526}"/>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17" name="Content Placeholder 1">
            <a:extLst>
              <a:ext uri="{FF2B5EF4-FFF2-40B4-BE49-F238E27FC236}">
                <a16:creationId xmlns:a16="http://schemas.microsoft.com/office/drawing/2014/main" id="{7DDD7A36-42B8-41F0-AA6A-4A5F0C04D20B}"/>
              </a:ext>
            </a:extLst>
          </p:cNvPr>
          <p:cNvSpPr>
            <a:spLocks noGrp="1"/>
          </p:cNvSpPr>
          <p:nvPr>
            <p:ph sz="quarter" idx="19" hasCustomPrompt="1"/>
          </p:nvPr>
        </p:nvSpPr>
        <p:spPr>
          <a:xfrm>
            <a:off x="5745018" y="1429110"/>
            <a:ext cx="3208482"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8" name="Content Placeholder 2">
            <a:extLst>
              <a:ext uri="{FF2B5EF4-FFF2-40B4-BE49-F238E27FC236}">
                <a16:creationId xmlns:a16="http://schemas.microsoft.com/office/drawing/2014/main" id="{C9C88938-CC0D-449E-8A4A-2D221941436C}"/>
              </a:ext>
            </a:extLst>
          </p:cNvPr>
          <p:cNvSpPr>
            <a:spLocks noGrp="1"/>
          </p:cNvSpPr>
          <p:nvPr>
            <p:ph sz="quarter" idx="20" hasCustomPrompt="1"/>
          </p:nvPr>
        </p:nvSpPr>
        <p:spPr>
          <a:xfrm>
            <a:off x="5745018" y="2222896"/>
            <a:ext cx="3208482"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13BEA462-0627-4D3D-8811-6E504C56E37F}"/>
              </a:ext>
            </a:extLst>
          </p:cNvPr>
          <p:cNvSpPr>
            <a:spLocks noGrp="1"/>
          </p:cNvSpPr>
          <p:nvPr>
            <p:ph sz="quarter" idx="21" hasCustomPrompt="1"/>
          </p:nvPr>
        </p:nvSpPr>
        <p:spPr>
          <a:xfrm>
            <a:off x="5745018" y="3053344"/>
            <a:ext cx="3208482"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20" name="Content Placeholder 4">
            <a:extLst>
              <a:ext uri="{FF2B5EF4-FFF2-40B4-BE49-F238E27FC236}">
                <a16:creationId xmlns:a16="http://schemas.microsoft.com/office/drawing/2014/main" id="{F57C9484-BFB6-4C85-A92A-62C821553D9D}"/>
              </a:ext>
            </a:extLst>
          </p:cNvPr>
          <p:cNvSpPr>
            <a:spLocks noGrp="1"/>
          </p:cNvSpPr>
          <p:nvPr>
            <p:ph sz="quarter" idx="22" hasCustomPrompt="1"/>
          </p:nvPr>
        </p:nvSpPr>
        <p:spPr>
          <a:xfrm>
            <a:off x="5745018" y="3907754"/>
            <a:ext cx="3208482"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21" name="Content Placeholder 5">
            <a:extLst>
              <a:ext uri="{FF2B5EF4-FFF2-40B4-BE49-F238E27FC236}">
                <a16:creationId xmlns:a16="http://schemas.microsoft.com/office/drawing/2014/main" id="{48A7BABE-83B2-40C6-AF01-D4FACED73C9C}"/>
              </a:ext>
            </a:extLst>
          </p:cNvPr>
          <p:cNvSpPr>
            <a:spLocks noGrp="1"/>
          </p:cNvSpPr>
          <p:nvPr>
            <p:ph sz="quarter" idx="23" hasCustomPrompt="1"/>
          </p:nvPr>
        </p:nvSpPr>
        <p:spPr>
          <a:xfrm>
            <a:off x="5745018" y="4787564"/>
            <a:ext cx="3208482"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22" name="Content Placeholder 6">
            <a:extLst>
              <a:ext uri="{FF2B5EF4-FFF2-40B4-BE49-F238E27FC236}">
                <a16:creationId xmlns:a16="http://schemas.microsoft.com/office/drawing/2014/main" id="{07A09D0D-557D-45D4-B594-32807A4AAC90}"/>
              </a:ext>
            </a:extLst>
          </p:cNvPr>
          <p:cNvSpPr>
            <a:spLocks noGrp="1"/>
          </p:cNvSpPr>
          <p:nvPr>
            <p:ph sz="quarter" idx="24" hasCustomPrompt="1"/>
          </p:nvPr>
        </p:nvSpPr>
        <p:spPr>
          <a:xfrm>
            <a:off x="5745018" y="5667375"/>
            <a:ext cx="3208482" cy="537105"/>
          </a:xfrm>
        </p:spPr>
        <p:txBody>
          <a:bodyPr/>
          <a:lstStyle>
            <a:lvl1pPr>
              <a:defRPr/>
            </a:lvl1pPr>
          </a:lstStyle>
          <a:p>
            <a:pPr lvl="0"/>
            <a:r>
              <a:rPr lang="en-US" dirty="0"/>
              <a:t>Slide Content 6</a:t>
            </a:r>
          </a:p>
          <a:p>
            <a:pPr lvl="1"/>
            <a:r>
              <a:rPr lang="en-US" dirty="0"/>
              <a:t>Second level</a:t>
            </a:r>
          </a:p>
          <a:p>
            <a:pPr lvl="2"/>
            <a:r>
              <a:rPr lang="en-US" dirty="0"/>
              <a:t>Third level</a:t>
            </a:r>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NoBar-Two-Up Comparison">
    <p:spTree>
      <p:nvGrpSpPr>
        <p:cNvPr id="1" name=""/>
        <p:cNvGrpSpPr/>
        <p:nvPr/>
      </p:nvGrpSpPr>
      <p:grpSpPr>
        <a:xfrm>
          <a:off x="0" y="0"/>
          <a:ext cx="0" cy="0"/>
          <a:chOff x="0" y="0"/>
          <a:chExt cx="0" cy="0"/>
        </a:xfrm>
      </p:grpSpPr>
      <p:sp>
        <p:nvSpPr>
          <p:cNvPr id="9" name="Slide Title"/>
          <p:cNvSpPr>
            <a:spLocks noGrp="1"/>
          </p:cNvSpPr>
          <p:nvPr>
            <p:ph type="title"/>
          </p:nvPr>
        </p:nvSpPr>
        <p:spPr>
          <a:xfrm>
            <a:off x="457200" y="491356"/>
            <a:ext cx="8229600" cy="548640"/>
          </a:xfrm>
          <a:prstGeom prst="rect">
            <a:avLst/>
          </a:prstGeom>
          <a:solidFill>
            <a:srgbClr val="B7472A"/>
          </a:solidFill>
        </p:spPr>
        <p:txBody>
          <a:bodyPr anchor="ctr"/>
          <a:lstStyle>
            <a:lvl1pPr>
              <a:defRPr sz="2400" b="1">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5ED57AD0-046D-48F0-AED1-7159E05ACE30}"/>
              </a:ext>
            </a:extLst>
          </p:cNvPr>
          <p:cNvSpPr>
            <a:spLocks noGrp="1"/>
          </p:cNvSpPr>
          <p:nvPr>
            <p:ph sz="quarter" idx="13"/>
          </p:nvPr>
        </p:nvSpPr>
        <p:spPr>
          <a:xfrm>
            <a:off x="457200" y="1512828"/>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1" name="Content Placeholder 6">
            <a:extLst>
              <a:ext uri="{FF2B5EF4-FFF2-40B4-BE49-F238E27FC236}">
                <a16:creationId xmlns:a16="http://schemas.microsoft.com/office/drawing/2014/main" id="{53E5C0B6-2F84-4FB5-A82E-A2DAACB22E86}"/>
              </a:ext>
            </a:extLst>
          </p:cNvPr>
          <p:cNvSpPr>
            <a:spLocks noGrp="1"/>
          </p:cNvSpPr>
          <p:nvPr>
            <p:ph sz="quarter" idx="14"/>
          </p:nvPr>
        </p:nvSpPr>
        <p:spPr>
          <a:xfrm>
            <a:off x="457200" y="2604539"/>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3" name="Content Placeholder 6">
            <a:extLst>
              <a:ext uri="{FF2B5EF4-FFF2-40B4-BE49-F238E27FC236}">
                <a16:creationId xmlns:a16="http://schemas.microsoft.com/office/drawing/2014/main" id="{506753BD-1A00-4282-8AA9-DB87E1C4915B}"/>
              </a:ext>
            </a:extLst>
          </p:cNvPr>
          <p:cNvSpPr>
            <a:spLocks noGrp="1"/>
          </p:cNvSpPr>
          <p:nvPr>
            <p:ph sz="quarter" idx="15"/>
          </p:nvPr>
        </p:nvSpPr>
        <p:spPr>
          <a:xfrm>
            <a:off x="457200" y="3647337"/>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7CD36003-9A1D-4D5E-A974-E5D086C51988}"/>
              </a:ext>
            </a:extLst>
          </p:cNvPr>
          <p:cNvSpPr>
            <a:spLocks noGrp="1"/>
          </p:cNvSpPr>
          <p:nvPr>
            <p:ph sz="quarter" idx="16"/>
          </p:nvPr>
        </p:nvSpPr>
        <p:spPr>
          <a:xfrm>
            <a:off x="457200" y="4752995"/>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5" name="Text Placeholder 4">
            <a:extLst>
              <a:ext uri="{FF2B5EF4-FFF2-40B4-BE49-F238E27FC236}">
                <a16:creationId xmlns:a16="http://schemas.microsoft.com/office/drawing/2014/main" id="{509A7254-0EAD-4208-AF0D-5F09FEB52C94}"/>
              </a:ext>
            </a:extLst>
          </p:cNvPr>
          <p:cNvSpPr>
            <a:spLocks noGrp="1"/>
          </p:cNvSpPr>
          <p:nvPr>
            <p:ph type="body" sz="quarter" idx="17" hasCustomPrompt="1"/>
          </p:nvPr>
        </p:nvSpPr>
        <p:spPr>
          <a:xfrm>
            <a:off x="3200400" y="6292850"/>
            <a:ext cx="2743200" cy="228600"/>
          </a:xfrm>
          <a:prstGeom prst="rect">
            <a:avLst/>
          </a:prstGeom>
        </p:spPr>
        <p:txBody>
          <a:bodyPr anchor="ctr">
            <a:normAutofit/>
          </a:bodyPr>
          <a:lstStyle>
            <a:lvl1pPr marL="0" indent="0" algn="ctr">
              <a:buNone/>
              <a:defRPr sz="900">
                <a:solidFill>
                  <a:srgbClr val="006699"/>
                </a:solidFill>
              </a:defRPr>
            </a:lvl1pPr>
          </a:lstStyle>
          <a:p>
            <a:pPr lvl="0"/>
            <a:r>
              <a:rPr lang="en-US" dirty="0"/>
              <a:t>Edit Master text styles</a:t>
            </a:r>
            <a:endParaRPr lang="en-IN" dirty="0"/>
          </a:p>
        </p:txBody>
      </p:sp>
      <p:sp>
        <p:nvSpPr>
          <p:cNvPr id="16" name="Text Placeholder 7">
            <a:extLst>
              <a:ext uri="{FF2B5EF4-FFF2-40B4-BE49-F238E27FC236}">
                <a16:creationId xmlns:a16="http://schemas.microsoft.com/office/drawing/2014/main" id="{299BB11A-95ED-402D-9C53-2DB2F31C8CCE}"/>
              </a:ext>
            </a:extLst>
          </p:cNvPr>
          <p:cNvSpPr>
            <a:spLocks noGrp="1"/>
          </p:cNvSpPr>
          <p:nvPr>
            <p:ph type="body" sz="quarter" idx="11"/>
          </p:nvPr>
        </p:nvSpPr>
        <p:spPr>
          <a:xfrm>
            <a:off x="1449388" y="6635750"/>
            <a:ext cx="7065962" cy="117475"/>
          </a:xfrm>
          <a:prstGeom prst="rect">
            <a:avLst/>
          </a:prstGeom>
        </p:spPr>
        <p:txBody>
          <a:bodyPr>
            <a:noAutofit/>
          </a:bodyPr>
          <a:lstStyle>
            <a:lvl1pPr algn="r">
              <a:defRPr sz="800">
                <a:solidFill>
                  <a:schemeClr val="tx1"/>
                </a:solidFill>
              </a:defRPr>
            </a:lvl1pPr>
          </a:lstStyle>
          <a:p>
            <a:pPr lvl="0"/>
            <a:r>
              <a:rPr lang="en-US" dirty="0"/>
              <a:t>Click to edit Master text styles</a:t>
            </a:r>
          </a:p>
        </p:txBody>
      </p:sp>
    </p:spTree>
    <p:extLst>
      <p:ext uri="{BB962C8B-B14F-4D97-AF65-F5344CB8AC3E}">
        <p14:creationId xmlns:p14="http://schemas.microsoft.com/office/powerpoint/2010/main" val="3945003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eyond the Tex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1353312" y="304800"/>
            <a:ext cx="7447788" cy="678611"/>
          </a:xfrm>
          <a:prstGeom prst="rect">
            <a:avLst/>
          </a:prstGeom>
        </p:spPr>
        <p:txBody>
          <a:bodyPr anchor="ctr"/>
          <a:lstStyle>
            <a:lvl1pPr>
              <a:defRPr sz="28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1353312" y="1276709"/>
            <a:ext cx="7447788"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Text Placeholder 11">
            <a:extLst>
              <a:ext uri="{FF2B5EF4-FFF2-40B4-BE49-F238E27FC236}">
                <a16:creationId xmlns:a16="http://schemas.microsoft.com/office/drawing/2014/main" id="{0295B849-0CC0-686F-3191-5EF7A57BA40F}"/>
              </a:ext>
            </a:extLst>
          </p:cNvPr>
          <p:cNvSpPr>
            <a:spLocks noGrp="1"/>
          </p:cNvSpPr>
          <p:nvPr>
            <p:ph type="body" sz="quarter" idx="14" hasCustomPrompt="1"/>
          </p:nvPr>
        </p:nvSpPr>
        <p:spPr>
          <a:xfrm rot="16200000">
            <a:off x="-2286001" y="2837688"/>
            <a:ext cx="5943601" cy="877824"/>
          </a:xfrm>
          <a:solidFill>
            <a:srgbClr val="7030A0"/>
          </a:solidFill>
        </p:spPr>
        <p:txBody>
          <a:bodyPr>
            <a:normAutofit/>
          </a:bodyPr>
          <a:lstStyle>
            <a:lvl1pPr algn="ctr">
              <a:lnSpc>
                <a:spcPct val="150000"/>
              </a:lnSpc>
              <a:defRPr sz="3200" b="1">
                <a:solidFill>
                  <a:schemeClr val="bg1"/>
                </a:solidFill>
              </a:defRPr>
            </a:lvl1pPr>
          </a:lstStyle>
          <a:p>
            <a:pPr lvl="0"/>
            <a:r>
              <a:rPr lang="en-US" dirty="0"/>
              <a:t>Beyond the Text</a:t>
            </a:r>
          </a:p>
        </p:txBody>
      </p:sp>
    </p:spTree>
    <p:extLst>
      <p:ext uri="{BB962C8B-B14F-4D97-AF65-F5344CB8AC3E}">
        <p14:creationId xmlns:p14="http://schemas.microsoft.com/office/powerpoint/2010/main" val="186050125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1721031" cy="571999"/>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793959"/>
            <a:ext cx="8458200" cy="4454442"/>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6396426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0" y="298541"/>
            <a:ext cx="2438400" cy="669365"/>
          </a:xfrm>
          <a:prstGeom prst="rect">
            <a:avLst/>
          </a:prstGeom>
        </p:spPr>
      </p:pic>
    </p:spTree>
    <p:extLst>
      <p:ext uri="{BB962C8B-B14F-4D97-AF65-F5344CB8AC3E}">
        <p14:creationId xmlns:p14="http://schemas.microsoft.com/office/powerpoint/2010/main" val="2297045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41448" y="304800"/>
            <a:ext cx="635965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157DF18F-1AE7-3B33-C9F9-A0676EE407D6}"/>
              </a:ext>
            </a:extLst>
          </p:cNvPr>
          <p:cNvPicPr>
            <a:picLocks noChangeAspect="1"/>
          </p:cNvPicPr>
          <p:nvPr userDrawn="1"/>
        </p:nvPicPr>
        <p:blipFill>
          <a:blip r:embed="rId2"/>
          <a:stretch>
            <a:fillRect/>
          </a:stretch>
        </p:blipFill>
        <p:spPr>
          <a:xfrm>
            <a:off x="0" y="258958"/>
            <a:ext cx="2316588" cy="770294"/>
          </a:xfrm>
          <a:prstGeom prst="rect">
            <a:avLst/>
          </a:prstGeom>
        </p:spPr>
      </p:pic>
    </p:spTree>
    <p:extLst>
      <p:ext uri="{BB962C8B-B14F-4D97-AF65-F5344CB8AC3E}">
        <p14:creationId xmlns:p14="http://schemas.microsoft.com/office/powerpoint/2010/main" val="28478880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38845007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pic>
        <p:nvPicPr>
          <p:cNvPr id="4" name="Picture 3">
            <a:extLst>
              <a:ext uri="{FF2B5EF4-FFF2-40B4-BE49-F238E27FC236}">
                <a16:creationId xmlns:a16="http://schemas.microsoft.com/office/drawing/2014/main" id="{B3BD0ACC-3905-644C-8BD8-787DC04BE561}"/>
              </a:ext>
            </a:extLst>
          </p:cNvPr>
          <p:cNvPicPr>
            <a:picLocks noChangeAspect="1"/>
          </p:cNvPicPr>
          <p:nvPr userDrawn="1"/>
        </p:nvPicPr>
        <p:blipFill>
          <a:blip r:embed="rId2"/>
          <a:stretch>
            <a:fillRect/>
          </a:stretch>
        </p:blipFill>
        <p:spPr>
          <a:xfrm>
            <a:off x="120594" y="267641"/>
            <a:ext cx="2350044" cy="752927"/>
          </a:xfrm>
          <a:prstGeom prst="rect">
            <a:avLst/>
          </a:prstGeom>
        </p:spPr>
      </p:pic>
    </p:spTree>
    <p:extLst>
      <p:ext uri="{BB962C8B-B14F-4D97-AF65-F5344CB8AC3E}">
        <p14:creationId xmlns:p14="http://schemas.microsoft.com/office/powerpoint/2010/main" val="240511987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664068"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3508131" y="416321"/>
            <a:ext cx="5118282" cy="386557"/>
          </a:xfrm>
          <a:prstGeom prst="rect">
            <a:avLst/>
          </a:prstGeom>
        </p:spPr>
      </p:pic>
    </p:spTree>
    <p:extLst>
      <p:ext uri="{BB962C8B-B14F-4D97-AF65-F5344CB8AC3E}">
        <p14:creationId xmlns:p14="http://schemas.microsoft.com/office/powerpoint/2010/main" val="229208835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28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sz="2400"/>
            </a:lvl1pPr>
            <a:lvl2pPr>
              <a:defRPr sz="2000"/>
            </a:lvl2pPr>
            <a:lvl3pPr>
              <a:defRPr sz="2000"/>
            </a:lvl3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6215845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947340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61357617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8696" y="304800"/>
            <a:ext cx="6162403"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3245588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156561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2962963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5739346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6610184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NoBar-Two-Up Comparison">
    <p:spTree>
      <p:nvGrpSpPr>
        <p:cNvPr id="1" name=""/>
        <p:cNvGrpSpPr/>
        <p:nvPr/>
      </p:nvGrpSpPr>
      <p:grpSpPr>
        <a:xfrm>
          <a:off x="0" y="0"/>
          <a:ext cx="0" cy="0"/>
          <a:chOff x="0" y="0"/>
          <a:chExt cx="0" cy="0"/>
        </a:xfrm>
      </p:grpSpPr>
      <p:sp>
        <p:nvSpPr>
          <p:cNvPr id="9" name="Slide Title"/>
          <p:cNvSpPr>
            <a:spLocks noGrp="1"/>
          </p:cNvSpPr>
          <p:nvPr>
            <p:ph type="title"/>
          </p:nvPr>
        </p:nvSpPr>
        <p:spPr>
          <a:xfrm>
            <a:off x="457200" y="491356"/>
            <a:ext cx="8229600" cy="548640"/>
          </a:xfrm>
          <a:prstGeom prst="rect">
            <a:avLst/>
          </a:prstGeom>
          <a:solidFill>
            <a:srgbClr val="B7472A"/>
          </a:solidFill>
        </p:spPr>
        <p:txBody>
          <a:bodyPr anchor="ctr"/>
          <a:lstStyle>
            <a:lvl1pPr>
              <a:defRPr sz="2400" b="1">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5ED57AD0-046D-48F0-AED1-7159E05ACE30}"/>
              </a:ext>
            </a:extLst>
          </p:cNvPr>
          <p:cNvSpPr>
            <a:spLocks noGrp="1"/>
          </p:cNvSpPr>
          <p:nvPr>
            <p:ph sz="quarter" idx="13"/>
          </p:nvPr>
        </p:nvSpPr>
        <p:spPr>
          <a:xfrm>
            <a:off x="457200" y="1512828"/>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1" name="Content Placeholder 6">
            <a:extLst>
              <a:ext uri="{FF2B5EF4-FFF2-40B4-BE49-F238E27FC236}">
                <a16:creationId xmlns:a16="http://schemas.microsoft.com/office/drawing/2014/main" id="{53E5C0B6-2F84-4FB5-A82E-A2DAACB22E86}"/>
              </a:ext>
            </a:extLst>
          </p:cNvPr>
          <p:cNvSpPr>
            <a:spLocks noGrp="1"/>
          </p:cNvSpPr>
          <p:nvPr>
            <p:ph sz="quarter" idx="14"/>
          </p:nvPr>
        </p:nvSpPr>
        <p:spPr>
          <a:xfrm>
            <a:off x="457200" y="2604539"/>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3" name="Content Placeholder 6">
            <a:extLst>
              <a:ext uri="{FF2B5EF4-FFF2-40B4-BE49-F238E27FC236}">
                <a16:creationId xmlns:a16="http://schemas.microsoft.com/office/drawing/2014/main" id="{506753BD-1A00-4282-8AA9-DB87E1C4915B}"/>
              </a:ext>
            </a:extLst>
          </p:cNvPr>
          <p:cNvSpPr>
            <a:spLocks noGrp="1"/>
          </p:cNvSpPr>
          <p:nvPr>
            <p:ph sz="quarter" idx="15"/>
          </p:nvPr>
        </p:nvSpPr>
        <p:spPr>
          <a:xfrm>
            <a:off x="457200" y="3647337"/>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7CD36003-9A1D-4D5E-A974-E5D086C51988}"/>
              </a:ext>
            </a:extLst>
          </p:cNvPr>
          <p:cNvSpPr>
            <a:spLocks noGrp="1"/>
          </p:cNvSpPr>
          <p:nvPr>
            <p:ph sz="quarter" idx="16"/>
          </p:nvPr>
        </p:nvSpPr>
        <p:spPr>
          <a:xfrm>
            <a:off x="457200" y="4752995"/>
            <a:ext cx="8229600" cy="883526"/>
          </a:xfrm>
          <a:prstGeom prst="rect">
            <a:avLst/>
          </a:prstGeom>
        </p:spPr>
        <p:txBody>
          <a:bodyPr/>
          <a:lstStyle>
            <a:lvl1pPr marL="0" indent="0">
              <a:buFont typeface="Arial" panose="020B0604020202020204" pitchFamily="34" charset="0"/>
              <a:buNone/>
              <a:defRPr sz="2000"/>
            </a:lvl1pPr>
            <a:lvl2pPr marL="274320" indent="-274320">
              <a:buFont typeface="Arial" panose="020B0604020202020204" pitchFamily="34" charset="0"/>
              <a:buChar char="•"/>
              <a:defRPr sz="2000"/>
            </a:lvl2pPr>
            <a:lvl3pPr marL="548640" indent="-228600">
              <a:buFont typeface="Arial" panose="020B0604020202020204" pitchFamily="34" charset="0"/>
              <a:buChar char="•"/>
              <a:defRPr sz="1600"/>
            </a:lvl3pPr>
            <a:lvl4pPr marL="1200150" indent="-171450">
              <a:buFont typeface="Arial" panose="020B0604020202020204" pitchFamily="34" charset="0"/>
              <a:buChar char="•"/>
              <a:defRPr sz="1400"/>
            </a:lvl4pPr>
            <a:lvl5pPr marL="1543050" indent="-17145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p:txBody>
      </p:sp>
      <p:sp>
        <p:nvSpPr>
          <p:cNvPr id="15" name="Text Placeholder 4">
            <a:extLst>
              <a:ext uri="{FF2B5EF4-FFF2-40B4-BE49-F238E27FC236}">
                <a16:creationId xmlns:a16="http://schemas.microsoft.com/office/drawing/2014/main" id="{509A7254-0EAD-4208-AF0D-5F09FEB52C94}"/>
              </a:ext>
            </a:extLst>
          </p:cNvPr>
          <p:cNvSpPr>
            <a:spLocks noGrp="1"/>
          </p:cNvSpPr>
          <p:nvPr>
            <p:ph type="body" sz="quarter" idx="17" hasCustomPrompt="1"/>
          </p:nvPr>
        </p:nvSpPr>
        <p:spPr>
          <a:xfrm>
            <a:off x="3200400" y="6292850"/>
            <a:ext cx="2743200" cy="228600"/>
          </a:xfrm>
          <a:prstGeom prst="rect">
            <a:avLst/>
          </a:prstGeom>
        </p:spPr>
        <p:txBody>
          <a:bodyPr anchor="ctr">
            <a:normAutofit/>
          </a:bodyPr>
          <a:lstStyle>
            <a:lvl1pPr marL="0" indent="0" algn="ctr">
              <a:buNone/>
              <a:defRPr sz="900">
                <a:solidFill>
                  <a:srgbClr val="006699"/>
                </a:solidFill>
              </a:defRPr>
            </a:lvl1pPr>
          </a:lstStyle>
          <a:p>
            <a:pPr lvl="0"/>
            <a:r>
              <a:rPr lang="en-US" dirty="0"/>
              <a:t>Edit Master text styles</a:t>
            </a:r>
            <a:endParaRPr lang="en-IN" dirty="0"/>
          </a:p>
        </p:txBody>
      </p:sp>
      <p:sp>
        <p:nvSpPr>
          <p:cNvPr id="16" name="Text Placeholder 7">
            <a:extLst>
              <a:ext uri="{FF2B5EF4-FFF2-40B4-BE49-F238E27FC236}">
                <a16:creationId xmlns:a16="http://schemas.microsoft.com/office/drawing/2014/main" id="{299BB11A-95ED-402D-9C53-2DB2F31C8CCE}"/>
              </a:ext>
            </a:extLst>
          </p:cNvPr>
          <p:cNvSpPr>
            <a:spLocks noGrp="1"/>
          </p:cNvSpPr>
          <p:nvPr>
            <p:ph type="body" sz="quarter" idx="11"/>
          </p:nvPr>
        </p:nvSpPr>
        <p:spPr>
          <a:xfrm>
            <a:off x="1449388" y="6635750"/>
            <a:ext cx="7065962" cy="117475"/>
          </a:xfrm>
          <a:prstGeom prst="rect">
            <a:avLst/>
          </a:prstGeom>
        </p:spPr>
        <p:txBody>
          <a:bodyPr>
            <a:noAutofit/>
          </a:bodyPr>
          <a:lstStyle>
            <a:lvl1pPr algn="r">
              <a:defRPr sz="800">
                <a:solidFill>
                  <a:schemeClr val="tx1"/>
                </a:solidFill>
              </a:defRPr>
            </a:lvl1pPr>
          </a:lstStyle>
          <a:p>
            <a:pPr lvl="0"/>
            <a:r>
              <a:rPr lang="en-US" dirty="0"/>
              <a:t>Click to edit Master text styles</a:t>
            </a:r>
          </a:p>
        </p:txBody>
      </p:sp>
    </p:spTree>
    <p:extLst>
      <p:ext uri="{BB962C8B-B14F-4D97-AF65-F5344CB8AC3E}">
        <p14:creationId xmlns:p14="http://schemas.microsoft.com/office/powerpoint/2010/main" val="32810249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878028"/>
          </a:xfrm>
          <a:prstGeom prst="rect">
            <a:avLst/>
          </a:prstGeom>
        </p:spPr>
        <p:txBody>
          <a:bodyPr/>
          <a:lstStyle>
            <a:lvl1pPr>
              <a:spcBef>
                <a:spcPts val="1000"/>
              </a:spcBef>
              <a:spcAft>
                <a:spcPts val="0"/>
              </a:spcAft>
              <a:defRPr sz="2400"/>
            </a:lvl1pPr>
            <a:lvl2pPr marL="291600" indent="-291600">
              <a:spcBef>
                <a:spcPts val="1000"/>
              </a:spcBef>
              <a:spcAft>
                <a:spcPts val="0"/>
              </a:spcAft>
              <a:buClrTx/>
              <a:defRPr sz="2200"/>
            </a:lvl2pPr>
            <a:lvl3pPr>
              <a:buClrTx/>
              <a:defRPr/>
            </a:lvl3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99750216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84241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8365891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285888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251330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4536-DBC9-4EAD-97B9-564DF5E2E1E2}"/>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52777D-1D2A-4290-B9B2-E686B51240D6}"/>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573C782-B8CC-45C1-94B4-0971058B149A}"/>
              </a:ext>
            </a:extLst>
          </p:cNvPr>
          <p:cNvSpPr>
            <a:spLocks noGrp="1"/>
          </p:cNvSpPr>
          <p:nvPr>
            <p:ph type="dt" sz="half" idx="10"/>
          </p:nvPr>
        </p:nvSpPr>
        <p:spPr>
          <a:xfrm>
            <a:off x="628650" y="6356352"/>
            <a:ext cx="2057400" cy="365125"/>
          </a:xfrm>
          <a:prstGeom prst="rect">
            <a:avLst/>
          </a:prstGeom>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fld id="{2ABD42D5-3F22-4061-9590-4A4F4CBE4110}" type="datetimeFigureOut">
              <a:rPr kumimoji="0" lang="en-US" sz="1350" b="0" i="0" u="none" strike="noStrike" kern="1200" cap="none" spc="0" normalizeH="0" baseline="0" noProof="0" smtClean="0">
                <a:ln>
                  <a:noFill/>
                </a:ln>
                <a:solidFill>
                  <a:prstClr val="black"/>
                </a:solidFill>
                <a:effectLst/>
                <a:uLnTx/>
                <a:uFillTx/>
                <a:latin typeface="Calibri" panose="020F0502020204030204"/>
                <a:ea typeface="ＭＳ Ｐゴシック" charset="0"/>
                <a:cs typeface="+mn-cs"/>
              </a:rPr>
              <a:pPr marL="0" marR="0" lvl="0" indent="0" algn="l" defTabSz="685800" rtl="0" eaLnBrk="1" fontAlgn="auto" latinLnBrk="0" hangingPunct="1">
                <a:lnSpc>
                  <a:spcPct val="100000"/>
                </a:lnSpc>
                <a:spcBef>
                  <a:spcPts val="0"/>
                </a:spcBef>
                <a:spcAft>
                  <a:spcPts val="0"/>
                </a:spcAft>
                <a:buClrTx/>
                <a:buSzTx/>
                <a:buFontTx/>
                <a:buNone/>
                <a:tabLst/>
                <a:defRPr/>
              </a:pPr>
              <a:t>6/11/2024</a:t>
            </a:fld>
            <a:endParaRPr kumimoji="0" lang="en-US" sz="13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5" name="Footer Placeholder 4">
            <a:extLst>
              <a:ext uri="{FF2B5EF4-FFF2-40B4-BE49-F238E27FC236}">
                <a16:creationId xmlns:a16="http://schemas.microsoft.com/office/drawing/2014/main" id="{04C1F644-1FEF-499A-A224-94E93B03D63D}"/>
              </a:ext>
            </a:extLst>
          </p:cNvPr>
          <p:cNvSpPr>
            <a:spLocks noGrp="1"/>
          </p:cNvSpPr>
          <p:nvPr>
            <p:ph type="ftr" sz="quarter" idx="11"/>
          </p:nvPr>
        </p:nvSpPr>
        <p:spPr>
          <a:xfrm>
            <a:off x="3028950" y="6356352"/>
            <a:ext cx="3086100" cy="365125"/>
          </a:xfrm>
          <a:prstGeom prst="rect">
            <a:avLst/>
          </a:prstGeom>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6" name="Slide Number Placeholder 5">
            <a:extLst>
              <a:ext uri="{FF2B5EF4-FFF2-40B4-BE49-F238E27FC236}">
                <a16:creationId xmlns:a16="http://schemas.microsoft.com/office/drawing/2014/main" id="{13C263F8-F700-4393-BD33-D6C1FB12D5C7}"/>
              </a:ext>
            </a:extLst>
          </p:cNvPr>
          <p:cNvSpPr>
            <a:spLocks noGrp="1"/>
          </p:cNvSpPr>
          <p:nvPr>
            <p:ph type="sldNum" sz="quarter" idx="12"/>
          </p:nvPr>
        </p:nvSpPr>
        <p:spPr>
          <a:xfrm>
            <a:off x="6457950" y="6356352"/>
            <a:ext cx="2057400" cy="365125"/>
          </a:xfrm>
          <a:prstGeom prst="rect">
            <a:avLst/>
          </a:prstGeom>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817AF46-6397-44AC-8F4E-07E9306E31BB}" type="slidenum">
              <a:rPr kumimoji="0" lang="en-US" sz="600" b="0" i="0" u="none" strike="noStrike" kern="1200" cap="none" spc="0" normalizeH="0" baseline="0" noProof="0" smtClean="0">
                <a:ln>
                  <a:noFill/>
                </a:ln>
                <a:solidFill>
                  <a:prstClr val="black"/>
                </a:solidFill>
                <a:effectLst/>
                <a:uLnTx/>
                <a:uFillTx/>
                <a:latin typeface="Calibri" panose="020F0502020204030204"/>
                <a:ea typeface="ＭＳ Ｐゴシック" charset="0"/>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Tree>
    <p:extLst>
      <p:ext uri="{BB962C8B-B14F-4D97-AF65-F5344CB8AC3E}">
        <p14:creationId xmlns:p14="http://schemas.microsoft.com/office/powerpoint/2010/main" val="414448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43668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259638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35284"/>
            <a:ext cx="8458200" cy="921386"/>
          </a:xfrm>
          <a:prstGeom prst="rect">
            <a:avLst/>
          </a:prstGeom>
        </p:spPr>
        <p:txBody>
          <a:bodyPr anchor="ctr">
            <a:normAutofit/>
          </a:bodyPr>
          <a:lstStyle>
            <a:lvl1pPr>
              <a:defRPr sz="3000"/>
            </a:lvl1pPr>
          </a:lstStyle>
          <a:p>
            <a:r>
              <a:rPr lang="en-US" dirty="0"/>
              <a:t>Slide Title</a:t>
            </a:r>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164490"/>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02843"/>
            <a:ext cx="8458200" cy="468650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85237721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theme" Target="../theme/theme3.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5.xml"/><Relationship Id="rId1"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05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1600" b="0" i="0" u="none" strike="noStrike" kern="1200" cap="none" spc="40" normalizeH="0" baseline="60000" noProof="0" dirty="0">
              <a:ln>
                <a:noFill/>
              </a:ln>
              <a:solidFill>
                <a:srgbClr val="000000"/>
              </a:solidFill>
              <a:effectLst/>
              <a:uLnTx/>
              <a:uFillTx/>
              <a:latin typeface="Arial" panose="020B0604020202020204"/>
              <a:ea typeface="+mn-ea"/>
              <a:cs typeface="+mn-cs"/>
            </a:endParaRPr>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8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Add long copyright</a:t>
            </a:r>
            <a:endParaRPr kumimoji="0" lang="en-US" sz="8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96294206"/>
      </p:ext>
    </p:extLst>
  </p:cSld>
  <p:clrMap bg1="lt1" tx1="dk1" bg2="lt2" tx2="dk2" accent1="accent1" accent2="accent2" accent3="accent3" accent4="accent4" accent5="accent5" accent6="accent6" hlink="hlink" folHlink="folHlink"/>
  <p:sldLayoutIdLst>
    <p:sldLayoutId id="2147483734"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1045"/>
            <a:ext cx="8458200" cy="912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8263324"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7" name="TextBox 6">
            <a:extLst>
              <a:ext uri="{FF2B5EF4-FFF2-40B4-BE49-F238E27FC236}">
                <a16:creationId xmlns:a16="http://schemas.microsoft.com/office/drawing/2014/main" id="{BC1B2337-34C2-471F-9832-A0DE81FAB6F3}"/>
              </a:ext>
            </a:extLst>
          </p:cNvPr>
          <p:cNvSpPr txBox="1"/>
          <p:nvPr userDrawn="1"/>
        </p:nvSpPr>
        <p:spPr>
          <a:xfrm>
            <a:off x="8631382" y="6648883"/>
            <a:ext cx="360218" cy="215444"/>
          </a:xfrm>
          <a:prstGeom prst="rect">
            <a:avLst/>
          </a:prstGeom>
          <a:noFill/>
        </p:spPr>
        <p:txBody>
          <a:bodyPr wrap="square">
            <a:spAutoFit/>
          </a:bodyPr>
          <a:lstStyle/>
          <a:p>
            <a:pPr algn="r" fontAlgn="base">
              <a:spcBef>
                <a:spcPct val="0"/>
              </a:spcBef>
              <a:spcAft>
                <a:spcPct val="0"/>
              </a:spcAft>
              <a:defRPr/>
            </a:pPr>
            <a:fld id="{53864CA9-ADCA-4554-9432-EA4A2FB55A34}" type="slidenum">
              <a:rPr lang="en-US" sz="800" smtClean="0">
                <a:solidFill>
                  <a:schemeClr val="tx1"/>
                </a:solidFill>
                <a:latin typeface="+mn-lt"/>
                <a:ea typeface="MS PGothic" pitchFamily="34" charset="-128"/>
              </a:rPr>
              <a:pPr algn="r" fontAlgn="base">
                <a:spcBef>
                  <a:spcPct val="0"/>
                </a:spcBef>
                <a:spcAft>
                  <a:spcPct val="0"/>
                </a:spcAft>
                <a:defRPr/>
              </a:pPr>
              <a:t>‹#›</a:t>
            </a:fld>
            <a:endParaRPr lang="en-US" sz="800" dirty="0">
              <a:solidFill>
                <a:schemeClr val="tx1"/>
              </a:solidFill>
              <a:latin typeface="+mn-lt"/>
              <a:ea typeface="MS PGothic" pitchFamily="34" charset="-128"/>
            </a:endParaRP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06" r:id="rId2"/>
    <p:sldLayoutId id="2147483693" r:id="rId3"/>
    <p:sldLayoutId id="2147483699" r:id="rId4"/>
    <p:sldLayoutId id="2147483695" r:id="rId5"/>
    <p:sldLayoutId id="2147483696" r:id="rId6"/>
    <p:sldLayoutId id="2147483708" r:id="rId7"/>
    <p:sldLayoutId id="2147483697" r:id="rId8"/>
    <p:sldLayoutId id="2147483707" r:id="rId9"/>
  </p:sldLayoutIdLst>
  <p:hf hdr="0" dt="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7" name="TextBox 6">
            <a:extLst>
              <a:ext uri="{FF2B5EF4-FFF2-40B4-BE49-F238E27FC236}">
                <a16:creationId xmlns:a16="http://schemas.microsoft.com/office/drawing/2014/main" id="{A8A381F8-A9D0-42BB-9BFE-128A9A00671C}"/>
              </a:ext>
            </a:extLst>
          </p:cNvPr>
          <p:cNvSpPr txBox="1"/>
          <p:nvPr userDrawn="1"/>
        </p:nvSpPr>
        <p:spPr>
          <a:xfrm>
            <a:off x="8631382" y="6648883"/>
            <a:ext cx="360218" cy="215444"/>
          </a:xfrm>
          <a:prstGeom prst="rect">
            <a:avLst/>
          </a:prstGeom>
          <a:noFill/>
        </p:spPr>
        <p:txBody>
          <a:bodyPr wrap="squar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3864CA9-ADCA-4554-9432-EA4A2FB55A34}" type="slidenum">
              <a:rPr kumimoji="0" lang="en-US" sz="800" b="0" i="0" u="none" strike="noStrike" kern="1200" cap="none" spc="0" normalizeH="0" baseline="0" noProof="0" smtClean="0">
                <a:ln>
                  <a:noFill/>
                </a:ln>
                <a:solidFill>
                  <a:srgbClr val="000000"/>
                </a:solidFill>
                <a:effectLst/>
                <a:uLnTx/>
                <a:uFillTx/>
                <a:latin typeface="Arial" panose="020B0604020202020204"/>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S PGothic" pitchFamily="34" charset="-128"/>
              <a:cs typeface="+mn-cs"/>
            </a:endParaRPr>
          </a:p>
        </p:txBody>
      </p:sp>
    </p:spTree>
    <p:extLst>
      <p:ext uri="{BB962C8B-B14F-4D97-AF65-F5344CB8AC3E}">
        <p14:creationId xmlns:p14="http://schemas.microsoft.com/office/powerpoint/2010/main" val="34940659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Lst>
  <p:hf hdr="0" dt="0"/>
  <p:txStyles>
    <p:titleStyle>
      <a:lvl1pPr algn="l" defTabSz="914400" rtl="0" eaLnBrk="1" latinLnBrk="0" hangingPunct="1">
        <a:lnSpc>
          <a:spcPct val="90000"/>
        </a:lnSpc>
        <a:spcBef>
          <a:spcPct val="0"/>
        </a:spcBef>
        <a:buNone/>
        <a:defRPr sz="2800" b="1" kern="1200">
          <a:solidFill>
            <a:srgbClr val="0070C0"/>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4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AF3BE71-E3FA-45D9-A5A8-EAE26E55568A}"/>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57175" y="1094782"/>
            <a:ext cx="1114425" cy="4067175"/>
          </a:xfrm>
          <a:prstGeom prst="rect">
            <a:avLst/>
          </a:prstGeom>
        </p:spPr>
      </p:pic>
      <p:sp>
        <p:nvSpPr>
          <p:cNvPr id="9" name="Copyright" descr="©McGraw-Hill Education">
            <a:extLst>
              <a:ext uri="{FF2B5EF4-FFF2-40B4-BE49-F238E27FC236}">
                <a16:creationId xmlns:a16="http://schemas.microsoft.com/office/drawing/2014/main" id="{E85EC70A-7150-487F-898E-319AE570546F}"/>
              </a:ext>
            </a:extLst>
          </p:cNvPr>
          <p:cNvSpPr txBox="1">
            <a:spLocks/>
          </p:cNvSpPr>
          <p:nvPr userDrawn="1"/>
        </p:nvSpPr>
        <p:spPr>
          <a:xfrm>
            <a:off x="0" y="6627222"/>
            <a:ext cx="1371600" cy="152400"/>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342900" rtl="0" eaLnBrk="1" fontAlgn="base" latinLnBrk="0" hangingPunct="1">
              <a:lnSpc>
                <a:spcPct val="100000"/>
              </a:lnSpc>
              <a:spcBef>
                <a:spcPct val="20000"/>
              </a:spcBef>
              <a:spcAft>
                <a:spcPct val="0"/>
              </a:spcAft>
              <a:buClrTx/>
              <a:buSzTx/>
              <a:buFont typeface="Arial"/>
              <a:buNone/>
              <a:tabLst/>
              <a:defRPr/>
            </a:pPr>
            <a:r>
              <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rPr>
              <a:t>© McGraw Hill LLC</a:t>
            </a:r>
          </a:p>
        </p:txBody>
      </p:sp>
      <p:sp>
        <p:nvSpPr>
          <p:cNvPr id="10" name="Slide Number Placeholder 5">
            <a:extLst>
              <a:ext uri="{FF2B5EF4-FFF2-40B4-BE49-F238E27FC236}">
                <a16:creationId xmlns:a16="http://schemas.microsoft.com/office/drawing/2014/main" id="{A46C6CA6-04E6-41C2-B5AA-9D208F8070D5}"/>
              </a:ext>
            </a:extLst>
          </p:cNvPr>
          <p:cNvSpPr>
            <a:spLocks noGrp="1"/>
          </p:cNvSpPr>
          <p:nvPr>
            <p:ph type="sldNum" sz="quarter" idx="4"/>
          </p:nvPr>
        </p:nvSpPr>
        <p:spPr>
          <a:xfrm>
            <a:off x="8739052" y="6636608"/>
            <a:ext cx="403311" cy="156079"/>
          </a:xfrm>
          <a:prstGeom prst="rect">
            <a:avLst/>
          </a:prstGeom>
        </p:spPr>
        <p:txBody>
          <a:bodyPr vert="horz" lIns="91440" tIns="45720" rIns="91440" bIns="45720" rtlCol="0" anchor="ctr"/>
          <a:lstStyle>
            <a:lvl1pPr algn="r">
              <a:defRPr sz="600">
                <a:solidFill>
                  <a:schemeClr val="tx1"/>
                </a:solidFill>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A352FE68-7D37-40EC-8CAE-D172C344E2E5}" type="slidenum">
              <a:rPr kumimoji="0" lang="en-US" sz="600" b="0" i="0" u="none" strike="noStrike" kern="1200" cap="none" spc="0" normalizeH="0" baseline="0" noProof="0" smtClean="0">
                <a:ln>
                  <a:noFill/>
                </a:ln>
                <a:solidFill>
                  <a:prstClr val="black"/>
                </a:solidFill>
                <a:effectLst/>
                <a:uLnTx/>
                <a:uFillTx/>
                <a:latin typeface="Calibri" panose="020F0502020204030204"/>
                <a:ea typeface="ＭＳ Ｐゴシック" charset="0"/>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Tree>
    <p:extLst>
      <p:ext uri="{BB962C8B-B14F-4D97-AF65-F5344CB8AC3E}">
        <p14:creationId xmlns:p14="http://schemas.microsoft.com/office/powerpoint/2010/main" val="523632092"/>
      </p:ext>
    </p:extLst>
  </p:cSld>
  <p:clrMap bg1="lt1" tx1="dk1" bg2="lt2" tx2="dk2" accent1="accent1" accent2="accent2" accent3="accent3" accent4="accent4" accent5="accent5" accent6="accent6" hlink="hlink" folHlink="folHlink"/>
  <p:sldLayoutIdLst>
    <p:sldLayoutId id="2147483710"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4" r:id="rId2"/>
    <p:sldLayoutId id="2147483705" r:id="rId3"/>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mheducation.sharepoint.com/:w:/s/MHHE_Dynamic_Resources/EQDhEGc0YlNGmeB-fQVcu7IBXV6XJJwly9hNH-kfgc42GQ?CID=F959FCA9-CF70-436B-B705-656195BFF54D&amp;wdLOR=c88311B51-3A61-48EB-AFE1-538F1754CD19" TargetMode="External"/><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8.xml"/><Relationship Id="rId1" Type="http://schemas.openxmlformats.org/officeDocument/2006/relationships/slideLayout" Target="../slideLayouts/slideLayout22.xml"/><Relationship Id="rId5" Type="http://schemas.openxmlformats.org/officeDocument/2006/relationships/slide" Target="slide53.xml"/><Relationship Id="rId4" Type="http://schemas.openxmlformats.org/officeDocument/2006/relationships/slide" Target="slide29.xml"/></Relationships>
</file>

<file path=ppt/slides/_rels/slide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8.xml"/><Relationship Id="rId1" Type="http://schemas.openxmlformats.org/officeDocument/2006/relationships/slideLayout" Target="../slideLayouts/slideLayout6.xml"/><Relationship Id="rId5" Type="http://schemas.openxmlformats.org/officeDocument/2006/relationships/slide" Target="slide33.xml"/><Relationship Id="rId4" Type="http://schemas.openxmlformats.org/officeDocument/2006/relationships/slide" Target="slide31.xml"/></Relationships>
</file>

<file path=ppt/slides/_rels/slide5.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38.xml"/><Relationship Id="rId1" Type="http://schemas.openxmlformats.org/officeDocument/2006/relationships/slideLayout" Target="../slideLayouts/slideLayout6.xml"/><Relationship Id="rId5" Type="http://schemas.openxmlformats.org/officeDocument/2006/relationships/slide" Target="slide53.xml"/><Relationship Id="rId4" Type="http://schemas.openxmlformats.org/officeDocument/2006/relationships/slide" Target="slide4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www.gartner.com/en/articles/employees-seek-personal-value-and-purpose-at-work-be-prepared-to-deliver" TargetMode="External"/><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www.cnn.com/2023/07/07/economy/women-labor-force-participation/index.html"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hyperlink" Target="https://www.federalbudgetinpictures.com/social-security-recipient-worker-ratio/" TargetMode="External"/><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chart" Target="../charts/chart1.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1462-C050-4B85-997D-19F530CA44DA}"/>
              </a:ext>
            </a:extLst>
          </p:cNvPr>
          <p:cNvSpPr>
            <a:spLocks noGrp="1"/>
          </p:cNvSpPr>
          <p:nvPr>
            <p:ph type="title"/>
          </p:nvPr>
        </p:nvSpPr>
        <p:spPr>
          <a:xfrm>
            <a:off x="457200" y="298171"/>
            <a:ext cx="8229600" cy="548640"/>
          </a:xfrm>
        </p:spPr>
        <p:txBody>
          <a:bodyPr/>
          <a:lstStyle/>
          <a:p>
            <a:r>
              <a:rPr lang="en-US" dirty="0"/>
              <a:t>Polling Tool in McGraw Hill Connect®</a:t>
            </a:r>
            <a:endParaRPr lang="en-IN" dirty="0"/>
          </a:p>
        </p:txBody>
      </p:sp>
      <p:sp>
        <p:nvSpPr>
          <p:cNvPr id="5" name="Content Placeholder 2">
            <a:extLst>
              <a:ext uri="{FF2B5EF4-FFF2-40B4-BE49-F238E27FC236}">
                <a16:creationId xmlns:a16="http://schemas.microsoft.com/office/drawing/2014/main" id="{00F0C481-7006-4AE3-9318-328DAD69DEC8}"/>
              </a:ext>
            </a:extLst>
          </p:cNvPr>
          <p:cNvSpPr>
            <a:spLocks noGrp="1"/>
          </p:cNvSpPr>
          <p:nvPr>
            <p:ph sz="quarter" idx="13"/>
          </p:nvPr>
        </p:nvSpPr>
        <p:spPr>
          <a:xfrm>
            <a:off x="457200" y="978790"/>
            <a:ext cx="4545106" cy="5266158"/>
          </a:xfrm>
        </p:spPr>
        <p:txBody>
          <a:bodyPr>
            <a:normAutofit lnSpcReduction="10000"/>
          </a:bodyPr>
          <a:lstStyle/>
          <a:p>
            <a:r>
              <a:rPr lang="en-US" sz="1700" b="0" i="0" dirty="0">
                <a:solidFill>
                  <a:srgbClr val="000000"/>
                </a:solidFill>
                <a:effectLst/>
              </a:rPr>
              <a:t>Every learner has unique needs. Uncover where and when you’re needed with the new Polling tool in McGraw Hill Connect</a:t>
            </a:r>
            <a:r>
              <a:rPr lang="en-US" sz="1700" b="0" i="0" baseline="30000" dirty="0">
                <a:solidFill>
                  <a:srgbClr val="000000"/>
                </a:solidFill>
                <a:effectLst/>
              </a:rPr>
              <a:t>®</a:t>
            </a:r>
            <a:r>
              <a:rPr lang="en-US" sz="1700" b="0" i="0" dirty="0">
                <a:solidFill>
                  <a:srgbClr val="000000"/>
                </a:solidFill>
                <a:effectLst/>
              </a:rPr>
              <a:t>! Polling allows you to discover where students are in real time. Engage students and help them create connections with your course content while gaining valuable insight during lectures. Leverage polling data to deliver personalized instruction when and where it is needed most. All at no additional cost.</a:t>
            </a:r>
          </a:p>
          <a:p>
            <a:endParaRPr lang="en-US" sz="1700" b="0" i="0" dirty="0">
              <a:solidFill>
                <a:srgbClr val="000000"/>
              </a:solidFill>
              <a:effectLst/>
            </a:endParaRPr>
          </a:p>
          <a:p>
            <a:r>
              <a:rPr lang="en-US" sz="1700" dirty="0"/>
              <a:t>For tips on how to get you and your students started with polling, </a:t>
            </a:r>
            <a:r>
              <a:rPr lang="en-US" sz="1700" b="0" i="0" dirty="0">
                <a:solidFill>
                  <a:srgbClr val="000000"/>
                </a:solidFill>
                <a:effectLst/>
              </a:rPr>
              <a:t>please access the </a:t>
            </a:r>
            <a:r>
              <a:rPr lang="en-US" sz="1700" b="1" i="0" dirty="0">
                <a:effectLst/>
                <a:hlinkClick r:id="rId3"/>
              </a:rPr>
              <a:t>Instructor Guide here</a:t>
            </a:r>
            <a:r>
              <a:rPr lang="en-US" sz="1700" b="0" i="0" dirty="0">
                <a:solidFill>
                  <a:srgbClr val="000000"/>
                </a:solidFill>
                <a:effectLst/>
              </a:rPr>
              <a:t>.</a:t>
            </a:r>
            <a:endParaRPr lang="en-US" sz="1700" dirty="0"/>
          </a:p>
          <a:p>
            <a:endParaRPr lang="en-US" sz="1700" dirty="0"/>
          </a:p>
          <a:p>
            <a:r>
              <a:rPr lang="en-US" sz="1700" dirty="0"/>
              <a:t>This deck includes slides that may be converted to polling questions in Connect. Slides designed to convert are indicated by a bar on the left side that reads “Polling Question.”</a:t>
            </a:r>
          </a:p>
          <a:p>
            <a:endParaRPr lang="en-US" sz="1600" dirty="0"/>
          </a:p>
          <a:p>
            <a:endParaRPr lang="en-US" sz="1600" dirty="0"/>
          </a:p>
        </p:txBody>
      </p:sp>
      <p:pic>
        <p:nvPicPr>
          <p:cNvPr id="6" name="Picture 5">
            <a:extLst>
              <a:ext uri="{FF2B5EF4-FFF2-40B4-BE49-F238E27FC236}">
                <a16:creationId xmlns:a16="http://schemas.microsoft.com/office/drawing/2014/main" id="{74D407E4-7118-5997-F072-A074A5ABD1B5}"/>
              </a:ext>
            </a:extLst>
          </p:cNvPr>
          <p:cNvPicPr>
            <a:picLocks noChangeAspect="1"/>
          </p:cNvPicPr>
          <p:nvPr/>
        </p:nvPicPr>
        <p:blipFill>
          <a:blip r:embed="rId4"/>
          <a:stretch>
            <a:fillRect/>
          </a:stretch>
        </p:blipFill>
        <p:spPr>
          <a:xfrm>
            <a:off x="5349400" y="1021820"/>
            <a:ext cx="3337399" cy="2003964"/>
          </a:xfrm>
          <a:prstGeom prst="rect">
            <a:avLst/>
          </a:prstGeom>
        </p:spPr>
      </p:pic>
      <p:pic>
        <p:nvPicPr>
          <p:cNvPr id="7" name="Picture 6">
            <a:extLst>
              <a:ext uri="{FF2B5EF4-FFF2-40B4-BE49-F238E27FC236}">
                <a16:creationId xmlns:a16="http://schemas.microsoft.com/office/drawing/2014/main" id="{FADCA254-7000-56A0-3C6E-6E48DA33912B}"/>
              </a:ext>
            </a:extLst>
          </p:cNvPr>
          <p:cNvPicPr>
            <a:picLocks noChangeAspect="1"/>
          </p:cNvPicPr>
          <p:nvPr/>
        </p:nvPicPr>
        <p:blipFill>
          <a:blip r:embed="rId5"/>
          <a:stretch>
            <a:fillRect/>
          </a:stretch>
        </p:blipFill>
        <p:spPr>
          <a:xfrm>
            <a:off x="5373119" y="3316068"/>
            <a:ext cx="3313680" cy="2520112"/>
          </a:xfrm>
          <a:prstGeom prst="rect">
            <a:avLst/>
          </a:prstGeom>
        </p:spPr>
      </p:pic>
    </p:spTree>
    <p:extLst>
      <p:ext uri="{BB962C8B-B14F-4D97-AF65-F5344CB8AC3E}">
        <p14:creationId xmlns:p14="http://schemas.microsoft.com/office/powerpoint/2010/main" val="2895498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10A4-893E-44B7-9258-124381EAE51F}"/>
              </a:ext>
            </a:extLst>
          </p:cNvPr>
          <p:cNvSpPr>
            <a:spLocks noGrp="1"/>
          </p:cNvSpPr>
          <p:nvPr>
            <p:ph type="ctrTitle"/>
          </p:nvPr>
        </p:nvSpPr>
        <p:spPr>
          <a:xfrm>
            <a:off x="621792" y="2491059"/>
            <a:ext cx="3035808" cy="1075101"/>
          </a:xfrm>
        </p:spPr>
        <p:txBody>
          <a:bodyPr/>
          <a:lstStyle/>
          <a:p>
            <a:r>
              <a:rPr lang="en-US" sz="2800" noProof="0" dirty="0">
                <a:latin typeface="+mn-lt"/>
              </a:rPr>
              <a:t>Chapter 1</a:t>
            </a:r>
          </a:p>
        </p:txBody>
      </p:sp>
      <p:sp>
        <p:nvSpPr>
          <p:cNvPr id="3" name="Subtitle 2">
            <a:extLst>
              <a:ext uri="{FF2B5EF4-FFF2-40B4-BE49-F238E27FC236}">
                <a16:creationId xmlns:a16="http://schemas.microsoft.com/office/drawing/2014/main" id="{2786B553-05E0-412C-9B5D-1847FF136472}"/>
              </a:ext>
            </a:extLst>
          </p:cNvPr>
          <p:cNvSpPr>
            <a:spLocks noGrp="1"/>
          </p:cNvSpPr>
          <p:nvPr>
            <p:ph type="subTitle" idx="1"/>
          </p:nvPr>
        </p:nvSpPr>
        <p:spPr>
          <a:xfrm>
            <a:off x="621792" y="3952599"/>
            <a:ext cx="3153374" cy="804094"/>
          </a:xfrm>
        </p:spPr>
        <p:txBody>
          <a:bodyPr/>
          <a:lstStyle/>
          <a:p>
            <a:r>
              <a:rPr lang="en-US" altLang="en-US" sz="1900" noProof="0" dirty="0">
                <a:latin typeface="+mn-lt"/>
              </a:rPr>
              <a:t>Taking Risks and Making Profits within the Dynamic Business Environment</a:t>
            </a:r>
          </a:p>
        </p:txBody>
      </p:sp>
      <p:sp>
        <p:nvSpPr>
          <p:cNvPr id="7" name="Content Placeholder 6">
            <a:extLst>
              <a:ext uri="{FF2B5EF4-FFF2-40B4-BE49-F238E27FC236}">
                <a16:creationId xmlns:a16="http://schemas.microsoft.com/office/drawing/2014/main" id="{066E6BAC-61C2-4AC9-9F62-B8F5C6E7A8B6}"/>
              </a:ext>
            </a:extLst>
          </p:cNvPr>
          <p:cNvSpPr>
            <a:spLocks noGrp="1"/>
          </p:cNvSpPr>
          <p:nvPr>
            <p:ph sz="quarter" idx="13"/>
          </p:nvPr>
        </p:nvSpPr>
        <p:spPr/>
        <p:txBody>
          <a:bodyPr/>
          <a:lstStyle/>
          <a:p>
            <a:r>
              <a:rPr lang="en-US" sz="800" noProof="0" dirty="0">
                <a:solidFill>
                  <a:schemeClr val="tx1"/>
                </a:solidFill>
                <a:latin typeface="+mn-lt"/>
              </a:rPr>
              <a:t>© McGraw Hill LLC. All rights reserved. No reproduction or distribution without the prior written consent of McGraw Hill LLC.</a:t>
            </a:r>
          </a:p>
        </p:txBody>
      </p:sp>
      <p:pic>
        <p:nvPicPr>
          <p:cNvPr id="10" name="Picture 9">
            <a:extLst>
              <a:ext uri="{FF2B5EF4-FFF2-40B4-BE49-F238E27FC236}">
                <a16:creationId xmlns:a16="http://schemas.microsoft.com/office/drawing/2014/main" id="{FCDF5132-A017-B112-4FA5-4888AA55C845}"/>
              </a:ext>
            </a:extLst>
          </p:cNvPr>
          <p:cNvPicPr>
            <a:picLocks noChangeAspect="1"/>
          </p:cNvPicPr>
          <p:nvPr/>
        </p:nvPicPr>
        <p:blipFill>
          <a:blip r:embed="rId3"/>
          <a:stretch>
            <a:fillRect/>
          </a:stretch>
        </p:blipFill>
        <p:spPr>
          <a:xfrm>
            <a:off x="4692577" y="1382518"/>
            <a:ext cx="3932261" cy="5005250"/>
          </a:xfrm>
          <a:prstGeom prst="rect">
            <a:avLst/>
          </a:prstGeom>
        </p:spPr>
      </p:pic>
    </p:spTree>
    <p:extLst>
      <p:ext uri="{BB962C8B-B14F-4D97-AF65-F5344CB8AC3E}">
        <p14:creationId xmlns:p14="http://schemas.microsoft.com/office/powerpoint/2010/main" val="1923735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6D087-9342-4422-AA42-BD512C8CBE92}"/>
              </a:ext>
            </a:extLst>
          </p:cNvPr>
          <p:cNvSpPr>
            <a:spLocks noGrp="1"/>
          </p:cNvSpPr>
          <p:nvPr>
            <p:ph type="title"/>
          </p:nvPr>
        </p:nvSpPr>
        <p:spPr/>
        <p:txBody>
          <a:bodyPr>
            <a:normAutofit/>
          </a:bodyPr>
          <a:lstStyle/>
          <a:p>
            <a:r>
              <a:rPr lang="en-US" noProof="0" dirty="0">
                <a:latin typeface="+mn-lt"/>
              </a:rPr>
              <a:t>Chapter Contents</a:t>
            </a:r>
          </a:p>
        </p:txBody>
      </p:sp>
      <p:sp>
        <p:nvSpPr>
          <p:cNvPr id="3" name="Content Placeholder 2">
            <a:extLst>
              <a:ext uri="{FF2B5EF4-FFF2-40B4-BE49-F238E27FC236}">
                <a16:creationId xmlns:a16="http://schemas.microsoft.com/office/drawing/2014/main" id="{3B45C285-87F9-4B15-A947-0C8AE69E8A75}"/>
              </a:ext>
            </a:extLst>
          </p:cNvPr>
          <p:cNvSpPr>
            <a:spLocks noGrp="1"/>
          </p:cNvSpPr>
          <p:nvPr>
            <p:ph sz="quarter" idx="11"/>
          </p:nvPr>
        </p:nvSpPr>
        <p:spPr/>
        <p:txBody>
          <a:bodyPr>
            <a:normAutofit/>
          </a:bodyPr>
          <a:lstStyle/>
          <a:p>
            <a:pPr>
              <a:spcBef>
                <a:spcPts val="1200"/>
              </a:spcBef>
            </a:pPr>
            <a:r>
              <a:rPr lang="en-US" sz="2800" noProof="0" dirty="0">
                <a:latin typeface="+mn-lt"/>
                <a:hlinkClick r:id="rId2" action="ppaction://hlinksldjump"/>
              </a:rPr>
              <a:t>Business and Wealth Building</a:t>
            </a:r>
            <a:endParaRPr lang="en-US" sz="2800" noProof="0" dirty="0">
              <a:latin typeface="+mn-lt"/>
            </a:endParaRPr>
          </a:p>
          <a:p>
            <a:pPr>
              <a:spcBef>
                <a:spcPts val="1200"/>
              </a:spcBef>
            </a:pPr>
            <a:r>
              <a:rPr lang="en-US" sz="2800" noProof="0" dirty="0">
                <a:latin typeface="+mn-lt"/>
                <a:hlinkClick r:id="rId3" action="ppaction://hlinksldjump"/>
              </a:rPr>
              <a:t>The Importance of Entrepreneurs to the Creation of Wealth</a:t>
            </a:r>
            <a:endParaRPr lang="en-US" sz="2800" noProof="0" dirty="0">
              <a:latin typeface="+mn-lt"/>
            </a:endParaRPr>
          </a:p>
          <a:p>
            <a:pPr>
              <a:spcBef>
                <a:spcPts val="1200"/>
              </a:spcBef>
            </a:pPr>
            <a:r>
              <a:rPr lang="en-US" sz="2800" noProof="0" dirty="0">
                <a:latin typeface="+mn-lt"/>
                <a:hlinkClick r:id="rId4" action="ppaction://hlinksldjump"/>
              </a:rPr>
              <a:t>The Business Environment</a:t>
            </a:r>
            <a:endParaRPr lang="en-US" sz="2800" noProof="0" dirty="0">
              <a:latin typeface="+mn-lt"/>
            </a:endParaRPr>
          </a:p>
          <a:p>
            <a:pPr>
              <a:spcBef>
                <a:spcPts val="1200"/>
              </a:spcBef>
            </a:pPr>
            <a:r>
              <a:rPr lang="en-US" sz="2800" noProof="0" dirty="0">
                <a:latin typeface="+mn-lt"/>
                <a:hlinkClick r:id="rId5" action="ppaction://hlinksldjump"/>
              </a:rPr>
              <a:t>The Evolution of U.S. Business</a:t>
            </a:r>
            <a:endParaRPr lang="en-US" sz="2800" noProof="0" dirty="0">
              <a:latin typeface="+mn-lt"/>
            </a:endParaRPr>
          </a:p>
        </p:txBody>
      </p:sp>
      <p:sp>
        <p:nvSpPr>
          <p:cNvPr id="5" name="Text Placeholder 4">
            <a:extLst>
              <a:ext uri="{FF2B5EF4-FFF2-40B4-BE49-F238E27FC236}">
                <a16:creationId xmlns:a16="http://schemas.microsoft.com/office/drawing/2014/main" id="{E7BA3E75-4BBE-1CF8-E1DB-0368C2228813}"/>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921888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DB55-4F34-4C0F-9C22-93E7A6E0FF00}"/>
              </a:ext>
            </a:extLst>
          </p:cNvPr>
          <p:cNvSpPr>
            <a:spLocks noGrp="1"/>
          </p:cNvSpPr>
          <p:nvPr>
            <p:ph type="title"/>
          </p:nvPr>
        </p:nvSpPr>
        <p:spPr/>
        <p:txBody>
          <a:bodyPr>
            <a:normAutofit/>
          </a:bodyPr>
          <a:lstStyle/>
          <a:p>
            <a:r>
              <a:rPr lang="en-US" noProof="0" dirty="0">
                <a:latin typeface="+mn-lt"/>
              </a:rPr>
              <a:t>Learning Objectives </a:t>
            </a:r>
            <a:r>
              <a:rPr lang="en-US" sz="1000" b="0" noProof="0" dirty="0">
                <a:latin typeface="+mn-lt"/>
              </a:rPr>
              <a:t>1</a:t>
            </a:r>
          </a:p>
        </p:txBody>
      </p:sp>
      <p:sp>
        <p:nvSpPr>
          <p:cNvPr id="3" name="Content Placeholder 2">
            <a:extLst>
              <a:ext uri="{FF2B5EF4-FFF2-40B4-BE49-F238E27FC236}">
                <a16:creationId xmlns:a16="http://schemas.microsoft.com/office/drawing/2014/main" id="{3513468B-8347-4AC9-8CFE-47762DE55101}"/>
              </a:ext>
            </a:extLst>
          </p:cNvPr>
          <p:cNvSpPr>
            <a:spLocks noGrp="1"/>
          </p:cNvSpPr>
          <p:nvPr>
            <p:ph sz="quarter" idx="11"/>
          </p:nvPr>
        </p:nvSpPr>
        <p:spPr>
          <a:xfrm>
            <a:off x="342900" y="1276710"/>
            <a:ext cx="8458200" cy="3631192"/>
          </a:xfrm>
        </p:spPr>
        <p:txBody>
          <a:bodyPr>
            <a:noAutofit/>
          </a:bodyPr>
          <a:lstStyle/>
          <a:p>
            <a:pPr marL="1377950" indent="-1377950"/>
            <a:r>
              <a:rPr lang="en-US" sz="2800" b="1" noProof="0" dirty="0">
                <a:solidFill>
                  <a:schemeClr val="accent3"/>
                </a:solidFill>
                <a:latin typeface="+mn-lt"/>
                <a:hlinkClick r:id="rId2" action="ppaction://hlinksldjump">
                  <a:extLst>
                    <a:ext uri="{A12FA001-AC4F-418D-AE19-62706E023703}">
                      <ahyp:hlinkClr xmlns:ahyp="http://schemas.microsoft.com/office/drawing/2018/hyperlinkcolor" val="tx"/>
                    </a:ext>
                  </a:extLst>
                </a:hlinkClick>
              </a:rPr>
              <a:t>LO 1-1</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Describe the relationship between profit and risk, and show how businesses and nonprofit organizations can raise the standard of living for all.</a:t>
            </a:r>
          </a:p>
          <a:p>
            <a:pPr marL="1377950" indent="-1377950"/>
            <a:r>
              <a:rPr lang="en-US" sz="2800" b="1" noProof="0" dirty="0">
                <a:solidFill>
                  <a:schemeClr val="accent3"/>
                </a:solidFill>
                <a:latin typeface="+mn-lt"/>
                <a:hlinkClick r:id="rId3" action="ppaction://hlinksldjump">
                  <a:extLst>
                    <a:ext uri="{A12FA001-AC4F-418D-AE19-62706E023703}">
                      <ahyp:hlinkClr xmlns:ahyp="http://schemas.microsoft.com/office/drawing/2018/hyperlinkcolor" val="tx"/>
                    </a:ext>
                  </a:extLst>
                </a:hlinkClick>
              </a:rPr>
              <a:t>LO 1-2</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Explain how entrepreneurship and the other factors of production contribute to the creation of wealth.</a:t>
            </a:r>
          </a:p>
          <a:p>
            <a:pPr marL="1377950" indent="-1377950"/>
            <a:r>
              <a:rPr lang="en-US" sz="2800" b="1" noProof="0" dirty="0">
                <a:solidFill>
                  <a:schemeClr val="accent3"/>
                </a:solidFill>
                <a:latin typeface="+mn-lt"/>
                <a:hlinkClick r:id="rId4" action="ppaction://hlinksldjump">
                  <a:extLst>
                    <a:ext uri="{A12FA001-AC4F-418D-AE19-62706E023703}">
                      <ahyp:hlinkClr xmlns:ahyp="http://schemas.microsoft.com/office/drawing/2018/hyperlinkcolor" val="tx"/>
                    </a:ext>
                  </a:extLst>
                </a:hlinkClick>
              </a:rPr>
              <a:t>LO 1-3</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Analyze the effects of the economic environment and taxes on businesses.</a:t>
            </a:r>
          </a:p>
          <a:p>
            <a:pPr marL="1377950" indent="-1377950"/>
            <a:r>
              <a:rPr lang="en-US" sz="2800" b="1" noProof="0" dirty="0">
                <a:solidFill>
                  <a:schemeClr val="accent3"/>
                </a:solidFill>
                <a:latin typeface="+mn-lt"/>
                <a:hlinkClick r:id="rId5" action="ppaction://hlinksldjump">
                  <a:extLst>
                    <a:ext uri="{A12FA001-AC4F-418D-AE19-62706E023703}">
                      <ahyp:hlinkClr xmlns:ahyp="http://schemas.microsoft.com/office/drawing/2018/hyperlinkcolor" val="tx"/>
                    </a:ext>
                  </a:extLst>
                </a:hlinkClick>
              </a:rPr>
              <a:t>LO 1-4</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Describe the effects of technology on businesses.</a:t>
            </a:r>
          </a:p>
        </p:txBody>
      </p:sp>
    </p:spTree>
    <p:extLst>
      <p:ext uri="{BB962C8B-B14F-4D97-AF65-F5344CB8AC3E}">
        <p14:creationId xmlns:p14="http://schemas.microsoft.com/office/powerpoint/2010/main" val="1785185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DB55-4F34-4C0F-9C22-93E7A6E0FF00}"/>
              </a:ext>
            </a:extLst>
          </p:cNvPr>
          <p:cNvSpPr>
            <a:spLocks noGrp="1"/>
          </p:cNvSpPr>
          <p:nvPr>
            <p:ph type="title"/>
          </p:nvPr>
        </p:nvSpPr>
        <p:spPr/>
        <p:txBody>
          <a:bodyPr>
            <a:normAutofit/>
          </a:bodyPr>
          <a:lstStyle/>
          <a:p>
            <a:r>
              <a:rPr lang="en-US" noProof="0" dirty="0">
                <a:latin typeface="+mn-lt"/>
              </a:rPr>
              <a:t>Learning Objectives </a:t>
            </a:r>
            <a:r>
              <a:rPr lang="en-US" sz="1000" b="0" noProof="0" dirty="0">
                <a:latin typeface="+mn-lt"/>
              </a:rPr>
              <a:t>2</a:t>
            </a:r>
          </a:p>
        </p:txBody>
      </p:sp>
      <p:sp>
        <p:nvSpPr>
          <p:cNvPr id="3" name="Content Placeholder 2">
            <a:extLst>
              <a:ext uri="{FF2B5EF4-FFF2-40B4-BE49-F238E27FC236}">
                <a16:creationId xmlns:a16="http://schemas.microsoft.com/office/drawing/2014/main" id="{3513468B-8347-4AC9-8CFE-47762DE55101}"/>
              </a:ext>
            </a:extLst>
          </p:cNvPr>
          <p:cNvSpPr>
            <a:spLocks noGrp="1"/>
          </p:cNvSpPr>
          <p:nvPr>
            <p:ph sz="quarter" idx="11"/>
          </p:nvPr>
        </p:nvSpPr>
        <p:spPr>
          <a:xfrm>
            <a:off x="342900" y="1276710"/>
            <a:ext cx="8458200" cy="4914228"/>
          </a:xfrm>
        </p:spPr>
        <p:txBody>
          <a:bodyPr>
            <a:noAutofit/>
          </a:bodyPr>
          <a:lstStyle/>
          <a:p>
            <a:pPr marL="1377950" indent="-1377950"/>
            <a:r>
              <a:rPr lang="en-US" sz="2800" b="1" noProof="0" dirty="0">
                <a:solidFill>
                  <a:schemeClr val="accent3"/>
                </a:solidFill>
                <a:latin typeface="+mn-lt"/>
                <a:hlinkClick r:id="rId2" action="ppaction://hlinksldjump">
                  <a:extLst>
                    <a:ext uri="{A12FA001-AC4F-418D-AE19-62706E023703}">
                      <ahyp:hlinkClr xmlns:ahyp="http://schemas.microsoft.com/office/drawing/2018/hyperlinkcolor" val="tx"/>
                    </a:ext>
                  </a:extLst>
                </a:hlinkClick>
              </a:rPr>
              <a:t>LO 1-5</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Demonstrate how businesses can meet and beat competition.</a:t>
            </a:r>
          </a:p>
          <a:p>
            <a:pPr marL="1377950" indent="-1377950"/>
            <a:r>
              <a:rPr lang="en-US" sz="2800" b="1" noProof="0" dirty="0">
                <a:solidFill>
                  <a:schemeClr val="accent3"/>
                </a:solidFill>
                <a:latin typeface="+mn-lt"/>
                <a:hlinkClick r:id="rId3" action="ppaction://hlinksldjump">
                  <a:extLst>
                    <a:ext uri="{A12FA001-AC4F-418D-AE19-62706E023703}">
                      <ahyp:hlinkClr xmlns:ahyp="http://schemas.microsoft.com/office/drawing/2018/hyperlinkcolor" val="tx"/>
                    </a:ext>
                  </a:extLst>
                </a:hlinkClick>
              </a:rPr>
              <a:t>LO 1-6</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Analyze the social changes affecting businesses.</a:t>
            </a:r>
          </a:p>
          <a:p>
            <a:pPr marL="1377950" indent="-1377950"/>
            <a:r>
              <a:rPr lang="en-US" sz="2800" b="1" noProof="0" dirty="0">
                <a:solidFill>
                  <a:schemeClr val="accent3"/>
                </a:solidFill>
                <a:latin typeface="+mn-lt"/>
                <a:hlinkClick r:id="rId4" action="ppaction://hlinksldjump">
                  <a:extLst>
                    <a:ext uri="{A12FA001-AC4F-418D-AE19-62706E023703}">
                      <ahyp:hlinkClr xmlns:ahyp="http://schemas.microsoft.com/office/drawing/2018/hyperlinkcolor" val="tx"/>
                    </a:ext>
                  </a:extLst>
                </a:hlinkClick>
              </a:rPr>
              <a:t>LO 1-7</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Identify what businesses must do to meet global challenges, including war and terrorism.</a:t>
            </a:r>
          </a:p>
          <a:p>
            <a:pPr marL="1377950" indent="-1377950"/>
            <a:r>
              <a:rPr lang="en-US" sz="2800" b="1" noProof="0" dirty="0">
                <a:solidFill>
                  <a:schemeClr val="accent3"/>
                </a:solidFill>
                <a:latin typeface="+mn-lt"/>
                <a:hlinkClick r:id="rId5" action="ppaction://hlinksldjump">
                  <a:extLst>
                    <a:ext uri="{A12FA001-AC4F-418D-AE19-62706E023703}">
                      <ahyp:hlinkClr xmlns:ahyp="http://schemas.microsoft.com/office/drawing/2018/hyperlinkcolor" val="tx"/>
                    </a:ext>
                  </a:extLst>
                </a:hlinkClick>
              </a:rPr>
              <a:t>LO 1-8</a:t>
            </a:r>
            <a:r>
              <a:rPr lang="en-US" sz="2800" b="1" noProof="0" dirty="0">
                <a:solidFill>
                  <a:schemeClr val="accent3"/>
                </a:solidFill>
                <a:latin typeface="+mn-lt"/>
              </a:rPr>
              <a:t> </a:t>
            </a:r>
            <a:r>
              <a:rPr lang="en-US" sz="2800" b="1" noProof="0" dirty="0">
                <a:solidFill>
                  <a:srgbClr val="006288"/>
                </a:solidFill>
                <a:latin typeface="+mn-lt"/>
              </a:rPr>
              <a:t>	</a:t>
            </a:r>
            <a:r>
              <a:rPr lang="en-US" sz="2800" noProof="0" dirty="0">
                <a:latin typeface="+mn-lt"/>
              </a:rPr>
              <a:t>Review how past trends are being repeated in the present and what those trends mean for tomorrow’s college graduates.</a:t>
            </a:r>
          </a:p>
        </p:txBody>
      </p:sp>
    </p:spTree>
    <p:extLst>
      <p:ext uri="{BB962C8B-B14F-4D97-AF65-F5344CB8AC3E}">
        <p14:creationId xmlns:p14="http://schemas.microsoft.com/office/powerpoint/2010/main" val="3185037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altLang="en-US" noProof="0" dirty="0">
                <a:latin typeface="+mn-lt"/>
              </a:rPr>
              <a:t>GETTING TO KNOW</a:t>
            </a:r>
            <a:br>
              <a:rPr lang="en-US" altLang="en-US" noProof="0" dirty="0">
                <a:latin typeface="+mn-lt"/>
              </a:rPr>
            </a:br>
            <a:r>
              <a:rPr lang="en-US" altLang="en-US" noProof="0" dirty="0">
                <a:latin typeface="+mn-lt"/>
              </a:rPr>
              <a:t>Daymond John: Founder and CEO of FUBU</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276710"/>
            <a:ext cx="5300816" cy="4878028"/>
          </a:xfrm>
        </p:spPr>
        <p:txBody>
          <a:bodyPr>
            <a:noAutofit/>
          </a:bodyPr>
          <a:lstStyle/>
          <a:p>
            <a:r>
              <a:rPr lang="en-US" sz="2200" noProof="0" dirty="0">
                <a:latin typeface="+mn-lt"/>
              </a:rPr>
              <a:t>Started FUBU in 1989 when he noticed people paying high prices for an easily-made hat. He made the hats himself and sold them at a lower price.</a:t>
            </a:r>
          </a:p>
          <a:p>
            <a:r>
              <a:rPr lang="en-US" sz="2200" noProof="0" dirty="0">
                <a:latin typeface="+mn-lt"/>
              </a:rPr>
              <a:t>In 1992, relaunched the company with his partners and focused on </a:t>
            </a:r>
            <a:r>
              <a:rPr lang="en-US" sz="2200" dirty="0"/>
              <a:t>putting their clothes in the hands of celebrities such as LL Cool J.</a:t>
            </a:r>
            <a:r>
              <a:rPr lang="en-US" sz="2200" noProof="0" dirty="0">
                <a:latin typeface="+mn-lt"/>
              </a:rPr>
              <a:t> </a:t>
            </a:r>
          </a:p>
          <a:p>
            <a:r>
              <a:rPr lang="en-US" sz="2200" dirty="0"/>
              <a:t>He eventually established FUBU as one of the hottest fashion labels in the U.S. and has made more than $6 billion in worldwide sales.</a:t>
            </a:r>
            <a:endParaRPr lang="en-US" sz="2200" noProof="0" dirty="0">
              <a:latin typeface="+mn-lt"/>
            </a:endParaRPr>
          </a:p>
          <a:p>
            <a:r>
              <a:rPr lang="en-US" sz="2200" noProof="0" dirty="0">
                <a:latin typeface="+mn-lt"/>
              </a:rPr>
              <a:t>He has invested $15 million of his own money in more than 100 start-ups.</a:t>
            </a:r>
          </a:p>
        </p:txBody>
      </p:sp>
      <p:pic>
        <p:nvPicPr>
          <p:cNvPr id="8" name="Picture 10">
            <a:extLst>
              <a:ext uri="{FF2B5EF4-FFF2-40B4-BE49-F238E27FC236}">
                <a16:creationId xmlns:a16="http://schemas.microsoft.com/office/drawing/2014/main" id="{138DF2DD-1248-4ABE-BBB8-B5AEF68C6F91}"/>
              </a:ext>
            </a:extLst>
          </p:cNvPr>
          <p:cNvPicPr>
            <a:picLocks noChangeAspect="1"/>
          </p:cNvPicPr>
          <p:nvPr/>
        </p:nvPicPr>
        <p:blipFill>
          <a:blip r:embed="rId3"/>
          <a:srcRect/>
          <a:stretch/>
        </p:blipFill>
        <p:spPr>
          <a:xfrm>
            <a:off x="5716267" y="1554480"/>
            <a:ext cx="3302116" cy="5080179"/>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de-DE" noProof="0" dirty="0">
                <a:latin typeface="+mn-lt"/>
              </a:rPr>
              <a:t>Jim Bennett/WireImage/Getty Images</a:t>
            </a:r>
            <a:endParaRPr lang="en-US" noProof="0" dirty="0">
              <a:latin typeface="+mn-lt"/>
            </a:endParaRPr>
          </a:p>
        </p:txBody>
      </p:sp>
    </p:spTree>
    <p:extLst>
      <p:ext uri="{BB962C8B-B14F-4D97-AF65-F5344CB8AC3E}">
        <p14:creationId xmlns:p14="http://schemas.microsoft.com/office/powerpoint/2010/main" val="1263505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altLang="en-US" noProof="0" dirty="0">
                <a:latin typeface="+mn-lt"/>
              </a:rPr>
              <a:t>Name that Company</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276710"/>
            <a:ext cx="8458200" cy="1905029"/>
          </a:xfrm>
        </p:spPr>
        <p:txBody>
          <a:bodyPr>
            <a:noAutofit/>
          </a:bodyPr>
          <a:lstStyle/>
          <a:p>
            <a:r>
              <a:rPr lang="en-US" sz="2800" b="1" noProof="0" dirty="0">
                <a:solidFill>
                  <a:schemeClr val="accent6">
                    <a:lumMod val="50000"/>
                  </a:schemeClr>
                </a:solidFill>
                <a:latin typeface="+mn-lt"/>
              </a:rPr>
              <a:t>THIS KOREA-BASED COMPANY </a:t>
            </a:r>
            <a:r>
              <a:rPr lang="en-US" sz="2800" noProof="0" dirty="0">
                <a:latin typeface="+mn-lt"/>
              </a:rPr>
              <a:t>is building new EV and battery manufacturing facilities in Bryan County, Georgia.</a:t>
            </a:r>
          </a:p>
        </p:txBody>
      </p:sp>
      <p:pic>
        <p:nvPicPr>
          <p:cNvPr id="9" name="Picture 8" descr="A circle with a question mark and the question: name that company?">
            <a:extLst>
              <a:ext uri="{FF2B5EF4-FFF2-40B4-BE49-F238E27FC236}">
                <a16:creationId xmlns:a16="http://schemas.microsoft.com/office/drawing/2014/main" id="{189FCD5A-CA9F-4AF3-A437-5E473BE9305B}"/>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437506" y="3730927"/>
            <a:ext cx="2316563" cy="2692606"/>
          </a:xfrm>
          <a:prstGeom prst="rect">
            <a:avLst/>
          </a:prstGeom>
        </p:spPr>
      </p:pic>
    </p:spTree>
    <p:extLst>
      <p:ext uri="{BB962C8B-B14F-4D97-AF65-F5344CB8AC3E}">
        <p14:creationId xmlns:p14="http://schemas.microsoft.com/office/powerpoint/2010/main" val="1567192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1</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0"/>
            <a:ext cx="8458200" cy="3700024"/>
          </a:xfrm>
        </p:spPr>
        <p:txBody>
          <a:bodyPr>
            <a:normAutofit/>
          </a:bodyPr>
          <a:lstStyle/>
          <a:p>
            <a:r>
              <a:rPr lang="en-US" altLang="en-US" sz="3000" b="1" noProof="0" dirty="0">
                <a:latin typeface="+mn-lt"/>
              </a:rPr>
              <a:t>Business</a:t>
            </a:r>
            <a:endParaRPr lang="en-US" altLang="en-US" sz="2800" b="1" noProof="0" dirty="0">
              <a:latin typeface="+mn-lt"/>
            </a:endParaRPr>
          </a:p>
          <a:p>
            <a:pPr>
              <a:lnSpc>
                <a:spcPct val="110000"/>
              </a:lnSpc>
              <a:spcAft>
                <a:spcPts val="600"/>
              </a:spcAft>
            </a:pPr>
            <a:r>
              <a:rPr lang="en-US" altLang="en-US" sz="2600" noProof="0" dirty="0">
                <a:latin typeface="+mn-lt"/>
              </a:rPr>
              <a:t>Any activity that seeks to provide goods and services to others while operating at a profit</a:t>
            </a:r>
          </a:p>
          <a:p>
            <a:pPr lvl="1">
              <a:lnSpc>
                <a:spcPct val="110000"/>
              </a:lnSpc>
              <a:spcAft>
                <a:spcPts val="600"/>
              </a:spcAft>
            </a:pPr>
            <a:r>
              <a:rPr lang="en-US" altLang="en-US" sz="2000" b="1" noProof="0" dirty="0">
                <a:latin typeface="+mn-lt"/>
              </a:rPr>
              <a:t>Goods</a:t>
            </a:r>
            <a:r>
              <a:rPr lang="en-US" altLang="en-US" sz="2000" noProof="0" dirty="0">
                <a:latin typeface="+mn-lt"/>
              </a:rPr>
              <a:t> — Tangible products such as computers, food, clothing, cars, and appliances</a:t>
            </a:r>
          </a:p>
          <a:p>
            <a:pPr lvl="1">
              <a:lnSpc>
                <a:spcPct val="110000"/>
              </a:lnSpc>
              <a:spcAft>
                <a:spcPts val="600"/>
              </a:spcAft>
            </a:pPr>
            <a:r>
              <a:rPr lang="en-US" altLang="en-US" sz="2000" b="1" noProof="0" dirty="0">
                <a:latin typeface="+mn-lt"/>
              </a:rPr>
              <a:t>Services</a:t>
            </a:r>
            <a:r>
              <a:rPr lang="en-US" altLang="en-US" sz="2000" noProof="0" dirty="0">
                <a:latin typeface="+mn-lt"/>
              </a:rPr>
              <a:t> — Intangible products (that can’t</a:t>
            </a:r>
            <a:r>
              <a:rPr lang="en-US" altLang="ja-JP" sz="2000" noProof="0" dirty="0">
                <a:latin typeface="+mn-lt"/>
              </a:rPr>
              <a:t> be held in your hand) such as education, health care, insurance, recreation, and travel and tourism</a:t>
            </a:r>
            <a:endParaRPr lang="en-US" noProof="0" dirty="0">
              <a:latin typeface="+mn-lt"/>
            </a:endParaRPr>
          </a:p>
        </p:txBody>
      </p:sp>
    </p:spTree>
    <p:extLst>
      <p:ext uri="{BB962C8B-B14F-4D97-AF65-F5344CB8AC3E}">
        <p14:creationId xmlns:p14="http://schemas.microsoft.com/office/powerpoint/2010/main" val="580627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2</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0"/>
            <a:ext cx="8458200" cy="2965505"/>
          </a:xfrm>
        </p:spPr>
        <p:txBody>
          <a:bodyPr/>
          <a:lstStyle/>
          <a:p>
            <a:pPr marL="342900" indent="-342900">
              <a:buFont typeface="Arial" panose="020B0604020202020204" pitchFamily="34" charset="0"/>
              <a:buChar char="•"/>
            </a:pPr>
            <a:r>
              <a:rPr lang="en-US" altLang="en-US" noProof="0" dirty="0">
                <a:latin typeface="+mn-lt"/>
              </a:rPr>
              <a:t>Successfully filling a market need means you could make money for yourself.</a:t>
            </a:r>
          </a:p>
          <a:p>
            <a:pPr marL="291600" indent="-291600">
              <a:buFont typeface="Arial" panose="020B0604020202020204" pitchFamily="34" charset="0"/>
              <a:buChar char="•"/>
            </a:pPr>
            <a:r>
              <a:rPr lang="en-US" altLang="en-US" b="1" noProof="0" dirty="0">
                <a:latin typeface="+mn-lt"/>
              </a:rPr>
              <a:t>Entrepreneur</a:t>
            </a:r>
            <a:r>
              <a:rPr lang="en-US" altLang="en-US" noProof="0" dirty="0">
                <a:latin typeface="+mn-lt"/>
              </a:rPr>
              <a:t> — A person who risks time and money to start and manage a business</a:t>
            </a:r>
            <a:endParaRPr lang="en-US" noProof="0" dirty="0">
              <a:latin typeface="+mn-lt"/>
            </a:endParaRPr>
          </a:p>
        </p:txBody>
      </p:sp>
    </p:spTree>
    <p:extLst>
      <p:ext uri="{BB962C8B-B14F-4D97-AF65-F5344CB8AC3E}">
        <p14:creationId xmlns:p14="http://schemas.microsoft.com/office/powerpoint/2010/main" val="153572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97764-E54F-4D47-8348-6821CBA9EB08}"/>
              </a:ext>
            </a:extLst>
          </p:cNvPr>
          <p:cNvSpPr>
            <a:spLocks noGrp="1"/>
          </p:cNvSpPr>
          <p:nvPr>
            <p:ph type="subTitle" idx="1"/>
          </p:nvPr>
        </p:nvSpPr>
        <p:spPr>
          <a:xfrm>
            <a:off x="1727200" y="2547258"/>
            <a:ext cx="6858000" cy="2155039"/>
          </a:xfrm>
        </p:spPr>
        <p:txBody>
          <a:bodyPr>
            <a:normAutofit/>
          </a:bodyPr>
          <a:lstStyle/>
          <a:p>
            <a:pPr algn="l"/>
            <a:r>
              <a:rPr lang="en-US" sz="2800" noProof="0" dirty="0">
                <a:solidFill>
                  <a:srgbClr val="002060"/>
                </a:solidFill>
                <a:latin typeface="Arial" panose="020B0604020202020204" pitchFamily="34" charset="0"/>
                <a:cs typeface="Arial" panose="020B0604020202020204" pitchFamily="34" charset="0"/>
              </a:rPr>
              <a:t>A.</a:t>
            </a:r>
            <a:r>
              <a:rPr lang="en-US" sz="2800" noProof="0" dirty="0">
                <a:latin typeface="Arial" panose="020B0604020202020204" pitchFamily="34" charset="0"/>
                <a:cs typeface="Arial" panose="020B0604020202020204" pitchFamily="34" charset="0"/>
              </a:rPr>
              <a:t> Profit</a:t>
            </a:r>
          </a:p>
          <a:p>
            <a:pPr algn="l"/>
            <a:r>
              <a:rPr lang="en-US" sz="2800" noProof="0" dirty="0">
                <a:solidFill>
                  <a:srgbClr val="002060"/>
                </a:solidFill>
                <a:latin typeface="Arial" panose="020B0604020202020204" pitchFamily="34" charset="0"/>
                <a:cs typeface="Arial" panose="020B0604020202020204" pitchFamily="34" charset="0"/>
              </a:rPr>
              <a:t>B.</a:t>
            </a:r>
            <a:r>
              <a:rPr lang="en-US" sz="2800" noProof="0" dirty="0">
                <a:latin typeface="Arial" panose="020B0604020202020204" pitchFamily="34" charset="0"/>
                <a:cs typeface="Arial" panose="020B0604020202020204" pitchFamily="34" charset="0"/>
              </a:rPr>
              <a:t> Loss</a:t>
            </a:r>
          </a:p>
          <a:p>
            <a:pPr algn="l"/>
            <a:r>
              <a:rPr lang="en-US" sz="2800" noProof="0" dirty="0">
                <a:solidFill>
                  <a:srgbClr val="002060"/>
                </a:solidFill>
                <a:latin typeface="Arial" panose="020B0604020202020204" pitchFamily="34" charset="0"/>
                <a:cs typeface="Arial" panose="020B0604020202020204" pitchFamily="34" charset="0"/>
              </a:rPr>
              <a:t>C.</a:t>
            </a:r>
            <a:r>
              <a:rPr lang="en-US" sz="2800" noProof="0" dirty="0">
                <a:latin typeface="Arial" panose="020B0604020202020204" pitchFamily="34" charset="0"/>
                <a:cs typeface="Arial" panose="020B0604020202020204" pitchFamily="34" charset="0"/>
              </a:rPr>
              <a:t> Revenue</a:t>
            </a:r>
          </a:p>
          <a:p>
            <a:pPr algn="l"/>
            <a:r>
              <a:rPr lang="en-US" sz="2800" noProof="0" dirty="0">
                <a:solidFill>
                  <a:srgbClr val="002060"/>
                </a:solidFill>
                <a:latin typeface="Arial" panose="020B0604020202020204" pitchFamily="34" charset="0"/>
                <a:cs typeface="Arial" panose="020B0604020202020204" pitchFamily="34" charset="0"/>
              </a:rPr>
              <a:t>D.</a:t>
            </a:r>
            <a:r>
              <a:rPr lang="en-US" sz="2800" noProof="0" dirty="0">
                <a:latin typeface="Arial" panose="020B0604020202020204" pitchFamily="34" charset="0"/>
                <a:cs typeface="Arial" panose="020B0604020202020204" pitchFamily="34" charset="0"/>
              </a:rPr>
              <a:t> Risk</a:t>
            </a:r>
          </a:p>
        </p:txBody>
      </p:sp>
      <p:sp>
        <p:nvSpPr>
          <p:cNvPr id="6" name="Content Placeholder 5">
            <a:extLst>
              <a:ext uri="{FF2B5EF4-FFF2-40B4-BE49-F238E27FC236}">
                <a16:creationId xmlns:a16="http://schemas.microsoft.com/office/drawing/2014/main" id="{97BEB876-DE88-4D74-91D2-67AF3FF36929}"/>
              </a:ext>
            </a:extLst>
          </p:cNvPr>
          <p:cNvSpPr>
            <a:spLocks noGrp="1"/>
          </p:cNvSpPr>
          <p:nvPr>
            <p:ph sz="quarter" idx="4294967295"/>
          </p:nvPr>
        </p:nvSpPr>
        <p:spPr>
          <a:xfrm>
            <a:off x="1727200" y="1161929"/>
            <a:ext cx="6858000" cy="993775"/>
          </a:xfrm>
          <a:prstGeom prst="rect">
            <a:avLst/>
          </a:prstGeom>
        </p:spPr>
        <p:txBody>
          <a:bodyPr>
            <a:noAutofit/>
          </a:bodyPr>
          <a:lstStyle/>
          <a:p>
            <a:pPr marL="0" indent="0">
              <a:buNone/>
            </a:pPr>
            <a:r>
              <a:rPr lang="en-US" altLang="en-US" sz="2800" b="1" noProof="0" dirty="0">
                <a:solidFill>
                  <a:srgbClr val="002060"/>
                </a:solidFill>
                <a:latin typeface="Arial" panose="020B0604020202020204" pitchFamily="34" charset="0"/>
                <a:cs typeface="Arial" panose="020B0604020202020204" pitchFamily="34" charset="0"/>
              </a:rPr>
              <a:t>______ refers to the total amount of money a business </a:t>
            </a:r>
            <a:r>
              <a:rPr lang="en-US" altLang="en-US" sz="2800" b="1" dirty="0">
                <a:solidFill>
                  <a:srgbClr val="002060"/>
                </a:solidFill>
                <a:latin typeface="Arial" panose="020B0604020202020204" pitchFamily="34" charset="0"/>
                <a:cs typeface="Arial" panose="020B0604020202020204" pitchFamily="34" charset="0"/>
              </a:rPr>
              <a:t>takes </a:t>
            </a:r>
            <a:r>
              <a:rPr lang="en-US" altLang="en-US" sz="2800" b="1" noProof="0" dirty="0">
                <a:solidFill>
                  <a:srgbClr val="002060"/>
                </a:solidFill>
                <a:latin typeface="Arial" panose="020B0604020202020204" pitchFamily="34" charset="0"/>
                <a:cs typeface="Arial" panose="020B0604020202020204" pitchFamily="34" charset="0"/>
              </a:rPr>
              <a:t>in during a given period.</a:t>
            </a:r>
            <a:endParaRPr lang="en-US" sz="2800" b="1" noProof="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4860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3</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1"/>
            <a:ext cx="8458200" cy="3196966"/>
          </a:xfrm>
        </p:spPr>
        <p:txBody>
          <a:bodyPr/>
          <a:lstStyle/>
          <a:p>
            <a:r>
              <a:rPr lang="en-US" altLang="en-US" sz="2600" noProof="0" dirty="0">
                <a:latin typeface="+mn-lt"/>
              </a:rPr>
              <a:t>Revenues, Profits, and Losses</a:t>
            </a:r>
          </a:p>
          <a:p>
            <a:pPr lvl="1"/>
            <a:r>
              <a:rPr lang="en-US" altLang="en-US" b="1" noProof="0" dirty="0">
                <a:latin typeface="+mn-lt"/>
              </a:rPr>
              <a:t>Revenue</a:t>
            </a:r>
            <a:r>
              <a:rPr lang="en-US" altLang="en-US" noProof="0" dirty="0">
                <a:latin typeface="+mn-lt"/>
              </a:rPr>
              <a:t> — Total amount of money a business takes in during a given period by selling goods and services</a:t>
            </a:r>
          </a:p>
          <a:p>
            <a:pPr lvl="1"/>
            <a:r>
              <a:rPr lang="en-US" altLang="en-US" b="1" noProof="0" dirty="0">
                <a:latin typeface="+mn-lt"/>
              </a:rPr>
              <a:t>Profit </a:t>
            </a:r>
            <a:r>
              <a:rPr lang="en-US" altLang="en-US" noProof="0" dirty="0">
                <a:latin typeface="+mn-lt"/>
              </a:rPr>
              <a:t>— Amount of money a business earns above and beyond what it spends for salaries and other expenses</a:t>
            </a:r>
          </a:p>
          <a:p>
            <a:pPr lvl="1"/>
            <a:r>
              <a:rPr lang="en-US" altLang="en-US" b="1" noProof="0" dirty="0">
                <a:latin typeface="+mn-lt"/>
              </a:rPr>
              <a:t>Loss</a:t>
            </a:r>
            <a:r>
              <a:rPr lang="en-US" altLang="en-US" noProof="0" dirty="0">
                <a:latin typeface="+mn-lt"/>
              </a:rPr>
              <a:t> — When a business’s</a:t>
            </a:r>
            <a:r>
              <a:rPr lang="en-US" altLang="ja-JP" noProof="0" dirty="0">
                <a:latin typeface="+mn-lt"/>
              </a:rPr>
              <a:t> expenses are more than its revenues</a:t>
            </a:r>
            <a:endParaRPr lang="en-US" noProof="0" dirty="0">
              <a:latin typeface="+mn-lt"/>
            </a:endParaRPr>
          </a:p>
        </p:txBody>
      </p:sp>
    </p:spTree>
    <p:extLst>
      <p:ext uri="{BB962C8B-B14F-4D97-AF65-F5344CB8AC3E}">
        <p14:creationId xmlns:p14="http://schemas.microsoft.com/office/powerpoint/2010/main" val="240577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kumimoji="0" lang="en-US" altLang="en-US" sz="2800" b="1" i="0" u="none" strike="noStrike" kern="1200" cap="none" spc="0" normalizeH="0" baseline="0" noProof="0" dirty="0">
                <a:ln>
                  <a:noFill/>
                </a:ln>
                <a:solidFill>
                  <a:srgbClr val="0070C0"/>
                </a:solidFill>
                <a:effectLst/>
                <a:uLnTx/>
                <a:uFillTx/>
                <a:latin typeface="Arial" panose="020B0604020202020204"/>
                <a:ea typeface="+mj-ea"/>
                <a:cs typeface="+mj-cs"/>
              </a:rPr>
              <a:t>Business and Wealth Building </a:t>
            </a:r>
            <a:r>
              <a:rPr lang="en-US" altLang="en-US" sz="1000" b="0" noProof="0" dirty="0">
                <a:latin typeface="+mn-lt"/>
              </a:rPr>
              <a:t>4</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1"/>
            <a:ext cx="8458200" cy="2782823"/>
          </a:xfrm>
        </p:spPr>
        <p:txBody>
          <a:bodyPr/>
          <a:lstStyle/>
          <a:p>
            <a:r>
              <a:rPr lang="en-US" altLang="en-US" sz="2600" noProof="0" dirty="0">
                <a:latin typeface="+mn-lt"/>
              </a:rPr>
              <a:t>Matching Risk with Profit</a:t>
            </a:r>
          </a:p>
          <a:p>
            <a:pPr lvl="1"/>
            <a:r>
              <a:rPr lang="en-US" altLang="en-US" b="1" noProof="0" dirty="0">
                <a:latin typeface="+mn-lt"/>
              </a:rPr>
              <a:t>Risk</a:t>
            </a:r>
            <a:r>
              <a:rPr lang="en-US" altLang="en-US" noProof="0" dirty="0">
                <a:latin typeface="+mn-lt"/>
              </a:rPr>
              <a:t> — The chance an entrepreneur takes of losing time and money on a business that may not prove profitable.</a:t>
            </a:r>
          </a:p>
          <a:p>
            <a:pPr lvl="1"/>
            <a:r>
              <a:rPr lang="en-US" altLang="en-US" noProof="0" dirty="0">
                <a:latin typeface="+mn-lt"/>
              </a:rPr>
              <a:t>Not all enterprises make the same amount of profit. </a:t>
            </a:r>
          </a:p>
          <a:p>
            <a:pPr lvl="1"/>
            <a:r>
              <a:rPr lang="en-US" altLang="en-US" dirty="0"/>
              <a:t>All businesses</a:t>
            </a:r>
            <a:r>
              <a:rPr lang="en-US" altLang="en-US" noProof="0" dirty="0">
                <a:latin typeface="+mn-lt"/>
              </a:rPr>
              <a:t> take risks, but taking </a:t>
            </a:r>
            <a:r>
              <a:rPr lang="en-US" altLang="en-US" i="1" noProof="0" dirty="0">
                <a:latin typeface="+mn-lt"/>
              </a:rPr>
              <a:t>big</a:t>
            </a:r>
            <a:r>
              <a:rPr lang="en-US" altLang="en-US" noProof="0" dirty="0">
                <a:latin typeface="+mn-lt"/>
              </a:rPr>
              <a:t> risks could earn a company big profits.</a:t>
            </a:r>
            <a:endParaRPr lang="en-US" noProof="0" dirty="0">
              <a:latin typeface="+mn-lt"/>
            </a:endParaRPr>
          </a:p>
        </p:txBody>
      </p:sp>
    </p:spTree>
    <p:extLst>
      <p:ext uri="{BB962C8B-B14F-4D97-AF65-F5344CB8AC3E}">
        <p14:creationId xmlns:p14="http://schemas.microsoft.com/office/powerpoint/2010/main" val="415491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sz="3200" noProof="0" dirty="0">
                <a:latin typeface="+mn-lt"/>
              </a:rPr>
              <a:t>Risk and Reward</a:t>
            </a: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068521"/>
            <a:ext cx="4799255" cy="5083897"/>
          </a:xfrm>
        </p:spPr>
        <p:txBody>
          <a:bodyPr>
            <a:noAutofit/>
          </a:bodyPr>
          <a:lstStyle/>
          <a:p>
            <a:r>
              <a:rPr lang="en-US" sz="2200" dirty="0"/>
              <a:t>When Scott Seamans showed Lyndon “Duke” Hanson and George Boedecker a pair of foam boating clogs he helped design, his two friends initially reacted with skepticism towards their pal’s taste in footwear. Once they set style aside, though, they were won over by the shoe’s comfort, slip-resistance, and ability to float. The trio soon went into business together as Crocs, a company that now earns billions of dollars in annual sales. </a:t>
            </a:r>
            <a:r>
              <a:rPr lang="en-US" sz="2200" b="1" i="1" dirty="0"/>
              <a:t>What risks and rewards did these three entrepreneurs face when starting their business? </a:t>
            </a:r>
            <a:endParaRPr lang="en-US" sz="2200" b="1" i="1" noProof="0" dirty="0">
              <a:latin typeface="+mn-lt"/>
            </a:endParaRPr>
          </a:p>
        </p:txBody>
      </p:sp>
      <p:pic>
        <p:nvPicPr>
          <p:cNvPr id="6" name="Picture 13">
            <a:extLst>
              <a:ext uri="{FF2B5EF4-FFF2-40B4-BE49-F238E27FC236}">
                <a16:creationId xmlns:a16="http://schemas.microsoft.com/office/drawing/2014/main" id="{00EADE04-9A4E-467D-9D30-D9D24507B3AE}"/>
              </a:ext>
            </a:extLst>
          </p:cNvPr>
          <p:cNvPicPr>
            <a:picLocks noChangeAspect="1"/>
          </p:cNvPicPr>
          <p:nvPr/>
        </p:nvPicPr>
        <p:blipFill rotWithShape="1">
          <a:blip r:embed="rId3"/>
          <a:srcRect t="-3619" r="8771" b="3619"/>
          <a:stretch/>
        </p:blipFill>
        <p:spPr>
          <a:xfrm>
            <a:off x="5251683" y="2011680"/>
            <a:ext cx="3797612" cy="3082331"/>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noProof="0" dirty="0">
                <a:latin typeface="+mn-lt"/>
              </a:rPr>
              <a:t>Alejandro_Munoz/Shutterstock</a:t>
            </a:r>
          </a:p>
        </p:txBody>
      </p:sp>
    </p:spTree>
    <p:extLst>
      <p:ext uri="{BB962C8B-B14F-4D97-AF65-F5344CB8AC3E}">
        <p14:creationId xmlns:p14="http://schemas.microsoft.com/office/powerpoint/2010/main" val="1686271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5</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1"/>
            <a:ext cx="8458200" cy="4704364"/>
          </a:xfrm>
        </p:spPr>
        <p:txBody>
          <a:bodyPr>
            <a:normAutofit/>
          </a:bodyPr>
          <a:lstStyle/>
          <a:p>
            <a:r>
              <a:rPr lang="en-US" altLang="en-US" sz="2600" noProof="0" dirty="0">
                <a:latin typeface="+mn-lt"/>
              </a:rPr>
              <a:t>Standard of Living and Quality of Life</a:t>
            </a:r>
          </a:p>
          <a:p>
            <a:pPr lvl="1">
              <a:spcBef>
                <a:spcPts val="600"/>
              </a:spcBef>
              <a:spcAft>
                <a:spcPts val="600"/>
              </a:spcAft>
            </a:pPr>
            <a:r>
              <a:rPr lang="en-US" altLang="en-US" b="1" noProof="0" dirty="0">
                <a:latin typeface="+mn-lt"/>
              </a:rPr>
              <a:t>Standard of living</a:t>
            </a:r>
            <a:r>
              <a:rPr lang="en-US" altLang="en-US" noProof="0" dirty="0">
                <a:latin typeface="+mn-lt"/>
              </a:rPr>
              <a:t> — The amount of goods and services people can buy with the money they have</a:t>
            </a:r>
          </a:p>
          <a:p>
            <a:pPr lvl="1">
              <a:spcBef>
                <a:spcPts val="600"/>
              </a:spcBef>
              <a:spcAft>
                <a:spcPts val="600"/>
              </a:spcAft>
            </a:pPr>
            <a:r>
              <a:rPr lang="en-US" altLang="en-US" noProof="0" dirty="0">
                <a:latin typeface="+mn-lt"/>
              </a:rPr>
              <a:t>The United States has a high standard of living largely because of the wealth created by its businesses.</a:t>
            </a:r>
          </a:p>
          <a:p>
            <a:pPr lvl="1">
              <a:spcBef>
                <a:spcPts val="600"/>
              </a:spcBef>
              <a:spcAft>
                <a:spcPts val="600"/>
              </a:spcAft>
            </a:pPr>
            <a:r>
              <a:rPr lang="en-US" altLang="en-US" noProof="0" dirty="0">
                <a:latin typeface="+mn-lt"/>
              </a:rPr>
              <a:t>Prices for goods and services in some locations are higher than in others, so people in those places can’t buy as much with the same amount of money.</a:t>
            </a:r>
            <a:endParaRPr lang="en-US" noProof="0" dirty="0">
              <a:latin typeface="+mn-lt"/>
            </a:endParaRPr>
          </a:p>
        </p:txBody>
      </p:sp>
    </p:spTree>
    <p:extLst>
      <p:ext uri="{BB962C8B-B14F-4D97-AF65-F5344CB8AC3E}">
        <p14:creationId xmlns:p14="http://schemas.microsoft.com/office/powerpoint/2010/main" val="256229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6</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1"/>
            <a:ext cx="8458200" cy="4045566"/>
          </a:xfrm>
        </p:spPr>
        <p:txBody>
          <a:bodyPr>
            <a:normAutofit/>
          </a:bodyPr>
          <a:lstStyle/>
          <a:p>
            <a:pPr lvl="1"/>
            <a:r>
              <a:rPr lang="en-US" altLang="en-US" sz="2400" b="1" noProof="0" dirty="0">
                <a:latin typeface="+mn-lt"/>
              </a:rPr>
              <a:t>Quality of life</a:t>
            </a:r>
            <a:r>
              <a:rPr lang="en-US" altLang="en-US" sz="2400" noProof="0" dirty="0">
                <a:latin typeface="+mn-lt"/>
              </a:rPr>
              <a:t> — The general well-being of a society in terms of its political freedom, natural environment, education, health care, safety, amount of leisure, and rewards that add to the satisfaction and joy that other goods and services provide</a:t>
            </a:r>
          </a:p>
          <a:p>
            <a:pPr lvl="1"/>
            <a:r>
              <a:rPr lang="en-US" altLang="en-US" sz="2400" noProof="0" dirty="0">
                <a:latin typeface="+mn-lt"/>
              </a:rPr>
              <a:t>High quality of life requires combined efforts of businesses, nonprofits, and government agencies</a:t>
            </a:r>
            <a:endParaRPr lang="en-US" sz="2400" noProof="0" dirty="0">
              <a:latin typeface="+mn-lt"/>
            </a:endParaRPr>
          </a:p>
        </p:txBody>
      </p:sp>
    </p:spTree>
    <p:extLst>
      <p:ext uri="{BB962C8B-B14F-4D97-AF65-F5344CB8AC3E}">
        <p14:creationId xmlns:p14="http://schemas.microsoft.com/office/powerpoint/2010/main" val="2393779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7</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1"/>
            <a:ext cx="8458200" cy="2812968"/>
          </a:xfrm>
        </p:spPr>
        <p:txBody>
          <a:bodyPr>
            <a:normAutofit/>
          </a:bodyPr>
          <a:lstStyle/>
          <a:p>
            <a:r>
              <a:rPr lang="en-US" altLang="en-US" sz="2600" dirty="0">
                <a:latin typeface="+mn-lt"/>
              </a:rPr>
              <a:t>Responding to the Various Business Stakeholders</a:t>
            </a:r>
            <a:endParaRPr lang="en-US" altLang="en-US" sz="2600" noProof="0" dirty="0">
              <a:latin typeface="+mn-lt"/>
            </a:endParaRPr>
          </a:p>
          <a:p>
            <a:pPr lvl="1"/>
            <a:r>
              <a:rPr lang="en-US" altLang="en-US" b="1" dirty="0">
                <a:latin typeface="+mn-lt"/>
              </a:rPr>
              <a:t>Stakeholders</a:t>
            </a:r>
            <a:r>
              <a:rPr lang="en-US" altLang="en-US" dirty="0">
                <a:latin typeface="+mn-lt"/>
              </a:rPr>
              <a:t> — All the people who stand to gain or lose by the policies and activities of a business and whose concerns the business needs to address</a:t>
            </a:r>
          </a:p>
          <a:p>
            <a:pPr lvl="1"/>
            <a:r>
              <a:rPr lang="en-US" altLang="en-US" dirty="0">
                <a:latin typeface="+mn-lt"/>
              </a:rPr>
              <a:t>A primary challenge is to recognize and respond to the needs of stakeholders.</a:t>
            </a:r>
            <a:endParaRPr lang="en-US" noProof="0" dirty="0">
              <a:latin typeface="+mn-lt"/>
            </a:endParaRPr>
          </a:p>
        </p:txBody>
      </p:sp>
    </p:spTree>
    <p:extLst>
      <p:ext uri="{BB962C8B-B14F-4D97-AF65-F5344CB8AC3E}">
        <p14:creationId xmlns:p14="http://schemas.microsoft.com/office/powerpoint/2010/main" val="868944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latin typeface="+mn-lt"/>
              </a:rPr>
              <a:t>Figure 1.1: A Business and Its Stakeholders</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257322" y="2233749"/>
            <a:ext cx="3040380" cy="3806315"/>
          </a:xfrm>
        </p:spPr>
        <p:txBody>
          <a:bodyPr anchor="ctr">
            <a:noAutofit/>
          </a:bodyPr>
          <a:lstStyle/>
          <a:p>
            <a:r>
              <a:rPr lang="en-US" sz="2200" dirty="0">
                <a:latin typeface="+mn-lt"/>
              </a:rPr>
              <a:t>Often the needs of a firm’s various stakeholders will conflict. For example, paying employees more may cut into stockholders’ profits. Balancing such demands is a major role of business managers.</a:t>
            </a:r>
          </a:p>
        </p:txBody>
      </p:sp>
      <p:pic>
        <p:nvPicPr>
          <p:cNvPr id="7" name="Picture 15">
            <a:extLst>
              <a:ext uri="{FF2B5EF4-FFF2-40B4-BE49-F238E27FC236}">
                <a16:creationId xmlns:a16="http://schemas.microsoft.com/office/drawing/2014/main" id="{21DFAA32-3FAB-4CEE-A4A8-7D612A65F62C}"/>
              </a:ext>
            </a:extLst>
          </p:cNvPr>
          <p:cNvPicPr>
            <a:picLocks noChangeAspect="1"/>
          </p:cNvPicPr>
          <p:nvPr/>
        </p:nvPicPr>
        <p:blipFill>
          <a:blip r:embed="rId3"/>
          <a:srcRect/>
          <a:stretch/>
        </p:blipFill>
        <p:spPr>
          <a:xfrm>
            <a:off x="3212123" y="940332"/>
            <a:ext cx="5784158" cy="5335628"/>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endParaRPr lang="en-US" dirty="0">
              <a:latin typeface="+mn-lt"/>
            </a:endParaRPr>
          </a:p>
        </p:txBody>
      </p:sp>
    </p:spTree>
    <p:extLst>
      <p:ext uri="{BB962C8B-B14F-4D97-AF65-F5344CB8AC3E}">
        <p14:creationId xmlns:p14="http://schemas.microsoft.com/office/powerpoint/2010/main" val="1060718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8</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0"/>
            <a:ext cx="8458200" cy="3104371"/>
          </a:xfrm>
        </p:spPr>
        <p:txBody>
          <a:bodyPr>
            <a:normAutofit/>
          </a:bodyPr>
          <a:lstStyle/>
          <a:p>
            <a:r>
              <a:rPr lang="en-US" altLang="en-US" sz="2800" b="1" dirty="0">
                <a:latin typeface="+mn-lt"/>
              </a:rPr>
              <a:t>Outsourcing</a:t>
            </a:r>
            <a:r>
              <a:rPr lang="en-US" altLang="en-US" sz="2800" dirty="0">
                <a:latin typeface="+mn-lt"/>
              </a:rPr>
              <a:t> — Contracting with other companies (often in other countries) to do some functions of a firm, like production or accounting.</a:t>
            </a:r>
          </a:p>
          <a:p>
            <a:pPr lvl="1"/>
            <a:r>
              <a:rPr lang="en-US" altLang="en-US" sz="2400" dirty="0">
                <a:latin typeface="+mn-lt"/>
              </a:rPr>
              <a:t>Many foreign companies are opening design and production facilities in the United States, called </a:t>
            </a:r>
            <a:r>
              <a:rPr lang="en-US" altLang="en-US" sz="2400" i="1" dirty="0">
                <a:latin typeface="+mn-lt"/>
              </a:rPr>
              <a:t>insourcing</a:t>
            </a:r>
            <a:r>
              <a:rPr lang="en-US" altLang="en-US" sz="2400" dirty="0">
                <a:latin typeface="+mn-lt"/>
              </a:rPr>
              <a:t>.</a:t>
            </a:r>
            <a:endParaRPr lang="en-US" sz="2400" noProof="0" dirty="0">
              <a:latin typeface="+mn-lt"/>
            </a:endParaRPr>
          </a:p>
        </p:txBody>
      </p:sp>
    </p:spTree>
    <p:extLst>
      <p:ext uri="{BB962C8B-B14F-4D97-AF65-F5344CB8AC3E}">
        <p14:creationId xmlns:p14="http://schemas.microsoft.com/office/powerpoint/2010/main" val="922227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p:txBody>
          <a:bodyPr>
            <a:normAutofit/>
          </a:bodyPr>
          <a:lstStyle/>
          <a:p>
            <a:r>
              <a:rPr lang="en-US" altLang="en-US" noProof="0" dirty="0">
                <a:latin typeface="+mn-lt"/>
              </a:rPr>
              <a:t>Business and Wealth Building </a:t>
            </a:r>
            <a:r>
              <a:rPr lang="en-US" altLang="en-US" sz="1000" b="0" noProof="0" dirty="0">
                <a:latin typeface="+mn-lt"/>
              </a:rPr>
              <a:t>9</a:t>
            </a:r>
            <a:endParaRPr lang="en-US" sz="10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p:txBody>
          <a:bodyPr>
            <a:normAutofit/>
          </a:bodyPr>
          <a:lstStyle/>
          <a:p>
            <a:pPr>
              <a:spcAft>
                <a:spcPts val="600"/>
              </a:spcAft>
            </a:pPr>
            <a:r>
              <a:rPr lang="en-US" altLang="en-US" sz="2600" dirty="0">
                <a:latin typeface="+mn-lt"/>
              </a:rPr>
              <a:t>Using Business Principles in Nonprofit Organizations</a:t>
            </a:r>
            <a:endParaRPr lang="en-US" altLang="en-US" sz="2600" noProof="0" dirty="0">
              <a:latin typeface="+mn-lt"/>
            </a:endParaRPr>
          </a:p>
          <a:p>
            <a:pPr lvl="1">
              <a:spcAft>
                <a:spcPts val="600"/>
              </a:spcAft>
            </a:pPr>
            <a:r>
              <a:rPr lang="en-US" altLang="en-US" b="1" dirty="0">
                <a:latin typeface="+mn-lt"/>
              </a:rPr>
              <a:t>Nonprofit organization</a:t>
            </a:r>
            <a:r>
              <a:rPr lang="en-US" altLang="en-US" dirty="0">
                <a:latin typeface="+mn-lt"/>
              </a:rPr>
              <a:t> — An organization whose goals do not include making a personal profit for its owners or organizers.</a:t>
            </a:r>
          </a:p>
          <a:p>
            <a:pPr lvl="1">
              <a:spcAft>
                <a:spcPts val="600"/>
              </a:spcAft>
            </a:pPr>
            <a:r>
              <a:rPr lang="en-US" altLang="en-US" dirty="0">
                <a:latin typeface="+mn-lt"/>
              </a:rPr>
              <a:t>Nonprofit organizations use financial gains to meet social or educational goals.</a:t>
            </a:r>
            <a:endParaRPr lang="en-US" noProof="0" dirty="0">
              <a:latin typeface="+mn-lt"/>
            </a:endParaRPr>
          </a:p>
        </p:txBody>
      </p:sp>
      <p:sp>
        <p:nvSpPr>
          <p:cNvPr id="5" name="Text Placeholder 4">
            <a:extLst>
              <a:ext uri="{FF2B5EF4-FFF2-40B4-BE49-F238E27FC236}">
                <a16:creationId xmlns:a16="http://schemas.microsoft.com/office/drawing/2014/main" id="{50D263FA-704C-4B0C-13C0-7A09EADA75F3}"/>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008436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latin typeface="+mn-lt"/>
              </a:rPr>
              <a:t>Management in Nonprofit Organizations</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444137" y="1276708"/>
            <a:ext cx="8458201" cy="4702061"/>
          </a:xfrm>
        </p:spPr>
        <p:txBody>
          <a:bodyPr>
            <a:noAutofit/>
          </a:bodyPr>
          <a:lstStyle/>
          <a:p>
            <a:r>
              <a:rPr lang="en-US" sz="2200" dirty="0"/>
              <a:t>The goals of nonprofit organizations are social and educational, not profit-oriented. The American Red Cross, for example, provides assistance to millions of people annually, from refugees to victims of natural disasters like floods. </a:t>
            </a:r>
            <a:r>
              <a:rPr lang="en-US" sz="2200" b="1" i="1" dirty="0"/>
              <a:t>Why do good management principles apply equally to profit-seeking businesses and nonprofit organizations? </a:t>
            </a:r>
            <a:endParaRPr lang="en-US" sz="2200" b="1" i="1" dirty="0">
              <a:latin typeface="+mn-lt"/>
            </a:endParaRPr>
          </a:p>
        </p:txBody>
      </p:sp>
      <p:pic>
        <p:nvPicPr>
          <p:cNvPr id="7" name="Picture 8">
            <a:extLst>
              <a:ext uri="{FF2B5EF4-FFF2-40B4-BE49-F238E27FC236}">
                <a16:creationId xmlns:a16="http://schemas.microsoft.com/office/drawing/2014/main" id="{DE0A4F3D-8E5F-47EB-A919-13B69B546E20}"/>
              </a:ext>
            </a:extLst>
          </p:cNvPr>
          <p:cNvPicPr>
            <a:picLocks noChangeAspect="1"/>
          </p:cNvPicPr>
          <p:nvPr/>
        </p:nvPicPr>
        <p:blipFill>
          <a:blip r:embed="rId3"/>
          <a:srcRect/>
          <a:stretch/>
        </p:blipFill>
        <p:spPr>
          <a:xfrm>
            <a:off x="2377439" y="3429000"/>
            <a:ext cx="4687601" cy="3121161"/>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latin typeface="+mn-lt"/>
              </a:rPr>
              <a:t>Andrew Theodorakis/Getty Images News/Getty Images</a:t>
            </a:r>
          </a:p>
        </p:txBody>
      </p:sp>
    </p:spTree>
    <p:extLst>
      <p:ext uri="{BB962C8B-B14F-4D97-AF65-F5344CB8AC3E}">
        <p14:creationId xmlns:p14="http://schemas.microsoft.com/office/powerpoint/2010/main" val="334173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5585-4A9F-4D7F-A628-E658377732E5}"/>
              </a:ext>
            </a:extLst>
          </p:cNvPr>
          <p:cNvSpPr>
            <a:spLocks noGrp="1"/>
          </p:cNvSpPr>
          <p:nvPr>
            <p:ph type="title"/>
          </p:nvPr>
        </p:nvSpPr>
        <p:spPr/>
        <p:txBody>
          <a:bodyPr>
            <a:noAutofit/>
          </a:bodyPr>
          <a:lstStyle/>
          <a:p>
            <a:r>
              <a:rPr lang="en-US" dirty="0">
                <a:latin typeface="+mn-lt"/>
              </a:rPr>
              <a:t>What Employees Want</a:t>
            </a:r>
          </a:p>
        </p:txBody>
      </p:sp>
      <p:sp>
        <p:nvSpPr>
          <p:cNvPr id="3" name="Content Placeholder 2">
            <a:extLst>
              <a:ext uri="{FF2B5EF4-FFF2-40B4-BE49-F238E27FC236}">
                <a16:creationId xmlns:a16="http://schemas.microsoft.com/office/drawing/2014/main" id="{4B697878-0BFA-422C-9646-0EC2E58F2861}"/>
              </a:ext>
            </a:extLst>
          </p:cNvPr>
          <p:cNvSpPr>
            <a:spLocks noGrp="1"/>
          </p:cNvSpPr>
          <p:nvPr>
            <p:ph sz="quarter" idx="11"/>
          </p:nvPr>
        </p:nvSpPr>
        <p:spPr>
          <a:xfrm>
            <a:off x="1353312" y="1153275"/>
            <a:ext cx="7447788" cy="5234462"/>
          </a:xfrm>
        </p:spPr>
        <p:txBody>
          <a:bodyPr>
            <a:normAutofit fontScale="92500" lnSpcReduction="20000"/>
          </a:bodyPr>
          <a:lstStyle/>
          <a:p>
            <a:pPr>
              <a:spcBef>
                <a:spcPts val="600"/>
              </a:spcBef>
            </a:pPr>
            <a:r>
              <a:rPr lang="en-US" sz="2600" dirty="0"/>
              <a:t>Employees are seeking more value from their jobs, namely:</a:t>
            </a:r>
          </a:p>
          <a:p>
            <a:pPr marL="339725" indent="-339725" algn="l">
              <a:spcBef>
                <a:spcPts val="600"/>
              </a:spcBef>
              <a:buFont typeface="+mj-lt"/>
              <a:buAutoNum type="arabicPeriod"/>
            </a:pPr>
            <a:r>
              <a:rPr lang="en-US" b="1" i="0" dirty="0">
                <a:solidFill>
                  <a:srgbClr val="000000"/>
                </a:solidFill>
                <a:effectLst/>
              </a:rPr>
              <a:t>Deeper connections. </a:t>
            </a:r>
            <a:r>
              <a:rPr lang="en-US" b="0" i="0" dirty="0">
                <a:solidFill>
                  <a:srgbClr val="000000"/>
                </a:solidFill>
                <a:effectLst/>
              </a:rPr>
              <a:t>Feeling understood through family and community connections, not just work relationships</a:t>
            </a:r>
          </a:p>
          <a:p>
            <a:pPr marL="339725" indent="-339725" algn="l">
              <a:spcBef>
                <a:spcPts val="600"/>
              </a:spcBef>
              <a:buFont typeface="+mj-lt"/>
              <a:buAutoNum type="arabicPeriod"/>
            </a:pPr>
            <a:r>
              <a:rPr lang="en-US" b="1" i="0" dirty="0">
                <a:solidFill>
                  <a:srgbClr val="000000"/>
                </a:solidFill>
                <a:effectLst/>
              </a:rPr>
              <a:t>Radical flexibility.</a:t>
            </a:r>
            <a:r>
              <a:rPr lang="en-US" b="0" i="0" dirty="0">
                <a:solidFill>
                  <a:srgbClr val="000000"/>
                </a:solidFill>
                <a:effectLst/>
              </a:rPr>
              <a:t> Feeling autonomous in all aspects of work, not just when and where it gets done</a:t>
            </a:r>
          </a:p>
          <a:p>
            <a:pPr marL="339725" indent="-339725" algn="l">
              <a:spcBef>
                <a:spcPts val="600"/>
              </a:spcBef>
              <a:buFont typeface="+mj-lt"/>
              <a:buAutoNum type="arabicPeriod"/>
            </a:pPr>
            <a:r>
              <a:rPr lang="en-US" b="1" i="0" dirty="0">
                <a:solidFill>
                  <a:srgbClr val="000000"/>
                </a:solidFill>
                <a:effectLst/>
              </a:rPr>
              <a:t>Personal growth.</a:t>
            </a:r>
            <a:r>
              <a:rPr lang="en-US" b="0" i="0" dirty="0">
                <a:solidFill>
                  <a:srgbClr val="000000"/>
                </a:solidFill>
                <a:effectLst/>
              </a:rPr>
              <a:t> Feeling valued through growth as a person, not just as a professional</a:t>
            </a:r>
          </a:p>
          <a:p>
            <a:pPr marL="339725" indent="-339725" algn="l">
              <a:spcBef>
                <a:spcPts val="600"/>
              </a:spcBef>
              <a:buFont typeface="+mj-lt"/>
              <a:buAutoNum type="arabicPeriod"/>
            </a:pPr>
            <a:r>
              <a:rPr lang="en-US" b="1" i="0" dirty="0">
                <a:solidFill>
                  <a:srgbClr val="000000"/>
                </a:solidFill>
                <a:effectLst/>
              </a:rPr>
              <a:t>Holistic well-being.</a:t>
            </a:r>
            <a:r>
              <a:rPr lang="en-US" b="0" i="0" dirty="0">
                <a:solidFill>
                  <a:srgbClr val="000000"/>
                </a:solidFill>
                <a:effectLst/>
              </a:rPr>
              <a:t> Feeling cared for by ensuring holistic well-being offerings are used, not just available</a:t>
            </a:r>
          </a:p>
          <a:p>
            <a:pPr marL="339725" indent="-339725" algn="l">
              <a:spcBef>
                <a:spcPts val="600"/>
              </a:spcBef>
              <a:buFont typeface="+mj-lt"/>
              <a:buAutoNum type="arabicPeriod"/>
            </a:pPr>
            <a:r>
              <a:rPr lang="en-US" b="1" i="0" dirty="0">
                <a:solidFill>
                  <a:srgbClr val="000000"/>
                </a:solidFill>
                <a:effectLst/>
              </a:rPr>
              <a:t>Shared purpose. </a:t>
            </a:r>
            <a:r>
              <a:rPr lang="en-US" b="0" i="0" dirty="0">
                <a:solidFill>
                  <a:srgbClr val="000000"/>
                </a:solidFill>
                <a:effectLst/>
              </a:rPr>
              <a:t>Feeling invested in the organization by taking concrete action on purpose, not just through corporate statements</a:t>
            </a:r>
          </a:p>
          <a:p>
            <a:endParaRPr lang="en-US" dirty="0">
              <a:latin typeface="+mn-lt"/>
            </a:endParaRPr>
          </a:p>
        </p:txBody>
      </p:sp>
      <p:sp>
        <p:nvSpPr>
          <p:cNvPr id="14" name="Text Placeholder 13">
            <a:extLst>
              <a:ext uri="{FF2B5EF4-FFF2-40B4-BE49-F238E27FC236}">
                <a16:creationId xmlns:a16="http://schemas.microsoft.com/office/drawing/2014/main" id="{ABB1B6CC-3348-ACAA-EE84-8874BBD9ED80}"/>
              </a:ext>
            </a:extLst>
          </p:cNvPr>
          <p:cNvSpPr>
            <a:spLocks noGrp="1"/>
          </p:cNvSpPr>
          <p:nvPr>
            <p:ph type="body" sz="quarter" idx="13"/>
          </p:nvPr>
        </p:nvSpPr>
        <p:spPr/>
        <p:txBody>
          <a:bodyPr/>
          <a:lstStyle/>
          <a:p>
            <a:r>
              <a:rPr lang="en-US" dirty="0"/>
              <a:t>Source: </a:t>
            </a:r>
            <a:r>
              <a:rPr lang="en-US" dirty="0">
                <a:hlinkClick r:id="rId3"/>
              </a:rPr>
              <a:t>https://www.gartner.com/en/articles/employees-seek-personal-value-and-purpose-at-work-be-prepared-to-deliver</a:t>
            </a:r>
            <a:r>
              <a:rPr lang="en-US" dirty="0"/>
              <a:t>, accessed January 2024.</a:t>
            </a:r>
          </a:p>
        </p:txBody>
      </p:sp>
      <p:sp>
        <p:nvSpPr>
          <p:cNvPr id="6" name="Text Placeholder 5">
            <a:extLst>
              <a:ext uri="{FF2B5EF4-FFF2-40B4-BE49-F238E27FC236}">
                <a16:creationId xmlns:a16="http://schemas.microsoft.com/office/drawing/2014/main" id="{9FED9EBB-C627-9CB9-1379-C45DA15991F9}"/>
              </a:ext>
            </a:extLst>
          </p:cNvPr>
          <p:cNvSpPr>
            <a:spLocks noGrp="1"/>
          </p:cNvSpPr>
          <p:nvPr>
            <p:ph type="body" sz="quarter" idx="14"/>
          </p:nvPr>
        </p:nvSpPr>
        <p:spPr/>
        <p:txBody>
          <a:bodyPr/>
          <a:lstStyle/>
          <a:p>
            <a:r>
              <a:rPr lang="en-US" dirty="0"/>
              <a:t>Beyond the Text</a:t>
            </a:r>
          </a:p>
        </p:txBody>
      </p:sp>
    </p:spTree>
    <p:extLst>
      <p:ext uri="{BB962C8B-B14F-4D97-AF65-F5344CB8AC3E}">
        <p14:creationId xmlns:p14="http://schemas.microsoft.com/office/powerpoint/2010/main" val="3525320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a:xfrm>
            <a:off x="342899" y="147328"/>
            <a:ext cx="3123781" cy="993554"/>
          </a:xfrm>
        </p:spPr>
        <p:txBody>
          <a:bodyPr>
            <a:normAutofit/>
          </a:bodyPr>
          <a:lstStyle/>
          <a:p>
            <a:r>
              <a:rPr lang="en-US" altLang="en-US" sz="4000" dirty="0">
                <a:latin typeface="+mn-lt"/>
              </a:rPr>
              <a:t>TEST</a:t>
            </a:r>
            <a:r>
              <a:rPr lang="en-US" altLang="en-US" sz="4000" dirty="0">
                <a:solidFill>
                  <a:srgbClr val="0070C0"/>
                </a:solidFill>
                <a:latin typeface="+mn-lt"/>
              </a:rPr>
              <a:t>PREP</a:t>
            </a:r>
            <a:r>
              <a:rPr lang="en-US" altLang="en-US" sz="4000" dirty="0">
                <a:latin typeface="+mn-lt"/>
              </a:rPr>
              <a:t> </a:t>
            </a:r>
            <a:r>
              <a:rPr lang="en-US" altLang="en-US" sz="1000" b="0" dirty="0">
                <a:latin typeface="+mn-lt"/>
              </a:rPr>
              <a:t>1</a:t>
            </a:r>
            <a:endParaRPr lang="en-US" sz="11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0"/>
            <a:ext cx="8458200" cy="3626030"/>
          </a:xfrm>
        </p:spPr>
        <p:txBody>
          <a:bodyPr>
            <a:normAutofit/>
          </a:bodyPr>
          <a:lstStyle/>
          <a:p>
            <a:pPr marL="291600" indent="-291600">
              <a:spcBef>
                <a:spcPts val="1200"/>
              </a:spcBef>
              <a:spcAft>
                <a:spcPts val="600"/>
              </a:spcAft>
              <a:buFont typeface="Arial" panose="020B0604020202020204" pitchFamily="34" charset="0"/>
              <a:buChar char="•"/>
            </a:pPr>
            <a:r>
              <a:rPr lang="en-US" altLang="en-US" dirty="0">
                <a:solidFill>
                  <a:schemeClr val="tx1"/>
                </a:solidFill>
                <a:latin typeface="+mn-lt"/>
              </a:rPr>
              <a:t>What is</a:t>
            </a:r>
            <a:r>
              <a:rPr lang="en-US" altLang="ja-JP" dirty="0">
                <a:solidFill>
                  <a:schemeClr val="tx1"/>
                </a:solidFill>
                <a:latin typeface="+mn-lt"/>
              </a:rPr>
              <a:t> the difference between </a:t>
            </a:r>
            <a:r>
              <a:rPr lang="en-US" altLang="ja-JP" i="1" dirty="0">
                <a:solidFill>
                  <a:schemeClr val="tx1"/>
                </a:solidFill>
                <a:latin typeface="+mn-lt"/>
              </a:rPr>
              <a:t>revenue</a:t>
            </a:r>
            <a:r>
              <a:rPr lang="en-US" altLang="ja-JP" dirty="0">
                <a:solidFill>
                  <a:schemeClr val="tx1"/>
                </a:solidFill>
                <a:latin typeface="+mn-lt"/>
              </a:rPr>
              <a:t> and </a:t>
            </a:r>
            <a:r>
              <a:rPr lang="en-US" altLang="ja-JP" i="1" dirty="0">
                <a:solidFill>
                  <a:schemeClr val="tx1"/>
                </a:solidFill>
                <a:latin typeface="+mn-lt"/>
              </a:rPr>
              <a:t>profit</a:t>
            </a:r>
            <a:r>
              <a:rPr lang="en-US" altLang="ja-JP" dirty="0">
                <a:solidFill>
                  <a:schemeClr val="tx1"/>
                </a:solidFill>
                <a:latin typeface="+mn-lt"/>
              </a:rPr>
              <a:t>?</a:t>
            </a:r>
          </a:p>
          <a:p>
            <a:pPr marL="291600" indent="-291600">
              <a:spcBef>
                <a:spcPts val="1200"/>
              </a:spcBef>
              <a:spcAft>
                <a:spcPts val="600"/>
              </a:spcAft>
              <a:buFont typeface="Arial" panose="020B0604020202020204" pitchFamily="34" charset="0"/>
              <a:buChar char="•"/>
            </a:pPr>
            <a:r>
              <a:rPr lang="en-US" altLang="en-US" dirty="0">
                <a:solidFill>
                  <a:schemeClr val="tx1"/>
                </a:solidFill>
                <a:latin typeface="+mn-lt"/>
              </a:rPr>
              <a:t>What</a:t>
            </a:r>
            <a:r>
              <a:rPr lang="en-US" altLang="ja-JP" dirty="0">
                <a:solidFill>
                  <a:schemeClr val="tx1"/>
                </a:solidFill>
                <a:latin typeface="+mn-lt"/>
              </a:rPr>
              <a:t> is the difference between </a:t>
            </a:r>
            <a:r>
              <a:rPr lang="en-US" altLang="ja-JP" i="1" dirty="0">
                <a:solidFill>
                  <a:schemeClr val="tx1"/>
                </a:solidFill>
                <a:latin typeface="+mn-lt"/>
              </a:rPr>
              <a:t>standard of living </a:t>
            </a:r>
            <a:r>
              <a:rPr lang="en-US" altLang="ja-JP" dirty="0">
                <a:solidFill>
                  <a:schemeClr val="tx1"/>
                </a:solidFill>
                <a:latin typeface="+mn-lt"/>
              </a:rPr>
              <a:t>and </a:t>
            </a:r>
            <a:r>
              <a:rPr lang="en-US" altLang="ja-JP" i="1" dirty="0">
                <a:solidFill>
                  <a:schemeClr val="tx1"/>
                </a:solidFill>
                <a:latin typeface="+mn-lt"/>
              </a:rPr>
              <a:t>quality of life</a:t>
            </a:r>
            <a:r>
              <a:rPr lang="en-US" altLang="ja-JP" dirty="0">
                <a:solidFill>
                  <a:schemeClr val="tx1"/>
                </a:solidFill>
                <a:latin typeface="+mn-lt"/>
              </a:rPr>
              <a:t>?</a:t>
            </a:r>
          </a:p>
          <a:p>
            <a:pPr marL="291600" indent="-291600">
              <a:spcBef>
                <a:spcPts val="1200"/>
              </a:spcBef>
              <a:spcAft>
                <a:spcPts val="600"/>
              </a:spcAft>
              <a:buFont typeface="Arial" panose="020B0604020202020204" pitchFamily="34" charset="0"/>
              <a:buChar char="•"/>
            </a:pPr>
            <a:r>
              <a:rPr lang="en-US" altLang="en-US" dirty="0">
                <a:solidFill>
                  <a:schemeClr val="tx1"/>
                </a:solidFill>
                <a:latin typeface="+mn-lt"/>
              </a:rPr>
              <a:t>What</a:t>
            </a:r>
            <a:r>
              <a:rPr lang="en-US" altLang="ja-JP" dirty="0">
                <a:solidFill>
                  <a:schemeClr val="tx1"/>
                </a:solidFill>
                <a:latin typeface="+mn-lt"/>
              </a:rPr>
              <a:t> is </a:t>
            </a:r>
            <a:r>
              <a:rPr lang="en-US" altLang="ja-JP" i="1" dirty="0">
                <a:solidFill>
                  <a:schemeClr val="tx1"/>
                </a:solidFill>
                <a:latin typeface="+mn-lt"/>
              </a:rPr>
              <a:t>risk</a:t>
            </a:r>
            <a:r>
              <a:rPr lang="en-US" altLang="ja-JP" dirty="0">
                <a:solidFill>
                  <a:schemeClr val="tx1"/>
                </a:solidFill>
                <a:latin typeface="+mn-lt"/>
              </a:rPr>
              <a:t>, and how is it related to </a:t>
            </a:r>
            <a:r>
              <a:rPr lang="en-US" altLang="ja-JP" i="1" dirty="0">
                <a:solidFill>
                  <a:schemeClr val="tx1"/>
                </a:solidFill>
                <a:latin typeface="+mn-lt"/>
              </a:rPr>
              <a:t>profit</a:t>
            </a:r>
            <a:r>
              <a:rPr lang="en-US" altLang="ja-JP" dirty="0">
                <a:solidFill>
                  <a:schemeClr val="tx1"/>
                </a:solidFill>
                <a:latin typeface="+mn-lt"/>
              </a:rPr>
              <a:t>?</a:t>
            </a:r>
          </a:p>
          <a:p>
            <a:pPr marL="291600" indent="-291600">
              <a:spcBef>
                <a:spcPts val="1200"/>
              </a:spcBef>
              <a:spcAft>
                <a:spcPts val="600"/>
              </a:spcAft>
              <a:buFont typeface="Arial" panose="020B0604020202020204" pitchFamily="34" charset="0"/>
              <a:buChar char="•"/>
            </a:pPr>
            <a:r>
              <a:rPr lang="en-US" altLang="en-US" dirty="0">
                <a:solidFill>
                  <a:schemeClr val="tx1"/>
                </a:solidFill>
                <a:latin typeface="+mn-lt"/>
              </a:rPr>
              <a:t>What do the terms </a:t>
            </a:r>
            <a:r>
              <a:rPr lang="en-US" altLang="en-US" i="1" dirty="0">
                <a:solidFill>
                  <a:schemeClr val="tx1"/>
                </a:solidFill>
                <a:latin typeface="+mn-lt"/>
              </a:rPr>
              <a:t>stakeholders</a:t>
            </a:r>
            <a:r>
              <a:rPr lang="en-US" altLang="en-US" dirty="0">
                <a:solidFill>
                  <a:schemeClr val="tx1"/>
                </a:solidFill>
                <a:latin typeface="+mn-lt"/>
              </a:rPr>
              <a:t>, </a:t>
            </a:r>
            <a:r>
              <a:rPr lang="en-US" altLang="en-US" i="1" dirty="0">
                <a:solidFill>
                  <a:schemeClr val="tx1"/>
                </a:solidFill>
                <a:latin typeface="+mn-lt"/>
              </a:rPr>
              <a:t>outsourcing</a:t>
            </a:r>
            <a:r>
              <a:rPr lang="en-US" altLang="en-US" dirty="0">
                <a:solidFill>
                  <a:schemeClr val="tx1"/>
                </a:solidFill>
                <a:latin typeface="+mn-lt"/>
              </a:rPr>
              <a:t>, and </a:t>
            </a:r>
            <a:r>
              <a:rPr lang="en-US" altLang="en-US" i="1" dirty="0">
                <a:solidFill>
                  <a:schemeClr val="tx1"/>
                </a:solidFill>
                <a:latin typeface="+mn-lt"/>
              </a:rPr>
              <a:t>insourcing</a:t>
            </a:r>
            <a:r>
              <a:rPr lang="en-US" altLang="en-US" dirty="0">
                <a:solidFill>
                  <a:schemeClr val="tx1"/>
                </a:solidFill>
                <a:latin typeface="+mn-lt"/>
              </a:rPr>
              <a:t> mean?</a:t>
            </a:r>
            <a:endParaRPr lang="en-US" altLang="ja-JP" dirty="0">
              <a:solidFill>
                <a:schemeClr val="tx1"/>
              </a:solidFill>
              <a:latin typeface="+mn-lt"/>
            </a:endParaRPr>
          </a:p>
        </p:txBody>
      </p:sp>
    </p:spTree>
    <p:extLst>
      <p:ext uri="{BB962C8B-B14F-4D97-AF65-F5344CB8AC3E}">
        <p14:creationId xmlns:p14="http://schemas.microsoft.com/office/powerpoint/2010/main" val="949868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77850-C7CA-4546-A6FA-C3B149F3597B}"/>
              </a:ext>
            </a:extLst>
          </p:cNvPr>
          <p:cNvSpPr>
            <a:spLocks noGrp="1"/>
          </p:cNvSpPr>
          <p:nvPr>
            <p:ph type="title"/>
          </p:nvPr>
        </p:nvSpPr>
        <p:spPr/>
        <p:txBody>
          <a:bodyPr>
            <a:noAutofit/>
          </a:bodyPr>
          <a:lstStyle/>
          <a:p>
            <a:r>
              <a:rPr lang="en-US" dirty="0">
                <a:solidFill>
                  <a:srgbClr val="0070C0"/>
                </a:solidFill>
                <a:latin typeface="+mn-lt"/>
              </a:rPr>
              <a:t>The Importance of Entrepreneurs to the Creation of Wealth </a:t>
            </a:r>
            <a:r>
              <a:rPr lang="en-US" sz="1000" b="0" dirty="0">
                <a:solidFill>
                  <a:srgbClr val="0070C0"/>
                </a:solidFill>
                <a:latin typeface="+mn-lt"/>
              </a:rPr>
              <a:t>1</a:t>
            </a:r>
          </a:p>
        </p:txBody>
      </p:sp>
      <p:sp>
        <p:nvSpPr>
          <p:cNvPr id="3" name="Content Placeholder 2">
            <a:extLst>
              <a:ext uri="{FF2B5EF4-FFF2-40B4-BE49-F238E27FC236}">
                <a16:creationId xmlns:a16="http://schemas.microsoft.com/office/drawing/2014/main" id="{596884DE-A4D6-42C7-9145-F568D5BDDBCE}"/>
              </a:ext>
            </a:extLst>
          </p:cNvPr>
          <p:cNvSpPr>
            <a:spLocks noGrp="1"/>
          </p:cNvSpPr>
          <p:nvPr>
            <p:ph sz="quarter" idx="11"/>
          </p:nvPr>
        </p:nvSpPr>
        <p:spPr>
          <a:xfrm>
            <a:off x="342900" y="1276710"/>
            <a:ext cx="4076700" cy="2601954"/>
          </a:xfrm>
        </p:spPr>
        <p:txBody>
          <a:bodyPr/>
          <a:lstStyle/>
          <a:p>
            <a:pPr>
              <a:spcBef>
                <a:spcPts val="1000"/>
              </a:spcBef>
              <a:spcAft>
                <a:spcPts val="0"/>
              </a:spcAft>
            </a:pPr>
            <a:r>
              <a:rPr lang="en-US" altLang="en-US" sz="2800" dirty="0">
                <a:latin typeface="+mn-lt"/>
              </a:rPr>
              <a:t>Positives to Being an Entrepreneur</a:t>
            </a:r>
          </a:p>
          <a:p>
            <a:pPr lvl="1">
              <a:spcBef>
                <a:spcPts val="1000"/>
              </a:spcBef>
              <a:spcAft>
                <a:spcPts val="0"/>
              </a:spcAft>
            </a:pPr>
            <a:r>
              <a:rPr lang="en-US" altLang="en-US" sz="2400" dirty="0">
                <a:latin typeface="+mn-lt"/>
              </a:rPr>
              <a:t>Freedom to succeed</a:t>
            </a:r>
          </a:p>
          <a:p>
            <a:pPr lvl="1">
              <a:spcBef>
                <a:spcPts val="1000"/>
              </a:spcBef>
              <a:spcAft>
                <a:spcPts val="0"/>
              </a:spcAft>
            </a:pPr>
            <a:r>
              <a:rPr lang="en-US" altLang="en-US" sz="2400" dirty="0">
                <a:latin typeface="+mn-lt"/>
              </a:rPr>
              <a:t>Make own decisions</a:t>
            </a:r>
          </a:p>
          <a:p>
            <a:pPr lvl="1">
              <a:spcBef>
                <a:spcPts val="1000"/>
              </a:spcBef>
              <a:spcAft>
                <a:spcPts val="0"/>
              </a:spcAft>
            </a:pPr>
            <a:r>
              <a:rPr lang="en-US" altLang="en-US" sz="2400" dirty="0">
                <a:latin typeface="+mn-lt"/>
              </a:rPr>
              <a:t>Possible wealth</a:t>
            </a:r>
            <a:endParaRPr lang="en-US" sz="2400" dirty="0">
              <a:latin typeface="+mn-lt"/>
            </a:endParaRPr>
          </a:p>
        </p:txBody>
      </p:sp>
      <p:sp>
        <p:nvSpPr>
          <p:cNvPr id="4" name="Content Placeholder 3">
            <a:extLst>
              <a:ext uri="{FF2B5EF4-FFF2-40B4-BE49-F238E27FC236}">
                <a16:creationId xmlns:a16="http://schemas.microsoft.com/office/drawing/2014/main" id="{A049EA81-B9BE-4687-ACC1-17597CD3DB91}"/>
              </a:ext>
            </a:extLst>
          </p:cNvPr>
          <p:cNvSpPr>
            <a:spLocks noGrp="1"/>
          </p:cNvSpPr>
          <p:nvPr>
            <p:ph sz="quarter" idx="14"/>
          </p:nvPr>
        </p:nvSpPr>
        <p:spPr>
          <a:xfrm>
            <a:off x="4724400" y="1257301"/>
            <a:ext cx="4076700" cy="2621364"/>
          </a:xfrm>
        </p:spPr>
        <p:txBody>
          <a:bodyPr/>
          <a:lstStyle/>
          <a:p>
            <a:pPr>
              <a:spcBef>
                <a:spcPts val="1000"/>
              </a:spcBef>
              <a:spcAft>
                <a:spcPts val="0"/>
              </a:spcAft>
            </a:pPr>
            <a:r>
              <a:rPr lang="en-US" sz="2800" dirty="0">
                <a:latin typeface="+mn-lt"/>
              </a:rPr>
              <a:t>Negatives to Being an Entrepreneur</a:t>
            </a:r>
          </a:p>
          <a:p>
            <a:pPr marL="291600" lvl="1" indent="-291600">
              <a:spcBef>
                <a:spcPts val="1000"/>
              </a:spcBef>
              <a:spcAft>
                <a:spcPts val="0"/>
              </a:spcAft>
            </a:pPr>
            <a:r>
              <a:rPr lang="en-US" sz="2400" dirty="0">
                <a:latin typeface="+mn-lt"/>
              </a:rPr>
              <a:t>Freedom to fail</a:t>
            </a:r>
          </a:p>
          <a:p>
            <a:pPr marL="291600" lvl="1" indent="-291600">
              <a:spcBef>
                <a:spcPts val="1000"/>
              </a:spcBef>
              <a:spcAft>
                <a:spcPts val="0"/>
              </a:spcAft>
            </a:pPr>
            <a:r>
              <a:rPr lang="en-US" sz="2400" dirty="0">
                <a:latin typeface="+mn-lt"/>
              </a:rPr>
              <a:t>No paid vacations</a:t>
            </a:r>
          </a:p>
          <a:p>
            <a:pPr marL="291600" lvl="1" indent="-291600">
              <a:spcBef>
                <a:spcPts val="1000"/>
              </a:spcBef>
              <a:spcAft>
                <a:spcPts val="0"/>
              </a:spcAft>
            </a:pPr>
            <a:r>
              <a:rPr lang="en-US" sz="2400" dirty="0">
                <a:latin typeface="+mn-lt"/>
              </a:rPr>
              <a:t>No health insurance</a:t>
            </a:r>
          </a:p>
        </p:txBody>
      </p:sp>
    </p:spTree>
    <p:extLst>
      <p:ext uri="{BB962C8B-B14F-4D97-AF65-F5344CB8AC3E}">
        <p14:creationId xmlns:p14="http://schemas.microsoft.com/office/powerpoint/2010/main" val="2520522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latin typeface="+mn-lt"/>
              </a:rPr>
              <a:t>Importance of Entrepreneurs</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276708"/>
            <a:ext cx="4229100" cy="3948435"/>
          </a:xfrm>
        </p:spPr>
        <p:txBody>
          <a:bodyPr>
            <a:noAutofit/>
          </a:bodyPr>
          <a:lstStyle/>
          <a:p>
            <a:r>
              <a:rPr lang="en-US" dirty="0">
                <a:latin typeface="+mn-lt"/>
              </a:rPr>
              <a:t>To create wealth for its citizens, a country requires more than natural resources. It needs the efforts of entrepreneurs and the skill and knowledge to produce goods and services. </a:t>
            </a:r>
            <a:r>
              <a:rPr lang="en-US" b="1" i="1" dirty="0">
                <a:latin typeface="+mn-lt"/>
              </a:rPr>
              <a:t>How can government support entrepreneurship and the spread of knowledge?</a:t>
            </a:r>
          </a:p>
        </p:txBody>
      </p:sp>
      <p:pic>
        <p:nvPicPr>
          <p:cNvPr id="6" name="Picture 11">
            <a:extLst>
              <a:ext uri="{FF2B5EF4-FFF2-40B4-BE49-F238E27FC236}">
                <a16:creationId xmlns:a16="http://schemas.microsoft.com/office/drawing/2014/main" id="{15C9C522-2C42-492F-8962-60DC6592147C}"/>
              </a:ext>
            </a:extLst>
          </p:cNvPr>
          <p:cNvPicPr>
            <a:picLocks noChangeAspect="1"/>
          </p:cNvPicPr>
          <p:nvPr/>
        </p:nvPicPr>
        <p:blipFill>
          <a:blip r:embed="rId3"/>
          <a:srcRect/>
          <a:stretch/>
        </p:blipFill>
        <p:spPr>
          <a:xfrm>
            <a:off x="4820194" y="1276708"/>
            <a:ext cx="4323806" cy="4953848"/>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latin typeface="+mn-lt"/>
              </a:rPr>
              <a:t>Burke/Triolo Productions/The Image Bank/Getty Images</a:t>
            </a:r>
          </a:p>
        </p:txBody>
      </p:sp>
    </p:spTree>
    <p:extLst>
      <p:ext uri="{BB962C8B-B14F-4D97-AF65-F5344CB8AC3E}">
        <p14:creationId xmlns:p14="http://schemas.microsoft.com/office/powerpoint/2010/main" val="442505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EBD21-AA62-4373-9919-51FDB93FF188}"/>
              </a:ext>
            </a:extLst>
          </p:cNvPr>
          <p:cNvSpPr>
            <a:spLocks noGrp="1"/>
          </p:cNvSpPr>
          <p:nvPr>
            <p:ph type="title"/>
          </p:nvPr>
        </p:nvSpPr>
        <p:spPr/>
        <p:txBody>
          <a:bodyPr>
            <a:normAutofit/>
          </a:bodyPr>
          <a:lstStyle/>
          <a:p>
            <a:r>
              <a:rPr lang="en-US" dirty="0"/>
              <a:t>Women in the Workforce</a:t>
            </a:r>
          </a:p>
        </p:txBody>
      </p:sp>
      <p:sp>
        <p:nvSpPr>
          <p:cNvPr id="5" name="Text Placeholder 4">
            <a:extLst>
              <a:ext uri="{FF2B5EF4-FFF2-40B4-BE49-F238E27FC236}">
                <a16:creationId xmlns:a16="http://schemas.microsoft.com/office/drawing/2014/main" id="{54DD4461-7CB5-4482-B0B0-1D95150119BE}"/>
              </a:ext>
            </a:extLst>
          </p:cNvPr>
          <p:cNvSpPr>
            <a:spLocks noGrp="1"/>
          </p:cNvSpPr>
          <p:nvPr>
            <p:ph type="body" sz="quarter" idx="13"/>
          </p:nvPr>
        </p:nvSpPr>
        <p:spPr/>
        <p:txBody>
          <a:bodyPr/>
          <a:lstStyle/>
          <a:p>
            <a:r>
              <a:rPr lang="en-US" altLang="en-US" dirty="0">
                <a:hlinkClick r:id="rId3"/>
              </a:rPr>
              <a:t>https://www.cnn.com/2023/07/07/economy/women-labor-force-participation/index.html</a:t>
            </a:r>
            <a:r>
              <a:rPr lang="en-US" altLang="en-US" dirty="0"/>
              <a:t>, accessed January 2024.</a:t>
            </a:r>
          </a:p>
        </p:txBody>
      </p:sp>
      <p:sp>
        <p:nvSpPr>
          <p:cNvPr id="3" name="Text Placeholder 2">
            <a:extLst>
              <a:ext uri="{FF2B5EF4-FFF2-40B4-BE49-F238E27FC236}">
                <a16:creationId xmlns:a16="http://schemas.microsoft.com/office/drawing/2014/main" id="{4479C452-2546-CC4C-1F41-191FF0D76951}"/>
              </a:ext>
            </a:extLst>
          </p:cNvPr>
          <p:cNvSpPr>
            <a:spLocks noGrp="1"/>
          </p:cNvSpPr>
          <p:nvPr>
            <p:ph type="body" sz="quarter" idx="14"/>
          </p:nvPr>
        </p:nvSpPr>
        <p:spPr/>
        <p:txBody>
          <a:bodyPr/>
          <a:lstStyle/>
          <a:p>
            <a:r>
              <a:rPr lang="en-US" dirty="0"/>
              <a:t>Beyond the Text</a:t>
            </a:r>
          </a:p>
        </p:txBody>
      </p:sp>
      <p:sp>
        <p:nvSpPr>
          <p:cNvPr id="7" name="Content Placeholder 6">
            <a:extLst>
              <a:ext uri="{FF2B5EF4-FFF2-40B4-BE49-F238E27FC236}">
                <a16:creationId xmlns:a16="http://schemas.microsoft.com/office/drawing/2014/main" id="{F8F8B1F5-8083-E3D6-7845-B4116DFBA4CF}"/>
              </a:ext>
            </a:extLst>
          </p:cNvPr>
          <p:cNvSpPr>
            <a:spLocks noGrp="1"/>
          </p:cNvSpPr>
          <p:nvPr>
            <p:ph sz="quarter" idx="11"/>
          </p:nvPr>
        </p:nvSpPr>
        <p:spPr>
          <a:xfrm>
            <a:off x="1353312" y="1276709"/>
            <a:ext cx="7447788" cy="5137154"/>
          </a:xfrm>
        </p:spPr>
        <p:txBody>
          <a:bodyPr>
            <a:normAutofit lnSpcReduction="10000"/>
          </a:bodyPr>
          <a:lstStyle/>
          <a:p>
            <a:r>
              <a:rPr lang="en-US" dirty="0"/>
              <a:t>The labor force participation rate for women was at an all time high in June, 2023, after recovering from a downturn during the pandemic.</a:t>
            </a:r>
          </a:p>
          <a:p>
            <a:pPr marL="342900" indent="-342900">
              <a:buFont typeface="Arial" panose="020B0604020202020204" pitchFamily="34" charset="0"/>
              <a:buChar char="•"/>
            </a:pPr>
            <a:r>
              <a:rPr lang="en-US" dirty="0"/>
              <a:t>February 2020 – 77%</a:t>
            </a:r>
          </a:p>
          <a:p>
            <a:pPr marL="342900" indent="-342900">
              <a:buFont typeface="Arial" panose="020B0604020202020204" pitchFamily="34" charset="0"/>
              <a:buChar char="•"/>
            </a:pPr>
            <a:r>
              <a:rPr lang="en-US" dirty="0"/>
              <a:t>April 2020 – 73.5%</a:t>
            </a:r>
          </a:p>
          <a:p>
            <a:pPr marL="342900" indent="-342900">
              <a:buFont typeface="Arial" panose="020B0604020202020204" pitchFamily="34" charset="0"/>
              <a:buChar char="•"/>
            </a:pPr>
            <a:r>
              <a:rPr lang="en-US" dirty="0"/>
              <a:t>June 2023 – 77.8%</a:t>
            </a:r>
          </a:p>
          <a:p>
            <a:pPr>
              <a:spcBef>
                <a:spcPts val="2400"/>
              </a:spcBef>
            </a:pPr>
            <a:r>
              <a:rPr lang="en-US" dirty="0"/>
              <a:t>However, women are still making far less than men. For every dollar a man earned, women earned:</a:t>
            </a:r>
          </a:p>
          <a:p>
            <a:pPr lvl="1"/>
            <a:r>
              <a:rPr lang="en-US" sz="2400" dirty="0"/>
              <a:t>1982 – 65 cents</a:t>
            </a:r>
          </a:p>
          <a:p>
            <a:pPr lvl="1"/>
            <a:r>
              <a:rPr lang="en-US" sz="2400" dirty="0"/>
              <a:t>2002 – 80 cents</a:t>
            </a:r>
          </a:p>
          <a:p>
            <a:pPr lvl="1"/>
            <a:r>
              <a:rPr lang="en-US" sz="2400" dirty="0"/>
              <a:t>2022 – 82 cents</a:t>
            </a:r>
          </a:p>
        </p:txBody>
      </p:sp>
    </p:spTree>
    <p:extLst>
      <p:ext uri="{BB962C8B-B14F-4D97-AF65-F5344CB8AC3E}">
        <p14:creationId xmlns:p14="http://schemas.microsoft.com/office/powerpoint/2010/main" val="355162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solidFill>
                  <a:srgbClr val="0070C0"/>
                </a:solidFill>
                <a:latin typeface="+mn-lt"/>
              </a:rPr>
              <a:t>The Importance of Entrepreneurs to the Creation of Wealth </a:t>
            </a:r>
            <a:r>
              <a:rPr lang="en-US" altLang="en-US" sz="1000" b="0" dirty="0">
                <a:latin typeface="+mn-lt"/>
              </a:rPr>
              <a:t>2</a:t>
            </a:r>
            <a:endParaRPr lang="en-US" sz="11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0"/>
            <a:ext cx="8458200" cy="3556547"/>
          </a:xfrm>
        </p:spPr>
        <p:txBody>
          <a:bodyPr>
            <a:normAutofit/>
          </a:bodyPr>
          <a:lstStyle/>
          <a:p>
            <a:r>
              <a:rPr lang="en-US" altLang="en-US" sz="2800" dirty="0">
                <a:latin typeface="+mn-lt"/>
              </a:rPr>
              <a:t>The Five Factors of Production</a:t>
            </a:r>
          </a:p>
          <a:p>
            <a:pPr marL="0" lvl="1" indent="0">
              <a:buNone/>
            </a:pPr>
            <a:r>
              <a:rPr lang="en-US" altLang="en-US" sz="2400" b="1" dirty="0">
                <a:latin typeface="+mn-lt"/>
              </a:rPr>
              <a:t>Factors of production </a:t>
            </a:r>
            <a:r>
              <a:rPr lang="en-US" altLang="en-US" sz="2400" dirty="0">
                <a:latin typeface="+mn-lt"/>
              </a:rPr>
              <a:t>— The five resources used to create wealth:</a:t>
            </a:r>
          </a:p>
          <a:p>
            <a:pPr marL="403200" lvl="2" indent="-403200">
              <a:spcBef>
                <a:spcPts val="1000"/>
              </a:spcBef>
              <a:spcAft>
                <a:spcPts val="0"/>
              </a:spcAft>
              <a:buFont typeface="+mj-lt"/>
              <a:buAutoNum type="arabicPeriod"/>
            </a:pPr>
            <a:r>
              <a:rPr lang="en-US" altLang="en-US" sz="2000" dirty="0">
                <a:latin typeface="+mn-lt"/>
              </a:rPr>
              <a:t>Land (or natural resources)</a:t>
            </a:r>
          </a:p>
          <a:p>
            <a:pPr marL="403200" lvl="2" indent="-403200">
              <a:spcBef>
                <a:spcPts val="1000"/>
              </a:spcBef>
              <a:spcAft>
                <a:spcPts val="0"/>
              </a:spcAft>
              <a:buFont typeface="+mj-lt"/>
              <a:buAutoNum type="arabicPeriod"/>
            </a:pPr>
            <a:r>
              <a:rPr lang="en-US" altLang="en-US" sz="2000" dirty="0">
                <a:latin typeface="+mn-lt"/>
              </a:rPr>
              <a:t>Labor (workers)</a:t>
            </a:r>
          </a:p>
          <a:p>
            <a:pPr marL="403200" lvl="2" indent="-403200">
              <a:spcBef>
                <a:spcPts val="1000"/>
              </a:spcBef>
              <a:spcAft>
                <a:spcPts val="0"/>
              </a:spcAft>
              <a:buFont typeface="+mj-lt"/>
              <a:buAutoNum type="arabicPeriod"/>
            </a:pPr>
            <a:r>
              <a:rPr lang="en-US" altLang="en-US" sz="2000" dirty="0">
                <a:latin typeface="+mn-lt"/>
              </a:rPr>
              <a:t>Capital</a:t>
            </a:r>
          </a:p>
          <a:p>
            <a:pPr marL="403200" lvl="2" indent="-403200">
              <a:spcBef>
                <a:spcPts val="1000"/>
              </a:spcBef>
              <a:spcAft>
                <a:spcPts val="0"/>
              </a:spcAft>
              <a:buFont typeface="+mj-lt"/>
              <a:buAutoNum type="arabicPeriod"/>
            </a:pPr>
            <a:r>
              <a:rPr lang="en-US" altLang="en-US" sz="2000" dirty="0">
                <a:latin typeface="+mn-lt"/>
              </a:rPr>
              <a:t>Entrepreneurship</a:t>
            </a:r>
          </a:p>
          <a:p>
            <a:pPr marL="403200" lvl="2" indent="-403200">
              <a:spcBef>
                <a:spcPts val="1000"/>
              </a:spcBef>
              <a:spcAft>
                <a:spcPts val="0"/>
              </a:spcAft>
              <a:buFont typeface="+mj-lt"/>
              <a:buAutoNum type="arabicPeriod"/>
            </a:pPr>
            <a:r>
              <a:rPr lang="en-US" altLang="en-US" sz="2000" dirty="0">
                <a:latin typeface="+mn-lt"/>
              </a:rPr>
              <a:t>Knowledge</a:t>
            </a:r>
            <a:endParaRPr lang="en-US" sz="2000" dirty="0">
              <a:latin typeface="+mn-lt"/>
            </a:endParaRPr>
          </a:p>
        </p:txBody>
      </p:sp>
      <p:sp>
        <p:nvSpPr>
          <p:cNvPr id="4" name="Content Placeholder 3">
            <a:extLst>
              <a:ext uri="{FF2B5EF4-FFF2-40B4-BE49-F238E27FC236}">
                <a16:creationId xmlns:a16="http://schemas.microsoft.com/office/drawing/2014/main" id="{1DF552DD-1558-4875-A87D-0BAC02F26659}"/>
              </a:ext>
            </a:extLst>
          </p:cNvPr>
          <p:cNvSpPr>
            <a:spLocks noGrp="1"/>
          </p:cNvSpPr>
          <p:nvPr>
            <p:ph sz="quarter" idx="14"/>
          </p:nvPr>
        </p:nvSpPr>
        <p:spPr>
          <a:xfrm>
            <a:off x="342900" y="4926562"/>
            <a:ext cx="8458200" cy="890582"/>
          </a:xfrm>
        </p:spPr>
        <p:txBody>
          <a:bodyPr/>
          <a:lstStyle/>
          <a:p>
            <a:r>
              <a:rPr lang="en-US" altLang="en-US" dirty="0">
                <a:latin typeface="+mn-lt"/>
              </a:rPr>
              <a:t>What makes rich countries rich today is entrepreneurship and knowledge.</a:t>
            </a:r>
            <a:endParaRPr lang="en-US" dirty="0">
              <a:latin typeface="+mn-lt"/>
            </a:endParaRPr>
          </a:p>
        </p:txBody>
      </p:sp>
    </p:spTree>
    <p:extLst>
      <p:ext uri="{BB962C8B-B14F-4D97-AF65-F5344CB8AC3E}">
        <p14:creationId xmlns:p14="http://schemas.microsoft.com/office/powerpoint/2010/main" val="2115971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EBD21-AA62-4373-9919-51FDB93FF188}"/>
              </a:ext>
            </a:extLst>
          </p:cNvPr>
          <p:cNvSpPr>
            <a:spLocks noGrp="1"/>
          </p:cNvSpPr>
          <p:nvPr>
            <p:ph type="title"/>
          </p:nvPr>
        </p:nvSpPr>
        <p:spPr/>
        <p:txBody>
          <a:bodyPr>
            <a:normAutofit/>
          </a:bodyPr>
          <a:lstStyle/>
          <a:p>
            <a:r>
              <a:rPr lang="en-US" altLang="en-US" dirty="0">
                <a:latin typeface="+mn-lt"/>
              </a:rPr>
              <a:t>Figure 1.2: The Five Factors of Production</a:t>
            </a:r>
            <a:endParaRPr lang="en-US" dirty="0">
              <a:latin typeface="+mn-lt"/>
            </a:endParaRPr>
          </a:p>
        </p:txBody>
      </p:sp>
      <p:pic>
        <p:nvPicPr>
          <p:cNvPr id="6" name="Picture 19" descr="A diagram shows the 5 factors of production: land, labor, capital, entrepreneurship and knowledge. ">
            <a:extLst>
              <a:ext uri="{FF2B5EF4-FFF2-40B4-BE49-F238E27FC236}">
                <a16:creationId xmlns:a16="http://schemas.microsoft.com/office/drawing/2014/main" id="{0BFD6E53-1483-4DDF-A064-9486DAC126ED}"/>
              </a:ext>
            </a:extLst>
          </p:cNvPr>
          <p:cNvPicPr>
            <a:picLocks noGrp="1" noChangeAspect="1"/>
          </p:cNvPicPr>
          <p:nvPr>
            <p:ph sz="quarter" idx="11"/>
          </p:nvPr>
        </p:nvPicPr>
        <p:blipFill>
          <a:blip r:embed="rId3" cstate="screen">
            <a:extLst>
              <a:ext uri="{28A0092B-C50C-407E-A947-70E740481C1C}">
                <a14:useLocalDpi xmlns:a14="http://schemas.microsoft.com/office/drawing/2010/main"/>
              </a:ext>
            </a:extLst>
          </a:blip>
          <a:stretch>
            <a:fillRect/>
          </a:stretch>
        </p:blipFill>
        <p:spPr>
          <a:xfrm>
            <a:off x="714528" y="2120091"/>
            <a:ext cx="7830860" cy="3167149"/>
          </a:xfrm>
          <a:prstGeom prst="rect">
            <a:avLst/>
          </a:prstGeom>
        </p:spPr>
      </p:pic>
      <p:sp>
        <p:nvSpPr>
          <p:cNvPr id="5" name="Text Placeholder 4">
            <a:extLst>
              <a:ext uri="{FF2B5EF4-FFF2-40B4-BE49-F238E27FC236}">
                <a16:creationId xmlns:a16="http://schemas.microsoft.com/office/drawing/2014/main" id="{54DD4461-7CB5-4482-B0B0-1D95150119BE}"/>
              </a:ext>
            </a:extLst>
          </p:cNvPr>
          <p:cNvSpPr>
            <a:spLocks noGrp="1"/>
          </p:cNvSpPr>
          <p:nvPr>
            <p:ph type="body" sz="quarter" idx="13"/>
          </p:nvPr>
        </p:nvSpPr>
        <p:spPr>
          <a:xfrm>
            <a:off x="1562099" y="6684963"/>
            <a:ext cx="7130080" cy="173037"/>
          </a:xfrm>
        </p:spPr>
        <p:txBody>
          <a:bodyPr/>
          <a:lstStyle/>
          <a:p>
            <a:r>
              <a:rPr lang="en-US" dirty="0">
                <a:latin typeface="+mn-lt"/>
              </a:rPr>
              <a:t>Source: Drucker Institute, druckerinstitute.com, April 2017.</a:t>
            </a:r>
          </a:p>
        </p:txBody>
      </p:sp>
    </p:spTree>
    <p:extLst>
      <p:ext uri="{BB962C8B-B14F-4D97-AF65-F5344CB8AC3E}">
        <p14:creationId xmlns:p14="http://schemas.microsoft.com/office/powerpoint/2010/main" val="3424041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p:txBody>
          <a:bodyPr>
            <a:normAutofit/>
          </a:bodyPr>
          <a:lstStyle/>
          <a:p>
            <a:pPr marL="291600" indent="-291600">
              <a:spcBef>
                <a:spcPts val="1200"/>
              </a:spcBef>
              <a:buFont typeface="Arial" panose="020B0604020202020204" pitchFamily="34" charset="0"/>
              <a:buChar char="•"/>
            </a:pPr>
            <a:r>
              <a:rPr lang="en-US" altLang="en-US" dirty="0">
                <a:solidFill>
                  <a:schemeClr val="tx1"/>
                </a:solidFill>
                <a:latin typeface="+mn-lt"/>
              </a:rPr>
              <a:t>What are some of the advantages of working for others?</a:t>
            </a:r>
          </a:p>
          <a:p>
            <a:pPr marL="291600" indent="-291600">
              <a:spcBef>
                <a:spcPts val="1200"/>
              </a:spcBef>
              <a:buFont typeface="Arial" panose="020B0604020202020204" pitchFamily="34" charset="0"/>
              <a:buChar char="•"/>
            </a:pPr>
            <a:r>
              <a:rPr lang="en-US" altLang="en-US" dirty="0">
                <a:solidFill>
                  <a:schemeClr val="tx1"/>
                </a:solidFill>
                <a:latin typeface="+mn-lt"/>
              </a:rPr>
              <a:t>What benefits do you lose by being an entrepreneur, and what do you gain?</a:t>
            </a:r>
          </a:p>
          <a:p>
            <a:pPr marL="291600" indent="-291600">
              <a:spcBef>
                <a:spcPts val="1200"/>
              </a:spcBef>
              <a:buFont typeface="Arial" panose="020B0604020202020204" pitchFamily="34" charset="0"/>
              <a:buChar char="•"/>
            </a:pPr>
            <a:r>
              <a:rPr lang="en-US" altLang="en-US" dirty="0">
                <a:solidFill>
                  <a:schemeClr val="tx1"/>
                </a:solidFill>
                <a:latin typeface="+mn-lt"/>
              </a:rPr>
              <a:t>What are the five factors of production? Which ones seem to be the most important for creating wealth?</a:t>
            </a:r>
          </a:p>
        </p:txBody>
      </p:sp>
      <p:sp>
        <p:nvSpPr>
          <p:cNvPr id="6" name="Text Placeholder 5">
            <a:extLst>
              <a:ext uri="{FF2B5EF4-FFF2-40B4-BE49-F238E27FC236}">
                <a16:creationId xmlns:a16="http://schemas.microsoft.com/office/drawing/2014/main" id="{26336C06-7521-CA68-B5BE-92615D1E9A5B}"/>
              </a:ext>
            </a:extLst>
          </p:cNvPr>
          <p:cNvSpPr>
            <a:spLocks noGrp="1"/>
          </p:cNvSpPr>
          <p:nvPr>
            <p:ph type="body" sz="quarter" idx="13"/>
          </p:nvPr>
        </p:nvSpPr>
        <p:spPr/>
        <p:txBody>
          <a:bodyPr/>
          <a:lstStyle/>
          <a:p>
            <a:endParaRPr lang="en-US"/>
          </a:p>
        </p:txBody>
      </p:sp>
      <p:sp>
        <p:nvSpPr>
          <p:cNvPr id="4" name="Title 1">
            <a:extLst>
              <a:ext uri="{FF2B5EF4-FFF2-40B4-BE49-F238E27FC236}">
                <a16:creationId xmlns:a16="http://schemas.microsoft.com/office/drawing/2014/main" id="{5ED1DA28-E03E-8ECC-603E-7358EDD0ABE4}"/>
              </a:ext>
            </a:extLst>
          </p:cNvPr>
          <p:cNvSpPr txBox="1">
            <a:spLocks/>
          </p:cNvSpPr>
          <p:nvPr/>
        </p:nvSpPr>
        <p:spPr>
          <a:xfrm>
            <a:off x="342900" y="270294"/>
            <a:ext cx="3505768" cy="6786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altLang="en-US" sz="4000" dirty="0">
                <a:solidFill>
                  <a:schemeClr val="tx1"/>
                </a:solidFill>
              </a:rPr>
              <a:t>TEST</a:t>
            </a:r>
            <a:r>
              <a:rPr lang="en-US" altLang="en-US" sz="4000" dirty="0">
                <a:solidFill>
                  <a:srgbClr val="0070C0"/>
                </a:solidFill>
              </a:rPr>
              <a:t>PREP</a:t>
            </a:r>
            <a:r>
              <a:rPr lang="en-US" altLang="en-US" sz="4000" dirty="0"/>
              <a:t> </a:t>
            </a:r>
            <a:r>
              <a:rPr lang="en-US" altLang="en-US" sz="1000" b="0" dirty="0">
                <a:solidFill>
                  <a:schemeClr val="tx1"/>
                </a:solidFill>
              </a:rPr>
              <a:t>2</a:t>
            </a:r>
            <a:endParaRPr lang="en-IN" sz="1000" dirty="0"/>
          </a:p>
        </p:txBody>
      </p:sp>
    </p:spTree>
    <p:extLst>
      <p:ext uri="{BB962C8B-B14F-4D97-AF65-F5344CB8AC3E}">
        <p14:creationId xmlns:p14="http://schemas.microsoft.com/office/powerpoint/2010/main" val="276204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1</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1"/>
            <a:ext cx="8458200" cy="4627700"/>
          </a:xfrm>
        </p:spPr>
        <p:txBody>
          <a:bodyPr>
            <a:normAutofit/>
          </a:bodyPr>
          <a:lstStyle/>
          <a:p>
            <a:r>
              <a:rPr lang="en-US" altLang="en-US" sz="2800" b="1" dirty="0">
                <a:latin typeface="+mn-lt"/>
              </a:rPr>
              <a:t>Business Environment</a:t>
            </a:r>
          </a:p>
          <a:p>
            <a:r>
              <a:rPr lang="en-US" altLang="en-US" dirty="0">
                <a:latin typeface="+mn-lt"/>
              </a:rPr>
              <a:t>The surrounding factors that either help or hinder the development of businesses.</a:t>
            </a:r>
          </a:p>
          <a:p>
            <a:pPr marL="342900" indent="-342900">
              <a:buFont typeface="Arial" panose="020B0604020202020204" pitchFamily="34" charset="0"/>
              <a:buChar char="•"/>
            </a:pPr>
            <a:r>
              <a:rPr lang="en-US" altLang="en-US" dirty="0">
                <a:latin typeface="+mn-lt"/>
              </a:rPr>
              <a:t>Five elements:</a:t>
            </a:r>
          </a:p>
          <a:p>
            <a:pPr marL="628650" lvl="2" indent="-280988">
              <a:buFont typeface="+mj-lt"/>
              <a:buAutoNum type="arabicPeriod"/>
            </a:pPr>
            <a:r>
              <a:rPr lang="en-US" sz="2000" dirty="0">
                <a:latin typeface="+mn-lt"/>
              </a:rPr>
              <a:t>Economic and legal environment</a:t>
            </a:r>
          </a:p>
          <a:p>
            <a:pPr marL="628650" lvl="2" indent="-280988">
              <a:buFont typeface="+mj-lt"/>
              <a:buAutoNum type="arabicPeriod"/>
            </a:pPr>
            <a:r>
              <a:rPr lang="en-US" sz="2000" dirty="0">
                <a:latin typeface="+mn-lt"/>
              </a:rPr>
              <a:t>Technological environment</a:t>
            </a:r>
          </a:p>
          <a:p>
            <a:pPr marL="628650" lvl="2" indent="-280988">
              <a:buFont typeface="+mj-lt"/>
              <a:buAutoNum type="arabicPeriod"/>
            </a:pPr>
            <a:r>
              <a:rPr lang="en-US" sz="2000" dirty="0">
                <a:latin typeface="+mn-lt"/>
              </a:rPr>
              <a:t>Competitive environment</a:t>
            </a:r>
          </a:p>
          <a:p>
            <a:pPr marL="628650" lvl="2" indent="-280988">
              <a:buFont typeface="+mj-lt"/>
              <a:buAutoNum type="arabicPeriod"/>
            </a:pPr>
            <a:r>
              <a:rPr lang="en-US" sz="2000" dirty="0">
                <a:latin typeface="+mn-lt"/>
              </a:rPr>
              <a:t>Social environment</a:t>
            </a:r>
          </a:p>
          <a:p>
            <a:pPr marL="628650" lvl="2" indent="-280988">
              <a:buFont typeface="+mj-lt"/>
              <a:buAutoNum type="arabicPeriod"/>
            </a:pPr>
            <a:r>
              <a:rPr lang="en-US" sz="2000" dirty="0">
                <a:latin typeface="+mn-lt"/>
              </a:rPr>
              <a:t>Global business environment</a:t>
            </a:r>
            <a:endParaRPr lang="en-US" sz="2400" dirty="0">
              <a:latin typeface="+mn-lt"/>
            </a:endParaRPr>
          </a:p>
        </p:txBody>
      </p:sp>
    </p:spTree>
    <p:extLst>
      <p:ext uri="{BB962C8B-B14F-4D97-AF65-F5344CB8AC3E}">
        <p14:creationId xmlns:p14="http://schemas.microsoft.com/office/powerpoint/2010/main" val="3267984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EBD21-AA62-4373-9919-51FDB93FF188}"/>
              </a:ext>
            </a:extLst>
          </p:cNvPr>
          <p:cNvSpPr>
            <a:spLocks noGrp="1"/>
          </p:cNvSpPr>
          <p:nvPr>
            <p:ph type="title"/>
          </p:nvPr>
        </p:nvSpPr>
        <p:spPr>
          <a:xfrm>
            <a:off x="342900" y="147328"/>
            <a:ext cx="3197134" cy="3549462"/>
          </a:xfrm>
        </p:spPr>
        <p:txBody>
          <a:bodyPr>
            <a:normAutofit/>
          </a:bodyPr>
          <a:lstStyle/>
          <a:p>
            <a:r>
              <a:rPr lang="en-US" altLang="en-US" dirty="0">
                <a:latin typeface="+mn-lt"/>
              </a:rPr>
              <a:t>Figure 1.3: Today’s Dynamic Business Environment</a:t>
            </a:r>
            <a:endParaRPr lang="en-US" dirty="0">
              <a:latin typeface="+mn-lt"/>
            </a:endParaRPr>
          </a:p>
        </p:txBody>
      </p:sp>
      <p:pic>
        <p:nvPicPr>
          <p:cNvPr id="10" name="Picture 17" descr="A graphic describing four major elements that impact business development.">
            <a:extLst>
              <a:ext uri="{FF2B5EF4-FFF2-40B4-BE49-F238E27FC236}">
                <a16:creationId xmlns:a16="http://schemas.microsoft.com/office/drawing/2014/main" id="{83127E1E-6F7B-4C2A-ACFD-C5A6BDC1498B}"/>
              </a:ext>
            </a:extLst>
          </p:cNvPr>
          <p:cNvPicPr>
            <a:picLocks noGrp="1" noChangeAspect="1"/>
          </p:cNvPicPr>
          <p:nvPr>
            <p:ph sz="quarter" idx="11"/>
          </p:nvPr>
        </p:nvPicPr>
        <p:blipFill>
          <a:blip r:embed="rId3" cstate="screen">
            <a:extLst>
              <a:ext uri="{28A0092B-C50C-407E-A947-70E740481C1C}">
                <a14:useLocalDpi xmlns:a14="http://schemas.microsoft.com/office/drawing/2010/main"/>
              </a:ext>
            </a:extLst>
          </a:blip>
          <a:stretch>
            <a:fillRect/>
          </a:stretch>
        </p:blipFill>
        <p:spPr>
          <a:xfrm>
            <a:off x="3426070" y="646947"/>
            <a:ext cx="5375030" cy="5375030"/>
          </a:xfrm>
          <a:prstGeom prst="rect">
            <a:avLst/>
          </a:prstGeom>
        </p:spPr>
      </p:pic>
    </p:spTree>
    <p:extLst>
      <p:ext uri="{BB962C8B-B14F-4D97-AF65-F5344CB8AC3E}">
        <p14:creationId xmlns:p14="http://schemas.microsoft.com/office/powerpoint/2010/main" val="2316106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solidFill>
                  <a:srgbClr val="0070C0"/>
                </a:solidFill>
                <a:latin typeface="+mn-lt"/>
              </a:rPr>
              <a:t>The Business Environment </a:t>
            </a:r>
            <a:r>
              <a:rPr lang="en-US" altLang="en-US" sz="1000" b="0" dirty="0">
                <a:latin typeface="+mn-lt"/>
              </a:rPr>
              <a:t>2</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1"/>
            <a:ext cx="8458200" cy="3765552"/>
          </a:xfrm>
        </p:spPr>
        <p:txBody>
          <a:bodyPr>
            <a:normAutofit/>
          </a:bodyPr>
          <a:lstStyle/>
          <a:p>
            <a:r>
              <a:rPr lang="en-US" altLang="en-US" sz="2800" dirty="0">
                <a:latin typeface="+mn-lt"/>
              </a:rPr>
              <a:t>The Economic and Legal Environment</a:t>
            </a:r>
          </a:p>
          <a:p>
            <a:r>
              <a:rPr lang="en-US" altLang="en-US" dirty="0">
                <a:latin typeface="+mn-lt"/>
              </a:rPr>
              <a:t>Government can promote entrepreneurship by:</a:t>
            </a:r>
          </a:p>
          <a:p>
            <a:pPr marL="403200" lvl="1" indent="-403200">
              <a:buFont typeface="+mj-lt"/>
              <a:buAutoNum type="arabicPeriod"/>
            </a:pPr>
            <a:r>
              <a:rPr lang="en-US" sz="2000" dirty="0">
                <a:latin typeface="+mn-lt"/>
              </a:rPr>
              <a:t>Allowing private ownership of businesses.</a:t>
            </a:r>
          </a:p>
          <a:p>
            <a:pPr marL="403200" lvl="1" indent="-403200">
              <a:buFont typeface="+mj-lt"/>
              <a:buAutoNum type="arabicPeriod"/>
            </a:pPr>
            <a:r>
              <a:rPr lang="en-US" sz="2000" dirty="0">
                <a:latin typeface="+mn-lt"/>
              </a:rPr>
              <a:t>Minimizing interference with the free exchange of goods and services.</a:t>
            </a:r>
          </a:p>
          <a:p>
            <a:pPr marL="403200" lvl="1" indent="-403200">
              <a:buFont typeface="+mj-lt"/>
              <a:buAutoNum type="arabicPeriod"/>
            </a:pPr>
            <a:r>
              <a:rPr lang="en-US" sz="2000" dirty="0">
                <a:latin typeface="+mn-lt"/>
              </a:rPr>
              <a:t>Passing laws that enable businesspeople to write enforceable contracts.</a:t>
            </a:r>
          </a:p>
          <a:p>
            <a:pPr marL="403200" lvl="1" indent="-403200">
              <a:buFont typeface="+mj-lt"/>
              <a:buAutoNum type="arabicPeriod"/>
            </a:pPr>
            <a:r>
              <a:rPr lang="en-US" sz="2000" dirty="0">
                <a:latin typeface="+mn-lt"/>
              </a:rPr>
              <a:t>Establishing a currency that’s tradable in world markets.</a:t>
            </a:r>
          </a:p>
          <a:p>
            <a:pPr marL="403200" lvl="1" indent="-403200">
              <a:buFont typeface="+mj-lt"/>
              <a:buAutoNum type="arabicPeriod"/>
            </a:pPr>
            <a:r>
              <a:rPr lang="en-US" sz="2000" dirty="0">
                <a:latin typeface="+mn-lt"/>
              </a:rPr>
              <a:t>Minimizing corruption.</a:t>
            </a:r>
            <a:endParaRPr lang="en-US" dirty="0">
              <a:latin typeface="+mn-lt"/>
            </a:endParaRPr>
          </a:p>
        </p:txBody>
      </p:sp>
    </p:spTree>
    <p:extLst>
      <p:ext uri="{BB962C8B-B14F-4D97-AF65-F5344CB8AC3E}">
        <p14:creationId xmlns:p14="http://schemas.microsoft.com/office/powerpoint/2010/main" val="2071665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latin typeface="+mn-lt"/>
              </a:rPr>
              <a:t>Differences Between Countries</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299867" y="1276709"/>
            <a:ext cx="4421606" cy="4221724"/>
          </a:xfrm>
        </p:spPr>
        <p:txBody>
          <a:bodyPr>
            <a:noAutofit/>
          </a:bodyPr>
          <a:lstStyle/>
          <a:p>
            <a:r>
              <a:rPr lang="en-US" sz="2200" dirty="0">
                <a:latin typeface="+mn-lt"/>
              </a:rPr>
              <a:t>Starting a business is more difficult in some countries than in others. In India, for example, it takes a time-consuming and bureaucratic process to obtain government permission. Nonetheless, new businesses can become a major source of wealth and employment. This sari shop is one small example. </a:t>
            </a:r>
            <a:r>
              <a:rPr lang="en-US" sz="2200" b="1" i="1" dirty="0">
                <a:latin typeface="+mn-lt"/>
              </a:rPr>
              <a:t>What do you think would be the effect of a little more freedom to create business opportunities in this country of more than 1.4 billion people?</a:t>
            </a:r>
          </a:p>
        </p:txBody>
      </p:sp>
      <p:pic>
        <p:nvPicPr>
          <p:cNvPr id="7" name="Picture 10">
            <a:extLst>
              <a:ext uri="{FF2B5EF4-FFF2-40B4-BE49-F238E27FC236}">
                <a16:creationId xmlns:a16="http://schemas.microsoft.com/office/drawing/2014/main" id="{C0C33DB8-51B2-44BB-832E-0B99881A9EFE}"/>
              </a:ext>
            </a:extLst>
          </p:cNvPr>
          <p:cNvPicPr>
            <a:picLocks noChangeAspect="1"/>
          </p:cNvPicPr>
          <p:nvPr/>
        </p:nvPicPr>
        <p:blipFill>
          <a:blip r:embed="rId3"/>
          <a:srcRect/>
          <a:stretch/>
        </p:blipFill>
        <p:spPr>
          <a:xfrm>
            <a:off x="4866889" y="1837824"/>
            <a:ext cx="4277111" cy="2851407"/>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latin typeface="+mn-lt"/>
              </a:rPr>
              <a:t>TMI/Alamy Stock Photo</a:t>
            </a:r>
          </a:p>
        </p:txBody>
      </p:sp>
    </p:spTree>
    <p:extLst>
      <p:ext uri="{BB962C8B-B14F-4D97-AF65-F5344CB8AC3E}">
        <p14:creationId xmlns:p14="http://schemas.microsoft.com/office/powerpoint/2010/main" val="3223912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3</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p:txBody>
          <a:bodyPr>
            <a:normAutofit/>
          </a:bodyPr>
          <a:lstStyle/>
          <a:p>
            <a:r>
              <a:rPr lang="en-US" altLang="en-US" sz="2600" dirty="0">
                <a:latin typeface="+mn-lt"/>
              </a:rPr>
              <a:t>How Technology Benefits Workers and You</a:t>
            </a:r>
          </a:p>
          <a:p>
            <a:pPr lvl="1">
              <a:lnSpc>
                <a:spcPct val="120000"/>
              </a:lnSpc>
            </a:pPr>
            <a:r>
              <a:rPr lang="en-US" altLang="en-US" sz="2200" b="1" dirty="0"/>
              <a:t>Technology </a:t>
            </a:r>
            <a:r>
              <a:rPr lang="en-US" altLang="en-US" sz="2200" dirty="0"/>
              <a:t>— from phones to computers, mobile devices, medical imaging machines, robots, the Internet, artificial intelligence, social media, and the various software programs and apps that make business processes more effective, efficient, and productive</a:t>
            </a:r>
          </a:p>
          <a:p>
            <a:pPr lvl="1">
              <a:lnSpc>
                <a:spcPct val="120000"/>
              </a:lnSpc>
            </a:pPr>
            <a:r>
              <a:rPr lang="en-US" sz="2200" b="1" dirty="0"/>
              <a:t>Productivity </a:t>
            </a:r>
            <a:r>
              <a:rPr lang="en-US" sz="2200" dirty="0"/>
              <a:t>— The amount of output you generate given the amount of input (for example, hours worked)</a:t>
            </a:r>
          </a:p>
        </p:txBody>
      </p:sp>
      <p:sp>
        <p:nvSpPr>
          <p:cNvPr id="5" name="Text Placeholder 4">
            <a:extLst>
              <a:ext uri="{FF2B5EF4-FFF2-40B4-BE49-F238E27FC236}">
                <a16:creationId xmlns:a16="http://schemas.microsoft.com/office/drawing/2014/main" id="{849D130D-B2EF-F31F-6571-897D114404C0}"/>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384596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a:xfrm>
            <a:off x="2407298" y="147328"/>
            <a:ext cx="6393802" cy="993554"/>
          </a:xfrm>
        </p:spPr>
        <p:txBody>
          <a:bodyPr>
            <a:noAutofit/>
          </a:bodyPr>
          <a:lstStyle/>
          <a:p>
            <a:r>
              <a:rPr lang="en-US" sz="2800" dirty="0">
                <a:latin typeface="+mn-lt"/>
              </a:rPr>
              <a:t>Maintaining Cycles of Sustainability with a Circular Economy</a:t>
            </a:r>
            <a:endParaRPr lang="en-US" sz="2800" noProof="0" dirty="0">
              <a:latin typeface="+mn-lt"/>
            </a:endParaRPr>
          </a:p>
        </p:txBody>
      </p:sp>
      <p:pic>
        <p:nvPicPr>
          <p:cNvPr id="6" name="Picture 5" descr="Adapting to change. ">
            <a:extLst>
              <a:ext uri="{FF2B5EF4-FFF2-40B4-BE49-F238E27FC236}">
                <a16:creationId xmlns:a16="http://schemas.microsoft.com/office/drawing/2014/main" id="{EA92545D-B8F4-4BC3-BF68-B872FF389E26}"/>
              </a:ext>
            </a:extLst>
          </p:cNvPr>
          <p:cNvPicPr>
            <a:picLocks noChangeAspect="1"/>
          </p:cNvPicPr>
          <p:nvPr/>
        </p:nvPicPr>
        <p:blipFill>
          <a:blip r:embed="rId3"/>
          <a:stretch>
            <a:fillRect/>
          </a:stretch>
        </p:blipFill>
        <p:spPr>
          <a:xfrm>
            <a:off x="23792" y="232006"/>
            <a:ext cx="2238544" cy="746181"/>
          </a:xfrm>
          <a:prstGeom prst="rect">
            <a:avLst/>
          </a:prstGeom>
        </p:spPr>
      </p:pic>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289108" y="1276708"/>
            <a:ext cx="8763452" cy="4858621"/>
          </a:xfrm>
        </p:spPr>
        <p:txBody>
          <a:bodyPr>
            <a:noAutofit/>
          </a:bodyPr>
          <a:lstStyle/>
          <a:p>
            <a:r>
              <a:rPr lang="en-US" dirty="0">
                <a:latin typeface="+mn-lt"/>
              </a:rPr>
              <a:t>People around the world create a lot of waste.</a:t>
            </a:r>
          </a:p>
          <a:p>
            <a:pPr marL="291600" indent="-291600">
              <a:buFont typeface="Arial" panose="020B0604020202020204" pitchFamily="34" charset="0"/>
              <a:buChar char="•"/>
            </a:pPr>
            <a:r>
              <a:rPr lang="en-US" sz="2000" dirty="0">
                <a:latin typeface="+mn-lt"/>
              </a:rPr>
              <a:t>To combat this problem of global proportions, companies are created that depend on a </a:t>
            </a:r>
            <a:r>
              <a:rPr lang="en-US" sz="2000" b="1" dirty="0">
                <a:latin typeface="+mn-lt"/>
              </a:rPr>
              <a:t>circular economy</a:t>
            </a:r>
            <a:r>
              <a:rPr lang="en-US" altLang="en-US" sz="2000" dirty="0">
                <a:latin typeface="+mn-lt"/>
              </a:rPr>
              <a:t> — </a:t>
            </a:r>
            <a:r>
              <a:rPr lang="en-US" sz="2000" dirty="0">
                <a:latin typeface="+mn-lt"/>
              </a:rPr>
              <a:t>keeping products in the value circle.</a:t>
            </a:r>
          </a:p>
          <a:p>
            <a:pPr marL="291600" indent="-291600">
              <a:buFont typeface="Arial" panose="020B0604020202020204" pitchFamily="34" charset="0"/>
              <a:buChar char="•"/>
            </a:pPr>
            <a:r>
              <a:rPr lang="en-US" sz="2000" dirty="0">
                <a:latin typeface="+mn-lt"/>
              </a:rPr>
              <a:t>The aim is to produce no waste as every material is either recycled or reused in some capacity.</a:t>
            </a:r>
          </a:p>
          <a:p>
            <a:pPr marL="291600" indent="-291600">
              <a:buFont typeface="Arial" panose="020B0604020202020204" pitchFamily="34" charset="0"/>
              <a:buChar char="•"/>
            </a:pPr>
            <a:r>
              <a:rPr lang="en-US" sz="2000" dirty="0">
                <a:latin typeface="+mn-lt"/>
              </a:rPr>
              <a:t>The Plant in Chicago is an indoor farm irrigated with rainwater and power generated by solar panels. It helps more than 20 companies thrive without creating unnecessary waste.</a:t>
            </a:r>
          </a:p>
        </p:txBody>
      </p:sp>
      <p:pic>
        <p:nvPicPr>
          <p:cNvPr id="8" name="Picture 19">
            <a:extLst>
              <a:ext uri="{FF2B5EF4-FFF2-40B4-BE49-F238E27FC236}">
                <a16:creationId xmlns:a16="http://schemas.microsoft.com/office/drawing/2014/main" id="{12CFE14B-02B6-4B90-9E05-7E479CEE04A4}"/>
              </a:ext>
            </a:extLst>
          </p:cNvPr>
          <p:cNvPicPr>
            <a:picLocks noChangeAspect="1"/>
          </p:cNvPicPr>
          <p:nvPr/>
        </p:nvPicPr>
        <p:blipFill>
          <a:blip r:embed="rId4"/>
          <a:srcRect/>
          <a:stretch/>
        </p:blipFill>
        <p:spPr>
          <a:xfrm>
            <a:off x="5048249" y="4108939"/>
            <a:ext cx="3618161" cy="2416931"/>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latin typeface="+mn-lt"/>
              </a:rPr>
              <a:t>Zbigniew Bzdak/McClatchy-Tribune/Alamy Stock Photo</a:t>
            </a:r>
          </a:p>
        </p:txBody>
      </p:sp>
    </p:spTree>
    <p:extLst>
      <p:ext uri="{BB962C8B-B14F-4D97-AF65-F5344CB8AC3E}">
        <p14:creationId xmlns:p14="http://schemas.microsoft.com/office/powerpoint/2010/main" val="576697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4</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p:txBody>
          <a:bodyPr>
            <a:normAutofit/>
          </a:bodyPr>
          <a:lstStyle/>
          <a:p>
            <a:r>
              <a:rPr lang="en-US" altLang="en-US" sz="2600" dirty="0">
                <a:latin typeface="+mn-lt"/>
              </a:rPr>
              <a:t>The Growth of E-Commerce</a:t>
            </a:r>
          </a:p>
          <a:p>
            <a:pPr lvl="1"/>
            <a:r>
              <a:rPr lang="en-US" sz="2400" b="1" dirty="0">
                <a:latin typeface="+mn-lt"/>
              </a:rPr>
              <a:t>E-commerce </a:t>
            </a:r>
            <a:r>
              <a:rPr lang="en-US" sz="2400" dirty="0">
                <a:latin typeface="+mn-lt"/>
              </a:rPr>
              <a:t>— The buying and selling of goods online</a:t>
            </a:r>
          </a:p>
          <a:p>
            <a:pPr marL="622800" lvl="2" indent="-309600">
              <a:spcBef>
                <a:spcPts val="1000"/>
              </a:spcBef>
              <a:spcAft>
                <a:spcPts val="0"/>
              </a:spcAft>
            </a:pPr>
            <a:r>
              <a:rPr lang="en-US" dirty="0">
                <a:latin typeface="+mn-lt"/>
              </a:rPr>
              <a:t>Business-to-consumer (B2C)</a:t>
            </a:r>
          </a:p>
          <a:p>
            <a:pPr marL="622800" lvl="2" indent="-309600">
              <a:spcBef>
                <a:spcPts val="1000"/>
              </a:spcBef>
              <a:spcAft>
                <a:spcPts val="0"/>
              </a:spcAft>
            </a:pPr>
            <a:r>
              <a:rPr lang="en-US" dirty="0">
                <a:latin typeface="+mn-lt"/>
              </a:rPr>
              <a:t>Business-to-business (B2B)</a:t>
            </a:r>
          </a:p>
        </p:txBody>
      </p:sp>
      <p:sp>
        <p:nvSpPr>
          <p:cNvPr id="5" name="Text Placeholder 4">
            <a:extLst>
              <a:ext uri="{FF2B5EF4-FFF2-40B4-BE49-F238E27FC236}">
                <a16:creationId xmlns:a16="http://schemas.microsoft.com/office/drawing/2014/main" id="{AF7E2697-0477-F836-F1E0-BF022637168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114885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5</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2"/>
            <a:ext cx="8458200" cy="3020968"/>
          </a:xfrm>
        </p:spPr>
        <p:txBody>
          <a:bodyPr>
            <a:normAutofit/>
          </a:bodyPr>
          <a:lstStyle/>
          <a:p>
            <a:pPr>
              <a:spcBef>
                <a:spcPts val="1200"/>
              </a:spcBef>
              <a:spcAft>
                <a:spcPts val="600"/>
              </a:spcAft>
            </a:pPr>
            <a:r>
              <a:rPr lang="en-US" altLang="en-US" sz="2600" dirty="0">
                <a:latin typeface="+mn-lt"/>
              </a:rPr>
              <a:t>Using Technology to Be Responsive to Customers:</a:t>
            </a:r>
          </a:p>
          <a:p>
            <a:pPr lvl="1">
              <a:spcBef>
                <a:spcPts val="1200"/>
              </a:spcBef>
              <a:spcAft>
                <a:spcPts val="600"/>
              </a:spcAft>
            </a:pPr>
            <a:r>
              <a:rPr lang="en-US" sz="2400" b="1" dirty="0">
                <a:latin typeface="+mn-lt"/>
              </a:rPr>
              <a:t>Database</a:t>
            </a:r>
            <a:r>
              <a:rPr lang="en-US" sz="2400" dirty="0">
                <a:latin typeface="+mn-lt"/>
              </a:rPr>
              <a:t> — An electronic storage file for information</a:t>
            </a:r>
          </a:p>
          <a:p>
            <a:pPr lvl="1">
              <a:spcBef>
                <a:spcPts val="1200"/>
              </a:spcBef>
              <a:spcAft>
                <a:spcPts val="600"/>
              </a:spcAft>
            </a:pPr>
            <a:r>
              <a:rPr lang="en-US" sz="2400" b="1" dirty="0">
                <a:latin typeface="+mn-lt"/>
              </a:rPr>
              <a:t>Identity theft</a:t>
            </a:r>
            <a:r>
              <a:rPr lang="en-US" sz="2400" dirty="0">
                <a:latin typeface="+mn-lt"/>
              </a:rPr>
              <a:t> — The obtaining of individuals’ personal information, such as Social Security and credit card numbers, for illegal purposes</a:t>
            </a:r>
          </a:p>
        </p:txBody>
      </p:sp>
    </p:spTree>
    <p:extLst>
      <p:ext uri="{BB962C8B-B14F-4D97-AF65-F5344CB8AC3E}">
        <p14:creationId xmlns:p14="http://schemas.microsoft.com/office/powerpoint/2010/main" val="3995880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latin typeface="+mn-lt"/>
              </a:rPr>
              <a:t>Using Technology for Customers</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276708"/>
            <a:ext cx="3678116" cy="4701305"/>
          </a:xfrm>
        </p:spPr>
        <p:txBody>
          <a:bodyPr>
            <a:noAutofit/>
          </a:bodyPr>
          <a:lstStyle/>
          <a:p>
            <a:r>
              <a:rPr lang="en-US" sz="2000" dirty="0">
                <a:latin typeface="+mn-lt"/>
              </a:rPr>
              <a:t>Walt Disney World’s MagicBand provides an all-in-one way for guests to connect with the various vacation choices they made online before their trip. Using RFID technology, the MagicBand serves as a park ticket, hotel room key, and payment system that also gives guests access to extras like Disney’s PhotoPass. </a:t>
            </a:r>
            <a:r>
              <a:rPr lang="en-US" sz="2000" b="1" i="1" dirty="0">
                <a:latin typeface="+mn-lt"/>
              </a:rPr>
              <a:t>Do you think the MagicBand encourages visitors to make more purchases in the park?</a:t>
            </a:r>
          </a:p>
        </p:txBody>
      </p:sp>
      <p:pic>
        <p:nvPicPr>
          <p:cNvPr id="6" name="Picture 9">
            <a:extLst>
              <a:ext uri="{FF2B5EF4-FFF2-40B4-BE49-F238E27FC236}">
                <a16:creationId xmlns:a16="http://schemas.microsoft.com/office/drawing/2014/main" id="{AD1A6422-E979-46AD-88CB-E48072C93D2B}"/>
              </a:ext>
            </a:extLst>
          </p:cNvPr>
          <p:cNvPicPr>
            <a:picLocks noChangeAspect="1"/>
          </p:cNvPicPr>
          <p:nvPr/>
        </p:nvPicPr>
        <p:blipFill>
          <a:blip r:embed="rId3"/>
          <a:srcRect/>
          <a:stretch/>
        </p:blipFill>
        <p:spPr>
          <a:xfrm>
            <a:off x="4038841" y="1970999"/>
            <a:ext cx="5105159" cy="3398170"/>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a:xfrm>
            <a:off x="1562100" y="6605195"/>
            <a:ext cx="6947200" cy="252805"/>
          </a:xfrm>
        </p:spPr>
        <p:txBody>
          <a:bodyPr/>
          <a:lstStyle/>
          <a:p>
            <a:r>
              <a:rPr lang="en-US" dirty="0">
                <a:latin typeface="+mn-lt"/>
              </a:rPr>
              <a:t>Jeff Gritchen/MediaNews Group/Orange County Register/Getty Images</a:t>
            </a:r>
          </a:p>
        </p:txBody>
      </p:sp>
    </p:spTree>
    <p:extLst>
      <p:ext uri="{BB962C8B-B14F-4D97-AF65-F5344CB8AC3E}">
        <p14:creationId xmlns:p14="http://schemas.microsoft.com/office/powerpoint/2010/main" val="2366800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6</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0"/>
            <a:ext cx="8458200" cy="2152290"/>
          </a:xfrm>
        </p:spPr>
        <p:txBody>
          <a:bodyPr>
            <a:normAutofit/>
          </a:bodyPr>
          <a:lstStyle/>
          <a:p>
            <a:r>
              <a:rPr lang="en-US" altLang="en-US" sz="2800" dirty="0">
                <a:latin typeface="+mn-lt"/>
              </a:rPr>
              <a:t>The Competitive Environment</a:t>
            </a:r>
          </a:p>
          <a:p>
            <a:r>
              <a:rPr lang="en-US" altLang="en-US" dirty="0">
                <a:latin typeface="+mn-lt"/>
              </a:rPr>
              <a:t>Competing by Exceeding Customer Expectations</a:t>
            </a:r>
          </a:p>
          <a:p>
            <a:pPr lvl="2"/>
            <a:r>
              <a:rPr lang="en-US" sz="2200" dirty="0">
                <a:latin typeface="+mn-lt"/>
              </a:rPr>
              <a:t>Customers want good quality products at low prices with great customer service.</a:t>
            </a:r>
            <a:endParaRPr lang="en-US" sz="2600" dirty="0">
              <a:latin typeface="+mn-lt"/>
            </a:endParaRPr>
          </a:p>
        </p:txBody>
      </p:sp>
      <p:sp>
        <p:nvSpPr>
          <p:cNvPr id="6" name="Content Placeholder 5">
            <a:extLst>
              <a:ext uri="{FF2B5EF4-FFF2-40B4-BE49-F238E27FC236}">
                <a16:creationId xmlns:a16="http://schemas.microsoft.com/office/drawing/2014/main" id="{AAFA0E11-B2B9-4876-84BA-0F13C86001A7}"/>
              </a:ext>
            </a:extLst>
          </p:cNvPr>
          <p:cNvSpPr>
            <a:spLocks noGrp="1"/>
          </p:cNvSpPr>
          <p:nvPr>
            <p:ph sz="quarter" idx="14"/>
          </p:nvPr>
        </p:nvSpPr>
        <p:spPr>
          <a:xfrm>
            <a:off x="342900" y="3429000"/>
            <a:ext cx="8458200" cy="2725615"/>
          </a:xfrm>
        </p:spPr>
        <p:txBody>
          <a:bodyPr/>
          <a:lstStyle/>
          <a:p>
            <a:r>
              <a:rPr lang="en-US" altLang="en-US" dirty="0">
                <a:latin typeface="+mn-lt"/>
              </a:rPr>
              <a:t>Competing by Restructuring and Empowerment</a:t>
            </a:r>
          </a:p>
          <a:p>
            <a:pPr marL="583200" lvl="1"/>
            <a:r>
              <a:rPr lang="en-US" altLang="en-US" sz="2000" dirty="0">
                <a:latin typeface="+mn-lt"/>
              </a:rPr>
              <a:t>Because business is more customer-driven, some managers give frontline employees more decision-making power.</a:t>
            </a:r>
          </a:p>
          <a:p>
            <a:pPr marL="848725" lvl="2" indent="-320400"/>
            <a:r>
              <a:rPr lang="en-US" altLang="en-US" b="1" dirty="0">
                <a:latin typeface="+mn-lt"/>
              </a:rPr>
              <a:t>Empowerment</a:t>
            </a:r>
            <a:r>
              <a:rPr lang="en-US" altLang="en-US" dirty="0">
                <a:latin typeface="+mn-lt"/>
              </a:rPr>
              <a:t> — Giving frontline workers the responsibility, authority, freedom, training, and equipment they need to respond quickly to customer requests</a:t>
            </a:r>
            <a:endParaRPr lang="en-US" dirty="0">
              <a:latin typeface="+mn-lt"/>
            </a:endParaRPr>
          </a:p>
        </p:txBody>
      </p:sp>
    </p:spTree>
    <p:extLst>
      <p:ext uri="{BB962C8B-B14F-4D97-AF65-F5344CB8AC3E}">
        <p14:creationId xmlns:p14="http://schemas.microsoft.com/office/powerpoint/2010/main" val="3318386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97764-E54F-4D47-8348-6821CBA9EB08}"/>
              </a:ext>
            </a:extLst>
          </p:cNvPr>
          <p:cNvSpPr>
            <a:spLocks noGrp="1"/>
          </p:cNvSpPr>
          <p:nvPr>
            <p:ph type="subTitle" idx="1"/>
          </p:nvPr>
        </p:nvSpPr>
        <p:spPr>
          <a:xfrm>
            <a:off x="1459523" y="1198807"/>
            <a:ext cx="6858000" cy="3294816"/>
          </a:xfrm>
        </p:spPr>
        <p:txBody>
          <a:bodyPr>
            <a:normAutofit/>
          </a:bodyPr>
          <a:lstStyle/>
          <a:p>
            <a:pPr algn="l">
              <a:lnSpc>
                <a:spcPct val="100000"/>
              </a:lnSpc>
              <a:spcBef>
                <a:spcPts val="1200"/>
              </a:spcBef>
              <a:spcAft>
                <a:spcPts val="600"/>
              </a:spcAft>
            </a:pPr>
            <a:r>
              <a:rPr lang="en-US" sz="2400" b="1" dirty="0">
                <a:solidFill>
                  <a:srgbClr val="002060"/>
                </a:solidFill>
                <a:latin typeface="Arial" panose="020B0604020202020204" pitchFamily="34" charset="0"/>
                <a:cs typeface="Arial" panose="020B0604020202020204" pitchFamily="34" charset="0"/>
              </a:rPr>
              <a:t>With the definition of empowerment in mind, do you think you were empowered in your most recent job?</a:t>
            </a:r>
          </a:p>
          <a:p>
            <a:pPr algn="l">
              <a:lnSpc>
                <a:spcPct val="100000"/>
              </a:lnSpc>
              <a:spcBef>
                <a:spcPts val="1200"/>
              </a:spcBef>
              <a:spcAft>
                <a:spcPts val="600"/>
              </a:spcAft>
            </a:pPr>
            <a:r>
              <a:rPr lang="en-US" sz="2400" dirty="0">
                <a:solidFill>
                  <a:srgbClr val="002060"/>
                </a:solidFill>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Yes</a:t>
            </a:r>
          </a:p>
          <a:p>
            <a:pPr algn="l">
              <a:lnSpc>
                <a:spcPct val="100000"/>
              </a:lnSpc>
              <a:spcBef>
                <a:spcPts val="1200"/>
              </a:spcBef>
              <a:spcAft>
                <a:spcPts val="600"/>
              </a:spcAft>
            </a:pPr>
            <a:r>
              <a:rPr lang="en-US" sz="2400" dirty="0">
                <a:solidFill>
                  <a:srgbClr val="002060"/>
                </a:solidFill>
                <a:latin typeface="Arial" panose="020B0604020202020204" pitchFamily="34" charset="0"/>
                <a:cs typeface="Arial" panose="020B0604020202020204" pitchFamily="34" charset="0"/>
              </a:rPr>
              <a:t>B.</a:t>
            </a:r>
            <a:r>
              <a:rPr lang="en-US" sz="2400" dirty="0">
                <a:latin typeface="Arial" panose="020B0604020202020204" pitchFamily="34" charset="0"/>
                <a:cs typeface="Arial" panose="020B0604020202020204" pitchFamily="34" charset="0"/>
              </a:rPr>
              <a:t> No</a:t>
            </a:r>
            <a:endParaRPr lang="en-US" sz="2400" noProof="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7998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7</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2"/>
            <a:ext cx="8458200" cy="4033842"/>
          </a:xfrm>
        </p:spPr>
        <p:txBody>
          <a:bodyPr>
            <a:normAutofit/>
          </a:bodyPr>
          <a:lstStyle/>
          <a:p>
            <a:r>
              <a:rPr lang="en-US" altLang="en-US" sz="2800" dirty="0">
                <a:latin typeface="+mn-lt"/>
              </a:rPr>
              <a:t>The Social Environment</a:t>
            </a:r>
          </a:p>
          <a:p>
            <a:r>
              <a:rPr lang="en-US" altLang="en-US" b="1" dirty="0">
                <a:latin typeface="+mn-lt"/>
              </a:rPr>
              <a:t>Demography</a:t>
            </a:r>
            <a:r>
              <a:rPr lang="en-US" altLang="en-US" dirty="0">
                <a:latin typeface="+mn-lt"/>
              </a:rPr>
              <a:t> — The statistical study of the human population with regard to its size, density, and other characteristics such as age, race, gender, and income.</a:t>
            </a:r>
          </a:p>
          <a:p>
            <a:pPr lvl="1"/>
            <a:r>
              <a:rPr lang="en-US" altLang="en-US" dirty="0">
                <a:latin typeface="+mn-lt"/>
              </a:rPr>
              <a:t>Managing Diversity:</a:t>
            </a:r>
          </a:p>
          <a:p>
            <a:pPr lvl="2"/>
            <a:r>
              <a:rPr lang="en-US" sz="2000" dirty="0">
                <a:latin typeface="+mn-lt"/>
              </a:rPr>
              <a:t>Diversity has grown from just recruiting and retaining people of ethnic or racial minorities and female employees.</a:t>
            </a:r>
          </a:p>
          <a:p>
            <a:pPr lvl="2"/>
            <a:r>
              <a:rPr lang="en-US" sz="2000" dirty="0">
                <a:latin typeface="+mn-lt"/>
              </a:rPr>
              <a:t>Creating a workplace that promotes inclusion and belonging.</a:t>
            </a:r>
            <a:endParaRPr lang="en-US" sz="2400" dirty="0">
              <a:latin typeface="+mn-lt"/>
            </a:endParaRPr>
          </a:p>
        </p:txBody>
      </p:sp>
    </p:spTree>
    <p:extLst>
      <p:ext uri="{BB962C8B-B14F-4D97-AF65-F5344CB8AC3E}">
        <p14:creationId xmlns:p14="http://schemas.microsoft.com/office/powerpoint/2010/main" val="1160522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EBD21-AA62-4373-9919-51FDB93FF188}"/>
              </a:ext>
            </a:extLst>
          </p:cNvPr>
          <p:cNvSpPr>
            <a:spLocks noGrp="1"/>
          </p:cNvSpPr>
          <p:nvPr>
            <p:ph type="title"/>
          </p:nvPr>
        </p:nvSpPr>
        <p:spPr/>
        <p:txBody>
          <a:bodyPr>
            <a:noAutofit/>
          </a:bodyPr>
          <a:lstStyle/>
          <a:p>
            <a:r>
              <a:rPr lang="en-US" b="1" i="0" dirty="0">
                <a:effectLst/>
                <a:latin typeface="+mn-lt"/>
              </a:rPr>
              <a:t>Resident Population of the United States by Race, 2022</a:t>
            </a:r>
            <a:endParaRPr lang="en-US" sz="4000" dirty="0">
              <a:latin typeface="+mn-lt"/>
            </a:endParaRPr>
          </a:p>
        </p:txBody>
      </p:sp>
      <p:sp>
        <p:nvSpPr>
          <p:cNvPr id="6" name="Content Placeholder 5">
            <a:extLst>
              <a:ext uri="{FF2B5EF4-FFF2-40B4-BE49-F238E27FC236}">
                <a16:creationId xmlns:a16="http://schemas.microsoft.com/office/drawing/2014/main" id="{5BD022F0-B97F-4B25-CCEE-D0A470606CC0}"/>
              </a:ext>
            </a:extLst>
          </p:cNvPr>
          <p:cNvSpPr>
            <a:spLocks noGrp="1"/>
          </p:cNvSpPr>
          <p:nvPr>
            <p:ph sz="quarter" idx="11"/>
          </p:nvPr>
        </p:nvSpPr>
        <p:spPr/>
        <p:txBody>
          <a:bodyPr/>
          <a:lstStyle/>
          <a:p>
            <a:pPr algn="l" fontAlgn="base">
              <a:spcBef>
                <a:spcPts val="1200"/>
              </a:spcBef>
              <a:spcAft>
                <a:spcPts val="1200"/>
              </a:spcAft>
            </a:pPr>
            <a:r>
              <a:rPr lang="en-US" b="0" i="0" dirty="0">
                <a:solidFill>
                  <a:srgbClr val="333333"/>
                </a:solidFill>
                <a:effectLst/>
                <a:latin typeface="Roboto" panose="02000000000000000000" pitchFamily="2" charset="0"/>
              </a:rPr>
              <a:t>The White alone, non-Hispanic group accounted for 57.8% of the total population, 60.8% of the 18-and-over population, and only 47.3% of the population under age 18.</a:t>
            </a:r>
          </a:p>
          <a:p>
            <a:pPr algn="l" fontAlgn="base">
              <a:spcBef>
                <a:spcPts val="1200"/>
              </a:spcBef>
              <a:spcAft>
                <a:spcPts val="1200"/>
              </a:spcAft>
            </a:pPr>
            <a:r>
              <a:rPr lang="en-US" b="0" i="0" dirty="0">
                <a:solidFill>
                  <a:srgbClr val="333333"/>
                </a:solidFill>
                <a:effectLst/>
                <a:latin typeface="Roboto" panose="02000000000000000000" pitchFamily="2" charset="0"/>
              </a:rPr>
              <a:t>The Hispanic or Latino group was 18.7% of the total population, 16.8% of the adult population, and 25.7% of the under-18 population.</a:t>
            </a:r>
          </a:p>
          <a:p>
            <a:pPr algn="l" fontAlgn="base">
              <a:spcBef>
                <a:spcPts val="1200"/>
              </a:spcBef>
              <a:spcAft>
                <a:spcPts val="1200"/>
              </a:spcAft>
            </a:pPr>
            <a:r>
              <a:rPr lang="en-US" b="0" i="0" dirty="0">
                <a:solidFill>
                  <a:srgbClr val="333333"/>
                </a:solidFill>
                <a:effectLst/>
                <a:latin typeface="Roboto" panose="02000000000000000000" pitchFamily="2" charset="0"/>
              </a:rPr>
              <a:t>The Black or African American alone, non-Hispanic group was 12.1% of the total population, 11.7% of adults, and 13.2% of the younger population.</a:t>
            </a:r>
          </a:p>
          <a:p>
            <a:endParaRPr lang="en-US" dirty="0"/>
          </a:p>
        </p:txBody>
      </p:sp>
      <p:sp>
        <p:nvSpPr>
          <p:cNvPr id="5" name="Text Placeholder 4">
            <a:extLst>
              <a:ext uri="{FF2B5EF4-FFF2-40B4-BE49-F238E27FC236}">
                <a16:creationId xmlns:a16="http://schemas.microsoft.com/office/drawing/2014/main" id="{54DD4461-7CB5-4482-B0B0-1D95150119BE}"/>
              </a:ext>
            </a:extLst>
          </p:cNvPr>
          <p:cNvSpPr>
            <a:spLocks noGrp="1"/>
          </p:cNvSpPr>
          <p:nvPr>
            <p:ph type="body" sz="quarter" idx="13"/>
          </p:nvPr>
        </p:nvSpPr>
        <p:spPr/>
        <p:txBody>
          <a:bodyPr/>
          <a:lstStyle/>
          <a:p>
            <a:r>
              <a:rPr lang="en-US" altLang="en-US" dirty="0">
                <a:latin typeface="+mn-lt"/>
              </a:rPr>
              <a:t>Source CENSUS.GOV, accessed January 2024.</a:t>
            </a:r>
          </a:p>
        </p:txBody>
      </p:sp>
      <p:sp>
        <p:nvSpPr>
          <p:cNvPr id="7" name="Text Placeholder 6">
            <a:extLst>
              <a:ext uri="{FF2B5EF4-FFF2-40B4-BE49-F238E27FC236}">
                <a16:creationId xmlns:a16="http://schemas.microsoft.com/office/drawing/2014/main" id="{1C961359-3862-6A5C-7C98-5944ECD139C6}"/>
              </a:ext>
            </a:extLst>
          </p:cNvPr>
          <p:cNvSpPr>
            <a:spLocks noGrp="1"/>
          </p:cNvSpPr>
          <p:nvPr>
            <p:ph type="body" sz="quarter" idx="14"/>
          </p:nvPr>
        </p:nvSpPr>
        <p:spPr/>
        <p:txBody>
          <a:bodyPr/>
          <a:lstStyle/>
          <a:p>
            <a:r>
              <a:rPr lang="en-US" dirty="0"/>
              <a:t>Beyond the Text</a:t>
            </a:r>
          </a:p>
        </p:txBody>
      </p:sp>
    </p:spTree>
    <p:extLst>
      <p:ext uri="{BB962C8B-B14F-4D97-AF65-F5344CB8AC3E}">
        <p14:creationId xmlns:p14="http://schemas.microsoft.com/office/powerpoint/2010/main" val="1210804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8</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0"/>
            <a:ext cx="8458200" cy="2214081"/>
          </a:xfrm>
        </p:spPr>
        <p:txBody>
          <a:bodyPr>
            <a:normAutofit/>
          </a:bodyPr>
          <a:lstStyle/>
          <a:p>
            <a:r>
              <a:rPr lang="en-US" altLang="en-US" sz="2600" dirty="0">
                <a:latin typeface="+mn-lt"/>
              </a:rPr>
              <a:t>The Increase in the Number of Older Citizens</a:t>
            </a:r>
          </a:p>
          <a:p>
            <a:pPr lvl="1"/>
            <a:r>
              <a:rPr lang="en-US" dirty="0">
                <a:latin typeface="+mn-lt"/>
              </a:rPr>
              <a:t>People aged 75 and over are currently the richest demographic group.</a:t>
            </a:r>
          </a:p>
          <a:p>
            <a:pPr lvl="1"/>
            <a:r>
              <a:rPr lang="en-US" dirty="0">
                <a:latin typeface="+mn-lt"/>
              </a:rPr>
              <a:t>Retired people will be draining the economy of wealth due to Social Security.</a:t>
            </a:r>
          </a:p>
        </p:txBody>
      </p:sp>
      <p:sp>
        <p:nvSpPr>
          <p:cNvPr id="6" name="Content Placeholder 5">
            <a:extLst>
              <a:ext uri="{FF2B5EF4-FFF2-40B4-BE49-F238E27FC236}">
                <a16:creationId xmlns:a16="http://schemas.microsoft.com/office/drawing/2014/main" id="{AAFA0E11-B2B9-4876-84BA-0F13C86001A7}"/>
              </a:ext>
            </a:extLst>
          </p:cNvPr>
          <p:cNvSpPr>
            <a:spLocks noGrp="1"/>
          </p:cNvSpPr>
          <p:nvPr>
            <p:ph sz="quarter" idx="14"/>
          </p:nvPr>
        </p:nvSpPr>
        <p:spPr>
          <a:xfrm>
            <a:off x="342900" y="3757248"/>
            <a:ext cx="8631283" cy="2214080"/>
          </a:xfrm>
        </p:spPr>
        <p:txBody>
          <a:bodyPr>
            <a:normAutofit/>
          </a:bodyPr>
          <a:lstStyle/>
          <a:p>
            <a:r>
              <a:rPr lang="en-US" altLang="en-US" sz="2600" dirty="0">
                <a:latin typeface="+mn-lt"/>
              </a:rPr>
              <a:t>The Increase in the Number of Single-Parent Families</a:t>
            </a:r>
          </a:p>
          <a:p>
            <a:pPr marL="291600" indent="-291600">
              <a:buFont typeface="Arial" panose="020B0604020202020204" pitchFamily="34" charset="0"/>
              <a:buChar char="•"/>
            </a:pPr>
            <a:r>
              <a:rPr lang="en-US" altLang="en-US" sz="2200" dirty="0">
                <a:latin typeface="+mn-lt"/>
              </a:rPr>
              <a:t>Growth of single-parent households has encouraged businesses to implement programs such as family leave and flextime.</a:t>
            </a:r>
            <a:endParaRPr lang="en-US" sz="2200" dirty="0">
              <a:latin typeface="+mn-lt"/>
            </a:endParaRPr>
          </a:p>
        </p:txBody>
      </p:sp>
    </p:spTree>
    <p:extLst>
      <p:ext uri="{BB962C8B-B14F-4D97-AF65-F5344CB8AC3E}">
        <p14:creationId xmlns:p14="http://schemas.microsoft.com/office/powerpoint/2010/main" val="4202720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latin typeface="+mn-lt"/>
              </a:rPr>
              <a:t>Diversity in Age</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276707"/>
            <a:ext cx="3393078" cy="4298183"/>
          </a:xfrm>
        </p:spPr>
        <p:txBody>
          <a:bodyPr>
            <a:noAutofit/>
          </a:bodyPr>
          <a:lstStyle/>
          <a:p>
            <a:r>
              <a:rPr lang="en-US" sz="2200" dirty="0">
                <a:latin typeface="+mn-lt"/>
              </a:rPr>
              <a:t>The United States boasts enormous ethnic and racial diversity. Its workforce is also widely diverse in terms of age, which means that managers must adapt to the generational demographics of the workplace. </a:t>
            </a:r>
            <a:r>
              <a:rPr lang="en-US" sz="2200" b="1" i="1" dirty="0">
                <a:latin typeface="+mn-lt"/>
              </a:rPr>
              <a:t>What are some challenges of working with someone much younger or much older than you?</a:t>
            </a:r>
          </a:p>
        </p:txBody>
      </p:sp>
      <p:pic>
        <p:nvPicPr>
          <p:cNvPr id="6" name="Picture 11">
            <a:extLst>
              <a:ext uri="{FF2B5EF4-FFF2-40B4-BE49-F238E27FC236}">
                <a16:creationId xmlns:a16="http://schemas.microsoft.com/office/drawing/2014/main" id="{6CDCBCEA-799D-47B6-B0A5-7B3617170A96}"/>
              </a:ext>
            </a:extLst>
          </p:cNvPr>
          <p:cNvPicPr>
            <a:picLocks noChangeAspect="1"/>
          </p:cNvPicPr>
          <p:nvPr/>
        </p:nvPicPr>
        <p:blipFill>
          <a:blip r:embed="rId3"/>
          <a:srcRect/>
          <a:stretch/>
        </p:blipFill>
        <p:spPr>
          <a:xfrm>
            <a:off x="4002677" y="1683714"/>
            <a:ext cx="5141323" cy="3427548"/>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latin typeface="+mn-lt"/>
              </a:rPr>
              <a:t>Shutterstock</a:t>
            </a:r>
          </a:p>
        </p:txBody>
      </p:sp>
    </p:spTree>
    <p:extLst>
      <p:ext uri="{BB962C8B-B14F-4D97-AF65-F5344CB8AC3E}">
        <p14:creationId xmlns:p14="http://schemas.microsoft.com/office/powerpoint/2010/main" val="3146615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EBD21-AA62-4373-9919-51FDB93FF188}"/>
              </a:ext>
            </a:extLst>
          </p:cNvPr>
          <p:cNvSpPr>
            <a:spLocks noGrp="1"/>
          </p:cNvSpPr>
          <p:nvPr>
            <p:ph type="title"/>
          </p:nvPr>
        </p:nvSpPr>
        <p:spPr>
          <a:xfrm>
            <a:off x="1232915" y="304799"/>
            <a:ext cx="7447788" cy="678611"/>
          </a:xfrm>
        </p:spPr>
        <p:txBody>
          <a:bodyPr>
            <a:noAutofit/>
          </a:bodyPr>
          <a:lstStyle/>
          <a:p>
            <a:r>
              <a:rPr lang="en-US" sz="3200" dirty="0">
                <a:latin typeface="+mn-lt"/>
              </a:rPr>
              <a:t>Who Will Support Social Security? </a:t>
            </a:r>
          </a:p>
        </p:txBody>
      </p:sp>
      <p:sp>
        <p:nvSpPr>
          <p:cNvPr id="5" name="Text Placeholder 4">
            <a:extLst>
              <a:ext uri="{FF2B5EF4-FFF2-40B4-BE49-F238E27FC236}">
                <a16:creationId xmlns:a16="http://schemas.microsoft.com/office/drawing/2014/main" id="{54DD4461-7CB5-4482-B0B0-1D95150119BE}"/>
              </a:ext>
            </a:extLst>
          </p:cNvPr>
          <p:cNvSpPr>
            <a:spLocks noGrp="1"/>
          </p:cNvSpPr>
          <p:nvPr>
            <p:ph type="body" sz="quarter" idx="13"/>
          </p:nvPr>
        </p:nvSpPr>
        <p:spPr/>
        <p:txBody>
          <a:bodyPr/>
          <a:lstStyle/>
          <a:p>
            <a:r>
              <a:rPr lang="en-US" altLang="en-US" dirty="0">
                <a:latin typeface="+mn-lt"/>
              </a:rPr>
              <a:t>Source: </a:t>
            </a:r>
            <a:r>
              <a:rPr lang="en-US" altLang="en-US" dirty="0">
                <a:latin typeface="+mn-lt"/>
                <a:hlinkClick r:id="rId3"/>
              </a:rPr>
              <a:t>https://www.federalbudgetinpictures.com/social-security-recipient-worker-ratio/</a:t>
            </a:r>
            <a:r>
              <a:rPr lang="en-US" altLang="en-US" dirty="0">
                <a:latin typeface="+mn-lt"/>
              </a:rPr>
              <a:t>, accessed January 2024.</a:t>
            </a:r>
          </a:p>
        </p:txBody>
      </p:sp>
      <p:sp>
        <p:nvSpPr>
          <p:cNvPr id="7" name="Text Placeholder 6">
            <a:extLst>
              <a:ext uri="{FF2B5EF4-FFF2-40B4-BE49-F238E27FC236}">
                <a16:creationId xmlns:a16="http://schemas.microsoft.com/office/drawing/2014/main" id="{A2872AC1-9438-1B03-28EB-EB1577E49F42}"/>
              </a:ext>
            </a:extLst>
          </p:cNvPr>
          <p:cNvSpPr>
            <a:spLocks noGrp="1"/>
          </p:cNvSpPr>
          <p:nvPr>
            <p:ph type="body" sz="quarter" idx="14"/>
          </p:nvPr>
        </p:nvSpPr>
        <p:spPr/>
        <p:txBody>
          <a:bodyPr/>
          <a:lstStyle/>
          <a:p>
            <a:r>
              <a:rPr lang="en-US" dirty="0"/>
              <a:t>Beyond the Text</a:t>
            </a:r>
          </a:p>
        </p:txBody>
      </p:sp>
      <p:graphicFrame>
        <p:nvGraphicFramePr>
          <p:cNvPr id="8" name="Chart 7">
            <a:extLst>
              <a:ext uri="{FF2B5EF4-FFF2-40B4-BE49-F238E27FC236}">
                <a16:creationId xmlns:a16="http://schemas.microsoft.com/office/drawing/2014/main" id="{D14D609B-36E9-1BCD-71D8-112BFA836302}"/>
              </a:ext>
            </a:extLst>
          </p:cNvPr>
          <p:cNvGraphicFramePr>
            <a:graphicFrameLocks/>
          </p:cNvGraphicFramePr>
          <p:nvPr>
            <p:extLst>
              <p:ext uri="{D42A27DB-BD31-4B8C-83A1-F6EECF244321}">
                <p14:modId xmlns:p14="http://schemas.microsoft.com/office/powerpoint/2010/main" val="2550114646"/>
              </p:ext>
            </p:extLst>
          </p:nvPr>
        </p:nvGraphicFramePr>
        <p:xfrm>
          <a:off x="1773114" y="1504967"/>
          <a:ext cx="5870332" cy="452522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055902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solidFill>
                  <a:srgbClr val="0070C0"/>
                </a:solidFill>
                <a:latin typeface="+mn-lt"/>
              </a:rPr>
              <a:t>Single-Parent Families</a:t>
            </a: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900" y="1276710"/>
            <a:ext cx="3419203" cy="4594702"/>
          </a:xfrm>
        </p:spPr>
        <p:txBody>
          <a:bodyPr>
            <a:noAutofit/>
          </a:bodyPr>
          <a:lstStyle/>
          <a:p>
            <a:r>
              <a:rPr lang="en-US" sz="2200" dirty="0"/>
              <a:t>More and more working families consist of single parents who must juggle the demands of a job and the responsibilities of raising children. </a:t>
            </a:r>
            <a:r>
              <a:rPr lang="en-US" sz="2200" b="1" i="1" dirty="0"/>
              <a:t>What can managers do to try to retain valued employees who face such challenges?</a:t>
            </a:r>
          </a:p>
        </p:txBody>
      </p:sp>
      <p:pic>
        <p:nvPicPr>
          <p:cNvPr id="19" name="Content Placeholder 18" descr="A person and child looking at a computer screen&#10;&#10;Description automatically generated">
            <a:extLst>
              <a:ext uri="{FF2B5EF4-FFF2-40B4-BE49-F238E27FC236}">
                <a16:creationId xmlns:a16="http://schemas.microsoft.com/office/drawing/2014/main" id="{BC1FEBFF-CC66-0607-578A-5A4EE650C70C}"/>
              </a:ext>
            </a:extLst>
          </p:cNvPr>
          <p:cNvPicPr>
            <a:picLocks noGrp="1" noChangeAspect="1"/>
          </p:cNvPicPr>
          <p:nvPr>
            <p:ph sz="quarter" idx="14"/>
          </p:nvPr>
        </p:nvPicPr>
        <p:blipFill>
          <a:blip r:embed="rId3"/>
          <a:stretch>
            <a:fillRect/>
          </a:stretch>
        </p:blipFill>
        <p:spPr>
          <a:xfrm>
            <a:off x="3855051" y="1397726"/>
            <a:ext cx="5288949" cy="3525966"/>
          </a:xfr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t>AleksandarNakic/E+/Getty Images</a:t>
            </a:r>
          </a:p>
        </p:txBody>
      </p:sp>
    </p:spTree>
    <p:extLst>
      <p:ext uri="{BB962C8B-B14F-4D97-AF65-F5344CB8AC3E}">
        <p14:creationId xmlns:p14="http://schemas.microsoft.com/office/powerpoint/2010/main" val="37652783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9</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p:txBody>
          <a:bodyPr>
            <a:normAutofit/>
          </a:bodyPr>
          <a:lstStyle/>
          <a:p>
            <a:r>
              <a:rPr lang="en-US" altLang="en-US" sz="2600" dirty="0">
                <a:latin typeface="+mn-lt"/>
              </a:rPr>
              <a:t>The Rise of Gen Z’s Economic Influence</a:t>
            </a:r>
          </a:p>
          <a:p>
            <a:pPr lvl="1"/>
            <a:r>
              <a:rPr lang="en-US" sz="2200" dirty="0">
                <a:latin typeface="+mn-lt"/>
              </a:rPr>
              <a:t>Generation Z were born between 1995 and 2009.</a:t>
            </a:r>
          </a:p>
          <a:p>
            <a:pPr lvl="1"/>
            <a:r>
              <a:rPr lang="en-US" sz="2200" dirty="0">
                <a:latin typeface="+mn-lt"/>
              </a:rPr>
              <a:t>They will be the largest group of consumers in the world, so marketers need to capture their attention and engage them.</a:t>
            </a:r>
          </a:p>
        </p:txBody>
      </p:sp>
      <p:sp>
        <p:nvSpPr>
          <p:cNvPr id="5" name="Text Placeholder 4">
            <a:extLst>
              <a:ext uri="{FF2B5EF4-FFF2-40B4-BE49-F238E27FC236}">
                <a16:creationId xmlns:a16="http://schemas.microsoft.com/office/drawing/2014/main" id="{23326B1F-0D87-BC12-C740-8B7EBF538395}"/>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22920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a:xfrm>
            <a:off x="2407298" y="147328"/>
            <a:ext cx="6393802" cy="993554"/>
          </a:xfrm>
        </p:spPr>
        <p:txBody>
          <a:bodyPr>
            <a:noAutofit/>
          </a:bodyPr>
          <a:lstStyle/>
          <a:p>
            <a:r>
              <a:rPr lang="en-US" dirty="0">
                <a:latin typeface="+mn-lt"/>
              </a:rPr>
              <a:t>Companies Compete for the Online Attention of Gen Z</a:t>
            </a:r>
            <a:endParaRPr lang="en-US" noProof="0" dirty="0">
              <a:latin typeface="+mn-lt"/>
            </a:endParaRPr>
          </a:p>
        </p:txBody>
      </p:sp>
      <p:pic>
        <p:nvPicPr>
          <p:cNvPr id="7" name="Picture 6" descr="Connecting through social media. ">
            <a:extLst>
              <a:ext uri="{FF2B5EF4-FFF2-40B4-BE49-F238E27FC236}">
                <a16:creationId xmlns:a16="http://schemas.microsoft.com/office/drawing/2014/main" id="{A153A24C-0B59-4D44-B4DC-E7B2B3260773}"/>
              </a:ext>
            </a:extLst>
          </p:cNvPr>
          <p:cNvPicPr>
            <a:picLocks noChangeAspect="1"/>
          </p:cNvPicPr>
          <p:nvPr/>
        </p:nvPicPr>
        <p:blipFill>
          <a:blip r:embed="rId3"/>
          <a:stretch>
            <a:fillRect/>
          </a:stretch>
        </p:blipFill>
        <p:spPr>
          <a:xfrm>
            <a:off x="34435" y="261620"/>
            <a:ext cx="2255132" cy="619057"/>
          </a:xfrm>
          <a:prstGeom prst="rect">
            <a:avLst/>
          </a:prstGeom>
        </p:spPr>
      </p:pic>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898" y="1276708"/>
            <a:ext cx="8191502" cy="5049664"/>
          </a:xfrm>
        </p:spPr>
        <p:txBody>
          <a:bodyPr>
            <a:noAutofit/>
          </a:bodyPr>
          <a:lstStyle/>
          <a:p>
            <a:r>
              <a:rPr lang="en-US" sz="2600" dirty="0">
                <a:latin typeface="+mn-lt"/>
              </a:rPr>
              <a:t>Generation Z spends a ton of time on social media and companies need to find ways to reach and appeal to them.</a:t>
            </a:r>
          </a:p>
          <a:p>
            <a:pPr marL="341313" indent="-341313">
              <a:buFont typeface="Arial" panose="020B0604020202020204" pitchFamily="34" charset="0"/>
              <a:buChar char="•"/>
            </a:pPr>
            <a:r>
              <a:rPr lang="en-US" dirty="0">
                <a:latin typeface="+mn-lt"/>
              </a:rPr>
              <a:t>Gen Zers depend on TikTok for nearly everything online, including product recommendations.</a:t>
            </a:r>
          </a:p>
          <a:p>
            <a:pPr marL="341313" indent="-341313">
              <a:buFont typeface="Arial" panose="020B0604020202020204" pitchFamily="34" charset="0"/>
              <a:buChar char="•"/>
            </a:pPr>
            <a:r>
              <a:rPr lang="en-US" dirty="0">
                <a:latin typeface="+mn-lt"/>
              </a:rPr>
              <a:t>One proven strategy is to enlist influencers to act as brand ambassadors.</a:t>
            </a:r>
          </a:p>
          <a:p>
            <a:pPr marL="341313" indent="-341313">
              <a:buFont typeface="Arial" panose="020B0604020202020204" pitchFamily="34" charset="0"/>
              <a:buChar char="•"/>
            </a:pPr>
            <a:r>
              <a:rPr lang="en-US" dirty="0">
                <a:latin typeface="+mn-lt"/>
              </a:rPr>
              <a:t>Many companies choose to directly purchase space on TikTok for ads.</a:t>
            </a:r>
          </a:p>
        </p:txBody>
      </p:sp>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endParaRPr lang="en-US" dirty="0">
              <a:latin typeface="+mn-lt"/>
            </a:endParaRPr>
          </a:p>
        </p:txBody>
      </p:sp>
    </p:spTree>
    <p:extLst>
      <p:ext uri="{BB962C8B-B14F-4D97-AF65-F5344CB8AC3E}">
        <p14:creationId xmlns:p14="http://schemas.microsoft.com/office/powerpoint/2010/main" val="4479860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10</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a:xfrm>
            <a:off x="342900" y="1276712"/>
            <a:ext cx="8458200" cy="4418694"/>
          </a:xfrm>
        </p:spPr>
        <p:txBody>
          <a:bodyPr>
            <a:normAutofit/>
          </a:bodyPr>
          <a:lstStyle/>
          <a:p>
            <a:r>
              <a:rPr lang="en-US" altLang="en-US" sz="2600" dirty="0"/>
              <a:t>The Global Environment</a:t>
            </a:r>
            <a:endParaRPr lang="en-US" altLang="en-US" sz="2600" dirty="0">
              <a:latin typeface="+mn-lt"/>
            </a:endParaRPr>
          </a:p>
          <a:p>
            <a:pPr lvl="1"/>
            <a:r>
              <a:rPr lang="en-US" altLang="en-US" sz="2400" dirty="0"/>
              <a:t>Globalization has grown due to efficient distribution systems and communication systems such as the Internet.</a:t>
            </a:r>
          </a:p>
          <a:p>
            <a:pPr lvl="1"/>
            <a:r>
              <a:rPr lang="en-US" altLang="en-US" sz="2400" dirty="0"/>
              <a:t>War and Terrorism:</a:t>
            </a:r>
            <a:endParaRPr lang="en-US" altLang="en-US" sz="2400" dirty="0">
              <a:latin typeface="+mn-lt"/>
            </a:endParaRPr>
          </a:p>
          <a:p>
            <a:pPr lvl="2"/>
            <a:r>
              <a:rPr lang="en-US" sz="2000" dirty="0"/>
              <a:t>They have drained trillions of dollars from the U.S. economy.</a:t>
            </a:r>
          </a:p>
          <a:p>
            <a:pPr lvl="2"/>
            <a:r>
              <a:rPr lang="en-US" sz="2000" dirty="0"/>
              <a:t>Money was diverted to the Ukraine war effort.</a:t>
            </a:r>
          </a:p>
          <a:p>
            <a:pPr lvl="2"/>
            <a:r>
              <a:rPr lang="en-US" sz="2000" dirty="0"/>
              <a:t>Increased unrest creates uncertainty, which may be the biggest risk in business.</a:t>
            </a:r>
            <a:endParaRPr lang="en-US" sz="2400" dirty="0">
              <a:latin typeface="+mn-lt"/>
            </a:endParaRPr>
          </a:p>
        </p:txBody>
      </p:sp>
    </p:spTree>
    <p:extLst>
      <p:ext uri="{BB962C8B-B14F-4D97-AF65-F5344CB8AC3E}">
        <p14:creationId xmlns:p14="http://schemas.microsoft.com/office/powerpoint/2010/main" val="9124775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11</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p:txBody>
          <a:bodyPr>
            <a:normAutofit/>
          </a:bodyPr>
          <a:lstStyle/>
          <a:p>
            <a:pPr marL="0" lvl="1" indent="0">
              <a:buNone/>
            </a:pPr>
            <a:r>
              <a:rPr lang="en-US" altLang="en-US" sz="2600" dirty="0"/>
              <a:t>How Global Changes Affect You</a:t>
            </a:r>
            <a:endParaRPr lang="en-US" altLang="en-US" sz="2600" dirty="0">
              <a:latin typeface="+mn-lt"/>
            </a:endParaRPr>
          </a:p>
          <a:p>
            <a:pPr lvl="1"/>
            <a:r>
              <a:rPr lang="en-US" sz="2400" dirty="0"/>
              <a:t>As businesses expand to serve global markets, new jobs will be created.</a:t>
            </a:r>
          </a:p>
          <a:p>
            <a:pPr lvl="1"/>
            <a:r>
              <a:rPr lang="en-US" sz="2400" dirty="0"/>
              <a:t>Rapid changes create a need for continuous learning.</a:t>
            </a:r>
            <a:endParaRPr lang="en-US" sz="2800" dirty="0">
              <a:latin typeface="+mn-lt"/>
            </a:endParaRPr>
          </a:p>
        </p:txBody>
      </p:sp>
      <p:sp>
        <p:nvSpPr>
          <p:cNvPr id="5" name="Text Placeholder 4">
            <a:extLst>
              <a:ext uri="{FF2B5EF4-FFF2-40B4-BE49-F238E27FC236}">
                <a16:creationId xmlns:a16="http://schemas.microsoft.com/office/drawing/2014/main" id="{2BB8D60A-81F4-DCED-8089-C57C92AA03C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21480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9F3B-4DAC-43C2-B802-99241A82B9E8}"/>
              </a:ext>
            </a:extLst>
          </p:cNvPr>
          <p:cNvSpPr>
            <a:spLocks noGrp="1"/>
          </p:cNvSpPr>
          <p:nvPr>
            <p:ph type="title"/>
          </p:nvPr>
        </p:nvSpPr>
        <p:spPr/>
        <p:txBody>
          <a:bodyPr>
            <a:normAutofit/>
          </a:bodyPr>
          <a:lstStyle/>
          <a:p>
            <a:r>
              <a:rPr lang="en-US" altLang="en-US" dirty="0">
                <a:latin typeface="+mn-lt"/>
              </a:rPr>
              <a:t>The Business Environment </a:t>
            </a:r>
            <a:r>
              <a:rPr lang="en-US" altLang="en-US" sz="1000" b="0" dirty="0">
                <a:latin typeface="+mn-lt"/>
              </a:rPr>
              <a:t>12</a:t>
            </a:r>
            <a:endParaRPr lang="en-US" sz="1000" b="0" dirty="0">
              <a:latin typeface="+mn-lt"/>
            </a:endParaRPr>
          </a:p>
        </p:txBody>
      </p:sp>
      <p:sp>
        <p:nvSpPr>
          <p:cNvPr id="3" name="Content Placeholder 2">
            <a:extLst>
              <a:ext uri="{FF2B5EF4-FFF2-40B4-BE49-F238E27FC236}">
                <a16:creationId xmlns:a16="http://schemas.microsoft.com/office/drawing/2014/main" id="{CB2D09C0-EA47-4B6B-8FCE-164AFBD41C8D}"/>
              </a:ext>
            </a:extLst>
          </p:cNvPr>
          <p:cNvSpPr>
            <a:spLocks noGrp="1"/>
          </p:cNvSpPr>
          <p:nvPr>
            <p:ph sz="quarter" idx="11"/>
          </p:nvPr>
        </p:nvSpPr>
        <p:spPr/>
        <p:txBody>
          <a:bodyPr>
            <a:normAutofit/>
          </a:bodyPr>
          <a:lstStyle/>
          <a:p>
            <a:pPr marL="0" lvl="1" indent="0">
              <a:buNone/>
            </a:pPr>
            <a:r>
              <a:rPr lang="en-US" altLang="en-US" sz="2600" dirty="0"/>
              <a:t>The Ecological Environment</a:t>
            </a:r>
            <a:endParaRPr lang="en-US" altLang="en-US" sz="2600" dirty="0">
              <a:latin typeface="+mn-lt"/>
            </a:endParaRPr>
          </a:p>
          <a:p>
            <a:pPr lvl="1"/>
            <a:r>
              <a:rPr lang="en-US" sz="2400" b="1" dirty="0"/>
              <a:t>Climate change</a:t>
            </a:r>
            <a:r>
              <a:rPr lang="en-US" sz="2400" dirty="0"/>
              <a:t> — The movement of the temperature of the planet up or down over time</a:t>
            </a:r>
          </a:p>
          <a:p>
            <a:pPr lvl="1"/>
            <a:r>
              <a:rPr lang="en-US" sz="2400" b="1" dirty="0"/>
              <a:t>Greening</a:t>
            </a:r>
            <a:r>
              <a:rPr lang="en-US" sz="2400" dirty="0"/>
              <a:t> — The trend toward saving energy and producing products that cause less harm to the environment</a:t>
            </a:r>
            <a:endParaRPr lang="en-US" sz="2800" dirty="0">
              <a:latin typeface="+mn-lt"/>
            </a:endParaRPr>
          </a:p>
        </p:txBody>
      </p:sp>
      <p:sp>
        <p:nvSpPr>
          <p:cNvPr id="5" name="Text Placeholder 4">
            <a:extLst>
              <a:ext uri="{FF2B5EF4-FFF2-40B4-BE49-F238E27FC236}">
                <a16:creationId xmlns:a16="http://schemas.microsoft.com/office/drawing/2014/main" id="{3EB270B8-4D9E-C7C0-9FBE-FF65EC2D4303}"/>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374885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a:xfrm>
            <a:off x="2407298" y="147328"/>
            <a:ext cx="6393802" cy="993554"/>
          </a:xfrm>
        </p:spPr>
        <p:txBody>
          <a:bodyPr>
            <a:noAutofit/>
          </a:bodyPr>
          <a:lstStyle/>
          <a:p>
            <a:r>
              <a:rPr lang="en-US" dirty="0">
                <a:latin typeface="+mn-lt"/>
              </a:rPr>
              <a:t>KFC’s Finger-Lickin’ Good Global Offerings</a:t>
            </a:r>
            <a:endParaRPr lang="en-US" noProof="0" dirty="0">
              <a:latin typeface="+mn-lt"/>
            </a:endParaRPr>
          </a:p>
        </p:txBody>
      </p:sp>
      <p:pic>
        <p:nvPicPr>
          <p:cNvPr id="8" name="Picture 7" descr="reaching beyond our borders. ">
            <a:extLst>
              <a:ext uri="{FF2B5EF4-FFF2-40B4-BE49-F238E27FC236}">
                <a16:creationId xmlns:a16="http://schemas.microsoft.com/office/drawing/2014/main" id="{8E1F59DE-1301-4E99-A03A-D3A11FE76A18}"/>
              </a:ext>
            </a:extLst>
          </p:cNvPr>
          <p:cNvPicPr>
            <a:picLocks noChangeAspect="1"/>
          </p:cNvPicPr>
          <p:nvPr/>
        </p:nvPicPr>
        <p:blipFill>
          <a:blip r:embed="rId3"/>
          <a:stretch>
            <a:fillRect/>
          </a:stretch>
        </p:blipFill>
        <p:spPr>
          <a:xfrm>
            <a:off x="55341" y="274741"/>
            <a:ext cx="2187608" cy="699402"/>
          </a:xfrm>
          <a:prstGeom prst="rect">
            <a:avLst/>
          </a:prstGeom>
        </p:spPr>
      </p:pic>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899" y="1276707"/>
            <a:ext cx="4662856" cy="5306551"/>
          </a:xfrm>
        </p:spPr>
        <p:txBody>
          <a:bodyPr>
            <a:noAutofit/>
          </a:bodyPr>
          <a:lstStyle/>
          <a:p>
            <a:r>
              <a:rPr lang="en-US" dirty="0"/>
              <a:t>KFC offers far more than fried chicken.</a:t>
            </a:r>
          </a:p>
          <a:p>
            <a:pPr marL="291600" indent="-291600">
              <a:buFont typeface="Arial" panose="020B0604020202020204" pitchFamily="34" charset="0"/>
              <a:buChar char="•"/>
            </a:pPr>
            <a:r>
              <a:rPr lang="en-US" sz="2000" dirty="0"/>
              <a:t>Different regions include different menu items. The Zinger was created in Trinidad and Tobago and has since become a global hit. Another innovative item is the “</a:t>
            </a:r>
            <a:r>
              <a:rPr lang="en-US" sz="2000" dirty="0" err="1"/>
              <a:t>Chizza</a:t>
            </a:r>
            <a:r>
              <a:rPr lang="en-US" sz="2000" dirty="0"/>
              <a:t>,” a pizza with a fried chicken crust sold in the Philippines</a:t>
            </a:r>
          </a:p>
          <a:p>
            <a:pPr marL="291600" indent="-291600">
              <a:buFont typeface="Arial" panose="020B0604020202020204" pitchFamily="34" charset="0"/>
              <a:buChar char="•"/>
            </a:pPr>
            <a:r>
              <a:rPr lang="en-US" sz="2000" dirty="0"/>
              <a:t>18 food innovation teams are located throughout the world.</a:t>
            </a:r>
          </a:p>
          <a:p>
            <a:pPr marL="291600" indent="-291600">
              <a:buFont typeface="Arial" panose="020B0604020202020204" pitchFamily="34" charset="0"/>
              <a:buChar char="•"/>
            </a:pPr>
            <a:r>
              <a:rPr lang="en-US" sz="2000" dirty="0"/>
              <a:t>These teams follow regional trends and develop dishes based on local tastes, which may not always appeal to everyone.</a:t>
            </a:r>
          </a:p>
        </p:txBody>
      </p:sp>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t>KFC Corporation</a:t>
            </a:r>
          </a:p>
        </p:txBody>
      </p:sp>
      <p:pic>
        <p:nvPicPr>
          <p:cNvPr id="4" name="Picture 3">
            <a:extLst>
              <a:ext uri="{FF2B5EF4-FFF2-40B4-BE49-F238E27FC236}">
                <a16:creationId xmlns:a16="http://schemas.microsoft.com/office/drawing/2014/main" id="{4E659B4C-F257-862C-5DEC-CA38CFD762E2}"/>
              </a:ext>
            </a:extLst>
          </p:cNvPr>
          <p:cNvPicPr>
            <a:picLocks noChangeAspect="1"/>
          </p:cNvPicPr>
          <p:nvPr/>
        </p:nvPicPr>
        <p:blipFill>
          <a:blip r:embed="rId4"/>
          <a:stretch>
            <a:fillRect/>
          </a:stretch>
        </p:blipFill>
        <p:spPr>
          <a:xfrm>
            <a:off x="5312163" y="1276708"/>
            <a:ext cx="3650193" cy="4993463"/>
          </a:xfrm>
          <a:prstGeom prst="rect">
            <a:avLst/>
          </a:prstGeom>
        </p:spPr>
      </p:pic>
    </p:spTree>
    <p:extLst>
      <p:ext uri="{BB962C8B-B14F-4D97-AF65-F5344CB8AC3E}">
        <p14:creationId xmlns:p14="http://schemas.microsoft.com/office/powerpoint/2010/main" val="3970285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a:xfrm>
            <a:off x="342899" y="147328"/>
            <a:ext cx="3123781" cy="993554"/>
          </a:xfrm>
        </p:spPr>
        <p:txBody>
          <a:bodyPr>
            <a:normAutofit/>
          </a:bodyPr>
          <a:lstStyle/>
          <a:p>
            <a:r>
              <a:rPr lang="en-US" altLang="en-US" sz="4000" dirty="0">
                <a:latin typeface="+mn-lt"/>
              </a:rPr>
              <a:t>TEST</a:t>
            </a:r>
            <a:r>
              <a:rPr lang="en-US" altLang="en-US" sz="4000" dirty="0">
                <a:solidFill>
                  <a:srgbClr val="0070C0"/>
                </a:solidFill>
                <a:latin typeface="+mn-lt"/>
              </a:rPr>
              <a:t>PREP</a:t>
            </a:r>
            <a:r>
              <a:rPr lang="en-US" altLang="en-US" sz="4000" dirty="0">
                <a:latin typeface="+mn-lt"/>
              </a:rPr>
              <a:t> </a:t>
            </a:r>
            <a:r>
              <a:rPr lang="en-US" altLang="en-US" sz="1000" b="0" dirty="0">
                <a:latin typeface="+mn-lt"/>
              </a:rPr>
              <a:t>3</a:t>
            </a:r>
            <a:endParaRPr lang="en-US" sz="11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0"/>
            <a:ext cx="8458200" cy="3580425"/>
          </a:xfrm>
        </p:spPr>
        <p:txBody>
          <a:bodyPr>
            <a:normAutofit/>
          </a:bodyPr>
          <a:lstStyle/>
          <a:p>
            <a:pPr marL="291600" indent="-291600">
              <a:spcBef>
                <a:spcPts val="1200"/>
              </a:spcBef>
              <a:spcAft>
                <a:spcPts val="600"/>
              </a:spcAft>
              <a:buFont typeface="Arial" panose="020B0604020202020204" pitchFamily="34" charset="0"/>
              <a:buChar char="•"/>
            </a:pPr>
            <a:r>
              <a:rPr lang="en-US" altLang="en-US" dirty="0">
                <a:solidFill>
                  <a:schemeClr val="tx1"/>
                </a:solidFill>
              </a:rPr>
              <a:t>What are four ways the government can foster entrepreneurship?</a:t>
            </a:r>
          </a:p>
          <a:p>
            <a:pPr marL="291600" indent="-291600">
              <a:spcBef>
                <a:spcPts val="1200"/>
              </a:spcBef>
              <a:spcAft>
                <a:spcPts val="600"/>
              </a:spcAft>
              <a:buFont typeface="Arial" panose="020B0604020202020204" pitchFamily="34" charset="0"/>
              <a:buChar char="•"/>
            </a:pPr>
            <a:r>
              <a:rPr lang="en-US" altLang="en-US" dirty="0">
                <a:solidFill>
                  <a:schemeClr val="tx1"/>
                </a:solidFill>
              </a:rPr>
              <a:t>What is the difference between effectiveness, efficiency, and productivity?</a:t>
            </a:r>
          </a:p>
          <a:p>
            <a:pPr marL="291600" indent="-291600">
              <a:spcBef>
                <a:spcPts val="1200"/>
              </a:spcBef>
              <a:spcAft>
                <a:spcPts val="600"/>
              </a:spcAft>
              <a:buFont typeface="Arial" panose="020B0604020202020204" pitchFamily="34" charset="0"/>
              <a:buChar char="•"/>
            </a:pPr>
            <a:r>
              <a:rPr lang="en-US" altLang="en-US" dirty="0">
                <a:solidFill>
                  <a:schemeClr val="tx1"/>
                </a:solidFill>
              </a:rPr>
              <a:t>What is </a:t>
            </a:r>
            <a:r>
              <a:rPr lang="en-US" altLang="en-US" i="1" dirty="0">
                <a:solidFill>
                  <a:schemeClr val="tx1"/>
                </a:solidFill>
              </a:rPr>
              <a:t>empowerment</a:t>
            </a:r>
            <a:r>
              <a:rPr lang="en-US" altLang="en-US" dirty="0">
                <a:solidFill>
                  <a:schemeClr val="tx1"/>
                </a:solidFill>
              </a:rPr>
              <a:t>?</a:t>
            </a:r>
          </a:p>
          <a:p>
            <a:pPr marL="291600" indent="-291600">
              <a:spcBef>
                <a:spcPts val="1200"/>
              </a:spcBef>
              <a:spcAft>
                <a:spcPts val="600"/>
              </a:spcAft>
              <a:buFont typeface="Arial" panose="020B0604020202020204" pitchFamily="34" charset="0"/>
              <a:buChar char="•"/>
            </a:pPr>
            <a:r>
              <a:rPr lang="en-US" altLang="en-US" dirty="0">
                <a:solidFill>
                  <a:schemeClr val="tx1"/>
                </a:solidFill>
              </a:rPr>
              <a:t>What are some of the major issues affecting the economy today?</a:t>
            </a:r>
          </a:p>
        </p:txBody>
      </p:sp>
    </p:spTree>
    <p:extLst>
      <p:ext uri="{BB962C8B-B14F-4D97-AF65-F5344CB8AC3E}">
        <p14:creationId xmlns:p14="http://schemas.microsoft.com/office/powerpoint/2010/main" val="32423815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F42A-22CD-4BCC-B012-549B16A53591}"/>
              </a:ext>
            </a:extLst>
          </p:cNvPr>
          <p:cNvSpPr>
            <a:spLocks noGrp="1"/>
          </p:cNvSpPr>
          <p:nvPr>
            <p:ph type="title"/>
          </p:nvPr>
        </p:nvSpPr>
        <p:spPr/>
        <p:txBody>
          <a:bodyPr>
            <a:normAutofit/>
          </a:bodyPr>
          <a:lstStyle/>
          <a:p>
            <a:r>
              <a:rPr lang="en-US" altLang="en-US" dirty="0"/>
              <a:t>The Evolution of U.S. Business </a:t>
            </a:r>
            <a:r>
              <a:rPr lang="en-US" altLang="en-US" sz="1000" b="0" dirty="0"/>
              <a:t>1</a:t>
            </a:r>
            <a:endParaRPr lang="en-US" sz="1000" b="0" dirty="0"/>
          </a:p>
        </p:txBody>
      </p:sp>
      <p:sp>
        <p:nvSpPr>
          <p:cNvPr id="3" name="Content Placeholder 2">
            <a:extLst>
              <a:ext uri="{FF2B5EF4-FFF2-40B4-BE49-F238E27FC236}">
                <a16:creationId xmlns:a16="http://schemas.microsoft.com/office/drawing/2014/main" id="{E6072603-C5BD-4E2C-A142-C76F8E35BDE8}"/>
              </a:ext>
            </a:extLst>
          </p:cNvPr>
          <p:cNvSpPr>
            <a:spLocks noGrp="1"/>
          </p:cNvSpPr>
          <p:nvPr>
            <p:ph sz="quarter" idx="11"/>
          </p:nvPr>
        </p:nvSpPr>
        <p:spPr>
          <a:xfrm>
            <a:off x="342900" y="1276709"/>
            <a:ext cx="8458200" cy="4967337"/>
          </a:xfrm>
        </p:spPr>
        <p:txBody>
          <a:bodyPr>
            <a:normAutofit/>
          </a:bodyPr>
          <a:lstStyle/>
          <a:p>
            <a:r>
              <a:rPr lang="en-US" altLang="en-US" sz="2600" dirty="0"/>
              <a:t>Progress in the Agricultural and Manufacturing Industries</a:t>
            </a:r>
          </a:p>
          <a:p>
            <a:pPr lvl="1"/>
            <a:r>
              <a:rPr lang="en-US" altLang="en-US" dirty="0"/>
              <a:t>In the 1800s, the agricultural industry led economic development.</a:t>
            </a:r>
          </a:p>
          <a:p>
            <a:pPr lvl="1"/>
            <a:r>
              <a:rPr lang="en-US" altLang="en-US" dirty="0"/>
              <a:t>Technology like the harvester and modern improvements to such equipment made large-scale farming successful.</a:t>
            </a:r>
          </a:p>
          <a:p>
            <a:pPr lvl="1"/>
            <a:r>
              <a:rPr lang="en-US" altLang="en-US" dirty="0"/>
              <a:t>This led to fewer farmers with larger farms.</a:t>
            </a:r>
          </a:p>
          <a:p>
            <a:pPr lvl="1"/>
            <a:r>
              <a:rPr lang="en-US" altLang="en-US" dirty="0"/>
              <a:t>Industrialization in the 19th and 20th centuries moved jobs from farms to factories.</a:t>
            </a:r>
          </a:p>
          <a:p>
            <a:pPr lvl="1"/>
            <a:r>
              <a:rPr lang="en-US" dirty="0"/>
              <a:t>As technology improved productivity, fewer workers were needed in factories.</a:t>
            </a:r>
          </a:p>
        </p:txBody>
      </p:sp>
    </p:spTree>
    <p:extLst>
      <p:ext uri="{BB962C8B-B14F-4D97-AF65-F5344CB8AC3E}">
        <p14:creationId xmlns:p14="http://schemas.microsoft.com/office/powerpoint/2010/main" val="6297743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424E-E8A9-4F30-9815-E2BEC7A09AEC}"/>
              </a:ext>
            </a:extLst>
          </p:cNvPr>
          <p:cNvSpPr>
            <a:spLocks noGrp="1"/>
          </p:cNvSpPr>
          <p:nvPr>
            <p:ph type="title"/>
          </p:nvPr>
        </p:nvSpPr>
        <p:spPr/>
        <p:txBody>
          <a:bodyPr>
            <a:noAutofit/>
          </a:bodyPr>
          <a:lstStyle/>
          <a:p>
            <a:r>
              <a:rPr lang="en-US" dirty="0"/>
              <a:t>Technology and Agriculture</a:t>
            </a:r>
            <a:endParaRPr lang="en-US" noProof="0" dirty="0">
              <a:latin typeface="+mn-lt"/>
            </a:endParaRPr>
          </a:p>
        </p:txBody>
      </p:sp>
      <p:sp>
        <p:nvSpPr>
          <p:cNvPr id="3" name="Content Placeholder 2">
            <a:extLst>
              <a:ext uri="{FF2B5EF4-FFF2-40B4-BE49-F238E27FC236}">
                <a16:creationId xmlns:a16="http://schemas.microsoft.com/office/drawing/2014/main" id="{611D4ACF-A4B3-4E2D-A8F8-C567233E6C2E}"/>
              </a:ext>
            </a:extLst>
          </p:cNvPr>
          <p:cNvSpPr>
            <a:spLocks noGrp="1"/>
          </p:cNvSpPr>
          <p:nvPr>
            <p:ph sz="quarter" idx="11"/>
          </p:nvPr>
        </p:nvSpPr>
        <p:spPr>
          <a:xfrm>
            <a:off x="342899" y="1276707"/>
            <a:ext cx="8458200" cy="2400557"/>
          </a:xfrm>
        </p:spPr>
        <p:txBody>
          <a:bodyPr>
            <a:noAutofit/>
          </a:bodyPr>
          <a:lstStyle/>
          <a:p>
            <a:r>
              <a:rPr lang="en-US" sz="2200" dirty="0"/>
              <a:t>Agriculture is one of the largest and most important industries in the United States. Over the years technology has increased productivity and made farmers more efficient, allowing for larger farms. While this trend helps stabilize the prices of some foods for consumers, it has also greatly reduced the number of small, family-run farms. </a:t>
            </a:r>
            <a:r>
              <a:rPr lang="en-US" sz="2200" b="1" i="1" dirty="0"/>
              <a:t>How do you think smaller farms could use agricultural technology to compete?</a:t>
            </a:r>
          </a:p>
        </p:txBody>
      </p:sp>
      <p:pic>
        <p:nvPicPr>
          <p:cNvPr id="7" name="Picture 8">
            <a:extLst>
              <a:ext uri="{FF2B5EF4-FFF2-40B4-BE49-F238E27FC236}">
                <a16:creationId xmlns:a16="http://schemas.microsoft.com/office/drawing/2014/main" id="{71994A30-137B-41D5-A151-504A8A536E83}"/>
              </a:ext>
            </a:extLst>
          </p:cNvPr>
          <p:cNvPicPr>
            <a:picLocks noChangeAspect="1"/>
          </p:cNvPicPr>
          <p:nvPr/>
        </p:nvPicPr>
        <p:blipFill>
          <a:blip r:embed="rId3"/>
          <a:srcRect/>
          <a:stretch/>
        </p:blipFill>
        <p:spPr>
          <a:xfrm>
            <a:off x="2581929" y="3851747"/>
            <a:ext cx="3980139" cy="2658733"/>
          </a:xfrm>
          <a:prstGeom prst="rect">
            <a:avLst/>
          </a:prstGeom>
        </p:spPr>
      </p:pic>
      <p:sp>
        <p:nvSpPr>
          <p:cNvPr id="5" name="Text Placeholder 4">
            <a:extLst>
              <a:ext uri="{FF2B5EF4-FFF2-40B4-BE49-F238E27FC236}">
                <a16:creationId xmlns:a16="http://schemas.microsoft.com/office/drawing/2014/main" id="{5B3ED5EB-34D6-4E1F-9AEC-AAAF4B5245DB}"/>
              </a:ext>
            </a:extLst>
          </p:cNvPr>
          <p:cNvSpPr>
            <a:spLocks noGrp="1"/>
          </p:cNvSpPr>
          <p:nvPr>
            <p:ph type="body" sz="quarter" idx="13"/>
          </p:nvPr>
        </p:nvSpPr>
        <p:spPr/>
        <p:txBody>
          <a:bodyPr/>
          <a:lstStyle/>
          <a:p>
            <a:r>
              <a:rPr lang="en-US" dirty="0"/>
              <a:t>Thomas Barwick/DigitalVision/Getty Images</a:t>
            </a:r>
          </a:p>
        </p:txBody>
      </p:sp>
    </p:spTree>
    <p:extLst>
      <p:ext uri="{BB962C8B-B14F-4D97-AF65-F5344CB8AC3E}">
        <p14:creationId xmlns:p14="http://schemas.microsoft.com/office/powerpoint/2010/main" val="1548362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F42A-22CD-4BCC-B012-549B16A53591}"/>
              </a:ext>
            </a:extLst>
          </p:cNvPr>
          <p:cNvSpPr>
            <a:spLocks noGrp="1"/>
          </p:cNvSpPr>
          <p:nvPr>
            <p:ph type="title"/>
          </p:nvPr>
        </p:nvSpPr>
        <p:spPr/>
        <p:txBody>
          <a:bodyPr>
            <a:normAutofit/>
          </a:bodyPr>
          <a:lstStyle/>
          <a:p>
            <a:r>
              <a:rPr lang="en-US" altLang="en-US" dirty="0"/>
              <a:t>The Evolution of U.S. Business </a:t>
            </a:r>
            <a:r>
              <a:rPr lang="en-US" altLang="en-US" sz="1000" b="0" dirty="0"/>
              <a:t>2</a:t>
            </a:r>
            <a:endParaRPr lang="en-US" sz="1000" dirty="0"/>
          </a:p>
        </p:txBody>
      </p:sp>
      <p:sp>
        <p:nvSpPr>
          <p:cNvPr id="3" name="Content Placeholder 2">
            <a:extLst>
              <a:ext uri="{FF2B5EF4-FFF2-40B4-BE49-F238E27FC236}">
                <a16:creationId xmlns:a16="http://schemas.microsoft.com/office/drawing/2014/main" id="{E6072603-C5BD-4E2C-A142-C76F8E35BDE8}"/>
              </a:ext>
            </a:extLst>
          </p:cNvPr>
          <p:cNvSpPr>
            <a:spLocks noGrp="1"/>
          </p:cNvSpPr>
          <p:nvPr>
            <p:ph sz="quarter" idx="11"/>
          </p:nvPr>
        </p:nvSpPr>
        <p:spPr>
          <a:xfrm>
            <a:off x="342900" y="1276710"/>
            <a:ext cx="8458200" cy="2152290"/>
          </a:xfrm>
        </p:spPr>
        <p:txBody>
          <a:bodyPr>
            <a:normAutofit/>
          </a:bodyPr>
          <a:lstStyle/>
          <a:p>
            <a:pPr>
              <a:spcBef>
                <a:spcPts val="1200"/>
              </a:spcBef>
              <a:spcAft>
                <a:spcPts val="600"/>
              </a:spcAft>
            </a:pPr>
            <a:r>
              <a:rPr lang="en-US" altLang="en-US" sz="2600" dirty="0"/>
              <a:t>Progress in Service Industries</a:t>
            </a:r>
          </a:p>
          <a:p>
            <a:pPr lvl="1">
              <a:spcBef>
                <a:spcPts val="1200"/>
              </a:spcBef>
              <a:spcAft>
                <a:spcPts val="600"/>
              </a:spcAft>
            </a:pPr>
            <a:r>
              <a:rPr lang="en-US" altLang="en-US" dirty="0"/>
              <a:t>Since the mid-19 80s, the service industry generated almost all the increases in employment.</a:t>
            </a:r>
          </a:p>
          <a:p>
            <a:pPr lvl="1">
              <a:spcBef>
                <a:spcPts val="1200"/>
              </a:spcBef>
              <a:spcAft>
                <a:spcPts val="600"/>
              </a:spcAft>
            </a:pPr>
            <a:r>
              <a:rPr lang="en-US" altLang="en-US" dirty="0"/>
              <a:t>There are more high-paying jobs in service industries.</a:t>
            </a:r>
            <a:endParaRPr lang="en-US" dirty="0"/>
          </a:p>
        </p:txBody>
      </p:sp>
    </p:spTree>
    <p:extLst>
      <p:ext uri="{BB962C8B-B14F-4D97-AF65-F5344CB8AC3E}">
        <p14:creationId xmlns:p14="http://schemas.microsoft.com/office/powerpoint/2010/main" val="30129187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F42A-22CD-4BCC-B012-549B16A53591}"/>
              </a:ext>
            </a:extLst>
          </p:cNvPr>
          <p:cNvSpPr>
            <a:spLocks noGrp="1"/>
          </p:cNvSpPr>
          <p:nvPr>
            <p:ph type="title"/>
          </p:nvPr>
        </p:nvSpPr>
        <p:spPr/>
        <p:txBody>
          <a:bodyPr>
            <a:normAutofit/>
          </a:bodyPr>
          <a:lstStyle/>
          <a:p>
            <a:r>
              <a:rPr lang="en-US" altLang="en-US" dirty="0"/>
              <a:t>The Evolution of U.S. Business </a:t>
            </a:r>
            <a:r>
              <a:rPr lang="en-US" altLang="en-US" sz="1000" b="0" dirty="0"/>
              <a:t>3</a:t>
            </a:r>
            <a:endParaRPr lang="en-US" sz="1000" dirty="0"/>
          </a:p>
        </p:txBody>
      </p:sp>
      <p:sp>
        <p:nvSpPr>
          <p:cNvPr id="3" name="Content Placeholder 2">
            <a:extLst>
              <a:ext uri="{FF2B5EF4-FFF2-40B4-BE49-F238E27FC236}">
                <a16:creationId xmlns:a16="http://schemas.microsoft.com/office/drawing/2014/main" id="{E6072603-C5BD-4E2C-A142-C76F8E35BDE8}"/>
              </a:ext>
            </a:extLst>
          </p:cNvPr>
          <p:cNvSpPr>
            <a:spLocks noGrp="1"/>
          </p:cNvSpPr>
          <p:nvPr>
            <p:ph sz="quarter" idx="11"/>
          </p:nvPr>
        </p:nvSpPr>
        <p:spPr>
          <a:xfrm>
            <a:off x="342900" y="1276709"/>
            <a:ext cx="8458200" cy="2764349"/>
          </a:xfrm>
        </p:spPr>
        <p:txBody>
          <a:bodyPr>
            <a:normAutofit/>
          </a:bodyPr>
          <a:lstStyle/>
          <a:p>
            <a:r>
              <a:rPr lang="en-US" altLang="en-US" sz="2600" dirty="0"/>
              <a:t>Progress in the Information Age</a:t>
            </a:r>
          </a:p>
          <a:p>
            <a:pPr marL="342900" lvl="1" indent="-342900"/>
            <a:r>
              <a:rPr lang="en-US" altLang="en-US" dirty="0"/>
              <a:t>Information-based global and technical revolution is altering all sectors of the economy.</a:t>
            </a:r>
          </a:p>
          <a:p>
            <a:pPr marL="342900" lvl="1" indent="-342900"/>
            <a:r>
              <a:rPr lang="en-US" altLang="en-US" dirty="0"/>
              <a:t>A significant portion of a company's value is based on its intellectual capital.</a:t>
            </a:r>
          </a:p>
          <a:p>
            <a:pPr lvl="2"/>
            <a:r>
              <a:rPr lang="en-US" altLang="en-US" dirty="0"/>
              <a:t>Innovation is encouraged.</a:t>
            </a:r>
            <a:endParaRPr lang="en-US" dirty="0"/>
          </a:p>
        </p:txBody>
      </p:sp>
    </p:spTree>
    <p:extLst>
      <p:ext uri="{BB962C8B-B14F-4D97-AF65-F5344CB8AC3E}">
        <p14:creationId xmlns:p14="http://schemas.microsoft.com/office/powerpoint/2010/main" val="3207859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F42A-22CD-4BCC-B012-549B16A53591}"/>
              </a:ext>
            </a:extLst>
          </p:cNvPr>
          <p:cNvSpPr>
            <a:spLocks noGrp="1"/>
          </p:cNvSpPr>
          <p:nvPr>
            <p:ph type="title"/>
          </p:nvPr>
        </p:nvSpPr>
        <p:spPr/>
        <p:txBody>
          <a:bodyPr>
            <a:normAutofit/>
          </a:bodyPr>
          <a:lstStyle/>
          <a:p>
            <a:r>
              <a:rPr lang="en-US" altLang="en-US" dirty="0"/>
              <a:t>The Evolution of U.S. Business </a:t>
            </a:r>
            <a:r>
              <a:rPr lang="en-US" altLang="en-US" sz="1000" b="0" dirty="0"/>
              <a:t>4</a:t>
            </a:r>
            <a:endParaRPr lang="en-US" sz="1000" dirty="0"/>
          </a:p>
        </p:txBody>
      </p:sp>
      <p:sp>
        <p:nvSpPr>
          <p:cNvPr id="3" name="Content Placeholder 2">
            <a:extLst>
              <a:ext uri="{FF2B5EF4-FFF2-40B4-BE49-F238E27FC236}">
                <a16:creationId xmlns:a16="http://schemas.microsoft.com/office/drawing/2014/main" id="{E6072603-C5BD-4E2C-A142-C76F8E35BDE8}"/>
              </a:ext>
            </a:extLst>
          </p:cNvPr>
          <p:cNvSpPr>
            <a:spLocks noGrp="1"/>
          </p:cNvSpPr>
          <p:nvPr>
            <p:ph sz="quarter" idx="11"/>
          </p:nvPr>
        </p:nvSpPr>
        <p:spPr>
          <a:xfrm>
            <a:off x="342900" y="1276710"/>
            <a:ext cx="8458200" cy="1545148"/>
          </a:xfrm>
        </p:spPr>
        <p:txBody>
          <a:bodyPr>
            <a:normAutofit/>
          </a:bodyPr>
          <a:lstStyle/>
          <a:p>
            <a:r>
              <a:rPr lang="en-US" altLang="en-US" sz="2600" dirty="0"/>
              <a:t>Your Future in Business</a:t>
            </a:r>
          </a:p>
          <a:p>
            <a:pPr lvl="1"/>
            <a:r>
              <a:rPr lang="en-US" altLang="en-US" sz="2400" dirty="0"/>
              <a:t>This book will introduce you to concepts that make leadership possible.</a:t>
            </a:r>
            <a:endParaRPr lang="en-US" sz="2400" dirty="0"/>
          </a:p>
        </p:txBody>
      </p:sp>
    </p:spTree>
    <p:extLst>
      <p:ext uri="{BB962C8B-B14F-4D97-AF65-F5344CB8AC3E}">
        <p14:creationId xmlns:p14="http://schemas.microsoft.com/office/powerpoint/2010/main" val="27784845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5A76-64F7-4A52-912E-EC920299CBFF}"/>
              </a:ext>
            </a:extLst>
          </p:cNvPr>
          <p:cNvSpPr>
            <a:spLocks noGrp="1"/>
          </p:cNvSpPr>
          <p:nvPr>
            <p:ph type="title"/>
          </p:nvPr>
        </p:nvSpPr>
        <p:spPr>
          <a:xfrm>
            <a:off x="342899" y="147328"/>
            <a:ext cx="3123781" cy="993554"/>
          </a:xfrm>
        </p:spPr>
        <p:txBody>
          <a:bodyPr>
            <a:normAutofit/>
          </a:bodyPr>
          <a:lstStyle/>
          <a:p>
            <a:r>
              <a:rPr lang="en-US" altLang="en-US" sz="4000" dirty="0">
                <a:latin typeface="+mn-lt"/>
              </a:rPr>
              <a:t>TEST</a:t>
            </a:r>
            <a:r>
              <a:rPr lang="en-US" altLang="en-US" sz="4000" dirty="0">
                <a:solidFill>
                  <a:srgbClr val="0070C0"/>
                </a:solidFill>
                <a:latin typeface="+mn-lt"/>
              </a:rPr>
              <a:t>PREP</a:t>
            </a:r>
            <a:r>
              <a:rPr lang="en-US" altLang="en-US" sz="4000" dirty="0">
                <a:latin typeface="+mn-lt"/>
              </a:rPr>
              <a:t> </a:t>
            </a:r>
            <a:r>
              <a:rPr lang="en-US" altLang="en-US" sz="1000" b="0" dirty="0">
                <a:latin typeface="+mn-lt"/>
              </a:rPr>
              <a:t>4</a:t>
            </a:r>
            <a:endParaRPr lang="en-US" sz="1100" b="0" noProof="0" dirty="0">
              <a:latin typeface="+mn-lt"/>
            </a:endParaRPr>
          </a:p>
        </p:txBody>
      </p:sp>
      <p:sp>
        <p:nvSpPr>
          <p:cNvPr id="3" name="Content Placeholder 2">
            <a:extLst>
              <a:ext uri="{FF2B5EF4-FFF2-40B4-BE49-F238E27FC236}">
                <a16:creationId xmlns:a16="http://schemas.microsoft.com/office/drawing/2014/main" id="{6F197764-E54F-4D47-8348-6821CBA9EB08}"/>
              </a:ext>
            </a:extLst>
          </p:cNvPr>
          <p:cNvSpPr>
            <a:spLocks noGrp="1"/>
          </p:cNvSpPr>
          <p:nvPr>
            <p:ph sz="quarter" idx="11"/>
          </p:nvPr>
        </p:nvSpPr>
        <p:spPr>
          <a:xfrm>
            <a:off x="342900" y="1276710"/>
            <a:ext cx="8458200" cy="2489045"/>
          </a:xfrm>
        </p:spPr>
        <p:txBody>
          <a:bodyPr>
            <a:normAutofit/>
          </a:bodyPr>
          <a:lstStyle/>
          <a:p>
            <a:pPr marL="291600" indent="-291600">
              <a:spcBef>
                <a:spcPts val="1200"/>
              </a:spcBef>
              <a:spcAft>
                <a:spcPts val="600"/>
              </a:spcAft>
              <a:buFont typeface="Arial" panose="020B0604020202020204" pitchFamily="34" charset="0"/>
              <a:buChar char="•"/>
            </a:pPr>
            <a:r>
              <a:rPr lang="en-US" altLang="en-US" dirty="0">
                <a:solidFill>
                  <a:schemeClr val="tx1"/>
                </a:solidFill>
              </a:rPr>
              <a:t>What major factor caused people to move from farming to manufacturing and from manufacturing to the service sector?</a:t>
            </a:r>
          </a:p>
          <a:p>
            <a:pPr marL="291600" indent="-291600">
              <a:spcBef>
                <a:spcPts val="1200"/>
              </a:spcBef>
              <a:spcAft>
                <a:spcPts val="600"/>
              </a:spcAft>
              <a:buFont typeface="Arial" panose="020B0604020202020204" pitchFamily="34" charset="0"/>
              <a:buChar char="•"/>
            </a:pPr>
            <a:r>
              <a:rPr lang="en-US" altLang="en-US" dirty="0">
                <a:solidFill>
                  <a:schemeClr val="tx1"/>
                </a:solidFill>
              </a:rPr>
              <a:t>What does the future look like for tomorrow’s college graduates?</a:t>
            </a:r>
          </a:p>
        </p:txBody>
      </p:sp>
    </p:spTree>
    <p:extLst>
      <p:ext uri="{BB962C8B-B14F-4D97-AF65-F5344CB8AC3E}">
        <p14:creationId xmlns:p14="http://schemas.microsoft.com/office/powerpoint/2010/main" val="23358570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latin typeface="+mn-lt"/>
              </a:rPr>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63339"/>
            <a:ext cx="8715375" cy="187325"/>
          </a:xfrm>
        </p:spPr>
        <p:txBody>
          <a:bodyPr/>
          <a:lstStyle/>
          <a:p>
            <a:r>
              <a:rPr lang="en-US" sz="800" noProof="0" dirty="0">
                <a:solidFill>
                  <a:schemeClr val="tx1"/>
                </a:solidFill>
                <a:latin typeface="+mn-lt"/>
              </a:rPr>
              <a:t>© McGraw Hill LLC. All rights reserved. No reproduction or distribution without the prior written consent of McGraw Hill LLC.</a:t>
            </a:r>
          </a:p>
        </p:txBody>
      </p:sp>
    </p:spTree>
    <p:extLst>
      <p:ext uri="{BB962C8B-B14F-4D97-AF65-F5344CB8AC3E}">
        <p14:creationId xmlns:p14="http://schemas.microsoft.com/office/powerpoint/2010/main" val="1080484485"/>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2_Title Slides Master">
  <a:themeElements>
    <a:clrScheme name="Custom 9">
      <a:dk1>
        <a:srgbClr val="000000"/>
      </a:dk1>
      <a:lt1>
        <a:srgbClr val="FFFFFF"/>
      </a:lt1>
      <a:dk2>
        <a:srgbClr val="000000"/>
      </a:dk2>
      <a:lt2>
        <a:srgbClr val="FFFFFF"/>
      </a:lt2>
      <a:accent1>
        <a:srgbClr val="0070C0"/>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3.xml><?xml version="1.0" encoding="utf-8"?>
<a:theme xmlns:a="http://schemas.openxmlformats.org/drawingml/2006/main" name="MainContentSlideMaster">
  <a:themeElements>
    <a:clrScheme name="Custom 24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4.xml><?xml version="1.0" encoding="utf-8"?>
<a:theme xmlns:a="http://schemas.openxmlformats.org/drawingml/2006/main" name="2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5.xml><?xml version="1.0" encoding="utf-8"?>
<a:theme xmlns:a="http://schemas.openxmlformats.org/drawingml/2006/main" name="4_Custom Design">
  <a:themeElements>
    <a:clrScheme name="Custom 8">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Template_Editorial_v9_2019</Template>
  <TotalTime>2626</TotalTime>
  <Words>6333</Words>
  <Application>Microsoft Office PowerPoint</Application>
  <PresentationFormat>On-screen Show (4:3)</PresentationFormat>
  <Paragraphs>454</Paragraphs>
  <Slides>59</Slides>
  <Notes>56</Notes>
  <HiddenSlides>1</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59</vt:i4>
      </vt:variant>
    </vt:vector>
  </HeadingPairs>
  <TitlesOfParts>
    <vt:vector size="71" baseType="lpstr">
      <vt:lpstr>ＭＳ Ｐゴシック</vt:lpstr>
      <vt:lpstr>Arial</vt:lpstr>
      <vt:lpstr>Calibri</vt:lpstr>
      <vt:lpstr>NimbusRomDOT</vt:lpstr>
      <vt:lpstr>Proxima Nova</vt:lpstr>
      <vt:lpstr>Roboto</vt:lpstr>
      <vt:lpstr>Title Slides Master</vt:lpstr>
      <vt:lpstr>2_Title Slides Master</vt:lpstr>
      <vt:lpstr>MainContentSlideMaster</vt:lpstr>
      <vt:lpstr>2_MainContentSlideMaster</vt:lpstr>
      <vt:lpstr>4_Custom Design</vt:lpstr>
      <vt:lpstr>ClosingMaster</vt:lpstr>
      <vt:lpstr>Polling Tool in McGraw Hill Connect®</vt:lpstr>
      <vt:lpstr>Chapter 1</vt:lpstr>
      <vt:lpstr>Chapter Contents</vt:lpstr>
      <vt:lpstr>Learning Objectives 1</vt:lpstr>
      <vt:lpstr>Learning Objectives 2</vt:lpstr>
      <vt:lpstr>GETTING TO KNOW Daymond John: Founder and CEO of FUBU</vt:lpstr>
      <vt:lpstr>Name that Company</vt:lpstr>
      <vt:lpstr>Business and Wealth Building 1</vt:lpstr>
      <vt:lpstr>Business and Wealth Building 2</vt:lpstr>
      <vt:lpstr>PowerPoint Presentation</vt:lpstr>
      <vt:lpstr>Business and Wealth Building 3</vt:lpstr>
      <vt:lpstr>Business and Wealth Building 4</vt:lpstr>
      <vt:lpstr>Risk and Reward</vt:lpstr>
      <vt:lpstr>Business and Wealth Building 5</vt:lpstr>
      <vt:lpstr>Business and Wealth Building 6</vt:lpstr>
      <vt:lpstr>Business and Wealth Building 7</vt:lpstr>
      <vt:lpstr>Figure 1.1: A Business and Its Stakeholders</vt:lpstr>
      <vt:lpstr>Business and Wealth Building 8</vt:lpstr>
      <vt:lpstr>Business and Wealth Building 9</vt:lpstr>
      <vt:lpstr>Management in Nonprofit Organizations</vt:lpstr>
      <vt:lpstr>What Employees Want</vt:lpstr>
      <vt:lpstr>TESTPREP 1</vt:lpstr>
      <vt:lpstr>The Importance of Entrepreneurs to the Creation of Wealth 1</vt:lpstr>
      <vt:lpstr>Importance of Entrepreneurs</vt:lpstr>
      <vt:lpstr>Women in the Workforce</vt:lpstr>
      <vt:lpstr>The Importance of Entrepreneurs to the Creation of Wealth 2</vt:lpstr>
      <vt:lpstr>Figure 1.2: The Five Factors of Production</vt:lpstr>
      <vt:lpstr>PowerPoint Presentation</vt:lpstr>
      <vt:lpstr>The Business Environment 1</vt:lpstr>
      <vt:lpstr>Figure 1.3: Today’s Dynamic Business Environment</vt:lpstr>
      <vt:lpstr>The Business Environment 2</vt:lpstr>
      <vt:lpstr>Differences Between Countries</vt:lpstr>
      <vt:lpstr>The Business Environment 3</vt:lpstr>
      <vt:lpstr>Maintaining Cycles of Sustainability with a Circular Economy</vt:lpstr>
      <vt:lpstr>The Business Environment 4</vt:lpstr>
      <vt:lpstr>The Business Environment 5</vt:lpstr>
      <vt:lpstr>Using Technology for Customers</vt:lpstr>
      <vt:lpstr>The Business Environment 6</vt:lpstr>
      <vt:lpstr>PowerPoint Presentation</vt:lpstr>
      <vt:lpstr>The Business Environment 7</vt:lpstr>
      <vt:lpstr>Resident Population of the United States by Race, 2022</vt:lpstr>
      <vt:lpstr>The Business Environment 8</vt:lpstr>
      <vt:lpstr>Diversity in Age</vt:lpstr>
      <vt:lpstr>Who Will Support Social Security? </vt:lpstr>
      <vt:lpstr>Single-Parent Families</vt:lpstr>
      <vt:lpstr>The Business Environment 9</vt:lpstr>
      <vt:lpstr>Companies Compete for the Online Attention of Gen Z</vt:lpstr>
      <vt:lpstr>The Business Environment 10</vt:lpstr>
      <vt:lpstr>The Business Environment 11</vt:lpstr>
      <vt:lpstr>The Business Environment 12</vt:lpstr>
      <vt:lpstr>KFC’s Finger-Lickin’ Good Global Offerings</vt:lpstr>
      <vt:lpstr>TESTPREP 3</vt:lpstr>
      <vt:lpstr>The Evolution of U.S. Business 1</vt:lpstr>
      <vt:lpstr>Technology and Agriculture</vt:lpstr>
      <vt:lpstr>The Evolution of U.S. Business 2</vt:lpstr>
      <vt:lpstr>The Evolution of U.S. Business 3</vt:lpstr>
      <vt:lpstr>The Evolution of U.S. Business 4</vt:lpstr>
      <vt:lpstr>TESTPREP 4</vt:lpstr>
      <vt:lpstr>End of Main Content</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MH</dc:creator>
  <cp:keywords/>
  <cp:lastModifiedBy>Gunasundari Kuppan</cp:lastModifiedBy>
  <cp:revision>654</cp:revision>
  <dcterms:created xsi:type="dcterms:W3CDTF">2020-08-21T03:13:39Z</dcterms:created>
  <dcterms:modified xsi:type="dcterms:W3CDTF">2024-06-11T08:36:27Z</dcterms:modified>
</cp:coreProperties>
</file>